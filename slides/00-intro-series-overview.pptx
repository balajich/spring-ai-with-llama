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70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349240" y="1345997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68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4368" dirty="0"/>
          </a:p>
        </p:txBody>
      </p:sp>
      <p:sp>
        <p:nvSpPr>
          <p:cNvPr id="19" name="Shape 17"/>
          <p:cNvSpPr/>
          <p:nvPr/>
        </p:nvSpPr>
        <p:spPr>
          <a:xfrm>
            <a:off x="5848502" y="1631290"/>
            <a:ext cx="404165" cy="142646"/>
          </a:xfrm>
          <a:prstGeom prst="roundRect">
            <a:avLst>
              <a:gd name="adj" fmla="val 50000"/>
            </a:avLst>
          </a:prstGeom>
          <a:solidFill>
            <a:srgbClr val="5FE0C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0" y="22402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</a:t>
            </a:r>
            <a:r>
              <a:rPr lang="en-US" sz="64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</a:t>
            </a:r>
            <a:r>
              <a:rPr lang="en-US" sz="64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</a:t>
            </a:r>
            <a:endParaRPr lang="en-US" sz="6480" dirty="0"/>
          </a:p>
        </p:txBody>
      </p:sp>
      <p:sp>
        <p:nvSpPr>
          <p:cNvPr id="21" name="Text 19"/>
          <p:cNvSpPr/>
          <p:nvPr/>
        </p:nvSpPr>
        <p:spPr>
          <a:xfrm>
            <a:off x="0" y="3246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AI-Powered HR Assistant — Chapters 1 to 11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251960" y="39776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210812" y="39364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039612" y="39364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7868412" y="39364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0" y="41605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PromptToApps Series  ·  prompttoapps.com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SERIES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cloud bill. No API key. Just code.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2130552" y="2194560"/>
            <a:ext cx="402336" cy="402336"/>
          </a:xfrm>
          <a:prstGeom prst="ellipse">
            <a:avLst/>
          </a:prstGeom>
          <a:solidFill>
            <a:srgbClr val="0A0F1C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2130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20" dirty="0"/>
          </a:p>
        </p:txBody>
      </p:sp>
      <p:sp>
        <p:nvSpPr>
          <p:cNvPr id="23" name="Text 21"/>
          <p:cNvSpPr/>
          <p:nvPr/>
        </p:nvSpPr>
        <p:spPr>
          <a:xfrm>
            <a:off x="91440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Paid APIs</a:t>
            </a:r>
            <a:endParaRPr lang="en-US" sz="1920" dirty="0"/>
          </a:p>
        </p:txBody>
      </p:sp>
      <p:sp>
        <p:nvSpPr>
          <p:cNvPr id="24" name="Text 22"/>
          <p:cNvSpPr/>
          <p:nvPr/>
        </p:nvSpPr>
        <p:spPr>
          <a:xfrm>
            <a:off x="914400" y="33375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runs on Ollama, locally.</a:t>
            </a:r>
            <a:endParaRPr lang="en-US" sz="16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OpenAI account required.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5879592" y="2194560"/>
            <a:ext cx="402336" cy="402336"/>
          </a:xfrm>
          <a:prstGeom prst="ellipse">
            <a:avLst/>
          </a:prstGeom>
          <a:solidFill>
            <a:srgbClr val="0A0F1C"/>
          </a:solidFill>
          <a:ln w="25400">
            <a:solidFill>
              <a:srgbClr val="8B98A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587959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20" dirty="0"/>
          </a:p>
        </p:txBody>
      </p:sp>
      <p:sp>
        <p:nvSpPr>
          <p:cNvPr id="28" name="Text 26"/>
          <p:cNvSpPr/>
          <p:nvPr/>
        </p:nvSpPr>
        <p:spPr>
          <a:xfrm>
            <a:off x="466344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Code-First</a:t>
            </a:r>
            <a:endParaRPr lang="en-US" sz="1920" dirty="0"/>
          </a:p>
        </p:txBody>
      </p:sp>
      <p:sp>
        <p:nvSpPr>
          <p:cNvPr id="29" name="Text 27"/>
          <p:cNvSpPr/>
          <p:nvPr/>
        </p:nvSpPr>
        <p:spPr>
          <a:xfrm>
            <a:off x="4663440" y="33375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Spring Boot code in every video —</a:t>
            </a:r>
            <a:endParaRPr lang="en-US" sz="16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slideware, not pseudocode.</a:t>
            </a:r>
            <a:endParaRPr lang="en-US" sz="1620" dirty="0"/>
          </a:p>
        </p:txBody>
      </p:sp>
      <p:sp>
        <p:nvSpPr>
          <p:cNvPr id="30" name="Shape 28"/>
          <p:cNvSpPr/>
          <p:nvPr/>
        </p:nvSpPr>
        <p:spPr>
          <a:xfrm>
            <a:off x="813816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9628632" y="2194560"/>
            <a:ext cx="402336" cy="402336"/>
          </a:xfrm>
          <a:prstGeom prst="ellipse">
            <a:avLst/>
          </a:prstGeom>
          <a:solidFill>
            <a:srgbClr val="0A0F1C"/>
          </a:solidFill>
          <a:ln w="25400">
            <a:solidFill>
              <a:srgbClr val="5FE0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962863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20" dirty="0"/>
          </a:p>
        </p:txBody>
      </p:sp>
      <p:sp>
        <p:nvSpPr>
          <p:cNvPr id="33" name="Text 31"/>
          <p:cNvSpPr/>
          <p:nvPr/>
        </p:nvSpPr>
        <p:spPr>
          <a:xfrm>
            <a:off x="841248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Evolving App</a:t>
            </a:r>
            <a:endParaRPr lang="en-US" sz="1920" dirty="0"/>
          </a:p>
        </p:txBody>
      </p:sp>
      <p:sp>
        <p:nvSpPr>
          <p:cNvPr id="34" name="Text 32"/>
          <p:cNvSpPr/>
          <p:nvPr/>
        </p:nvSpPr>
        <p:spPr>
          <a:xfrm>
            <a:off x="8412480" y="33375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11 disconnected demos. One project</a:t>
            </a:r>
            <a:endParaRPr lang="en-US" sz="16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grows a capability each chapter.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PROJECT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SmartHR Assistant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company, </a:t>
            </a:r>
            <a:r>
              <a:rPr lang="en-US" sz="216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</a:t>
            </a: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needs an AI-powered HR platform.</a:t>
            </a:r>
            <a:endParaRPr lang="en-US" sz="2160" dirty="0"/>
          </a:p>
        </p:txBody>
      </p:sp>
      <p:sp>
        <p:nvSpPr>
          <p:cNvPr id="21" name="Text 19"/>
          <p:cNvSpPr/>
          <p:nvPr/>
        </p:nvSpPr>
        <p:spPr>
          <a:xfrm>
            <a:off x="640080" y="237744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→"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Spring Boot application — not eleven separate sample projects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→"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adds a new capability to the same codebase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→"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Chapter 11 it answers questions, remembers context, searches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→"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documents, and books interviews — all on its own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55280" y="15544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81838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1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8183880" y="1993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680" dirty="0"/>
          </a:p>
        </p:txBody>
      </p:sp>
      <p:sp>
        <p:nvSpPr>
          <p:cNvPr id="25" name="Shape 23"/>
          <p:cNvSpPr/>
          <p:nvPr/>
        </p:nvSpPr>
        <p:spPr>
          <a:xfrm>
            <a:off x="9729216" y="2468880"/>
            <a:ext cx="0" cy="2286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7955280" y="26974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818388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6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8183880" y="3136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context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9729216" y="3611880"/>
            <a:ext cx="0" cy="2286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7955280" y="38404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818388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7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8183880" y="4279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policy docs (RAG)</a:t>
            </a:r>
            <a:endParaRPr lang="en-US" sz="1680" dirty="0"/>
          </a:p>
        </p:txBody>
      </p:sp>
      <p:sp>
        <p:nvSpPr>
          <p:cNvPr id="33" name="Shape 31"/>
          <p:cNvSpPr/>
          <p:nvPr/>
        </p:nvSpPr>
        <p:spPr>
          <a:xfrm>
            <a:off x="9729216" y="4754880"/>
            <a:ext cx="0" cy="2286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7955280" y="49834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blurRad="762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8183880" y="5074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11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8183880" y="5422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 via MCP</a:t>
            </a: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under the hood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52578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08660" y="1856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4.1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70866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framework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336042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543300" y="1856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2.0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354330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layer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619506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377940" y="1856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21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37794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runtime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902970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9212580" y="1856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921258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runtime</a:t>
            </a:r>
            <a:endParaRPr lang="en-US" sz="1380" dirty="0"/>
          </a:p>
        </p:txBody>
      </p:sp>
      <p:sp>
        <p:nvSpPr>
          <p:cNvPr id="32" name="Shape 30"/>
          <p:cNvSpPr/>
          <p:nvPr/>
        </p:nvSpPr>
        <p:spPr>
          <a:xfrm>
            <a:off x="52578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708660" y="3502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70866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generation model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336042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543300" y="3502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nomic-embed-text</a:t>
            </a:r>
            <a:endParaRPr lang="en-US" sz="1680" dirty="0"/>
          </a:p>
        </p:txBody>
      </p:sp>
      <p:sp>
        <p:nvSpPr>
          <p:cNvPr id="37" name="Text 35"/>
          <p:cNvSpPr/>
          <p:nvPr/>
        </p:nvSpPr>
        <p:spPr>
          <a:xfrm>
            <a:off x="354330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80" dirty="0"/>
          </a:p>
        </p:txBody>
      </p:sp>
      <p:sp>
        <p:nvSpPr>
          <p:cNvPr id="38" name="Shape 36"/>
          <p:cNvSpPr/>
          <p:nvPr/>
        </p:nvSpPr>
        <p:spPr>
          <a:xfrm>
            <a:off x="619506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377940" y="3502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+ pgvector</a:t>
            </a:r>
            <a:endParaRPr lang="en-US" sz="1680" dirty="0"/>
          </a:p>
        </p:txBody>
      </p:sp>
      <p:sp>
        <p:nvSpPr>
          <p:cNvPr id="40" name="Text 38"/>
          <p:cNvSpPr/>
          <p:nvPr/>
        </p:nvSpPr>
        <p:spPr>
          <a:xfrm>
            <a:off x="637794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</a:t>
            </a:r>
            <a:endParaRPr lang="en-US" sz="1380" dirty="0"/>
          </a:p>
        </p:txBody>
      </p:sp>
      <p:sp>
        <p:nvSpPr>
          <p:cNvPr id="41" name="Shape 39"/>
          <p:cNvSpPr/>
          <p:nvPr/>
        </p:nvSpPr>
        <p:spPr>
          <a:xfrm>
            <a:off x="9029700" y="33375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9212580" y="35021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1680" dirty="0"/>
          </a:p>
        </p:txBody>
      </p:sp>
      <p:sp>
        <p:nvSpPr>
          <p:cNvPr id="43" name="Text 41"/>
          <p:cNvSpPr/>
          <p:nvPr/>
        </p:nvSpPr>
        <p:spPr>
          <a:xfrm>
            <a:off x="921258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vector store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JOURNEY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Chapters 1 → 11 at a glance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411480" y="160020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76072" y="1600200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Spring AI!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91840" y="160020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3456432" y="1600200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Concepts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336792" y="1600200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 Models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52560" y="160020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217152" y="1600200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1480" y="2761488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76072" y="2761488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Output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91840" y="2761488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456432" y="2761488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Memory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2761488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336792" y="2761488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(SimpleVectorStore)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52560" y="2761488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9217152" y="2761488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" y="3922776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576072" y="3922776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Graph RAG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291840" y="3922776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3456432" y="3922776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Calling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3922776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72238"/>
          </a:solidFill>
          <a:ln w="19050">
            <a:solidFill>
              <a:srgbClr val="5FE0C5"/>
            </a:solidFill>
            <a:prstDash val="solid"/>
          </a:ln>
          <a:effectLst>
            <a:outerShdw blurRad="635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6336792" y="3922776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RUNNING THEME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interface, three vector stores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7, 8, and 9 swap a single bean behind Spring AI's VectorStore interface — the rest of the app never changes.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7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SimpleVectorStore</a:t>
            </a:r>
            <a:endParaRPr lang="en-US" sz="2160" dirty="0"/>
          </a:p>
        </p:txBody>
      </p:sp>
      <p:sp>
        <p:nvSpPr>
          <p:cNvPr id="24" name="Text 22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· O(N) brute force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03320" y="3154680"/>
            <a:ext cx="777240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48056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7091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8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47091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PgVectorStore</a:t>
            </a:r>
            <a:endParaRPr lang="en-US" sz="2160" dirty="0"/>
          </a:p>
        </p:txBody>
      </p:sp>
      <p:sp>
        <p:nvSpPr>
          <p:cNvPr id="29" name="Text 27"/>
          <p:cNvSpPr/>
          <p:nvPr/>
        </p:nvSpPr>
        <p:spPr>
          <a:xfrm>
            <a:off x="47091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HNSW index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80960" y="3154680"/>
            <a:ext cx="777240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845820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6868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9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86868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Neo4jVectorStore</a:t>
            </a:r>
            <a:endParaRPr lang="en-US" sz="2160" dirty="0"/>
          </a:p>
        </p:txBody>
      </p:sp>
      <p:sp>
        <p:nvSpPr>
          <p:cNvPr id="34" name="Text 32"/>
          <p:cNvSpPr/>
          <p:nvPr/>
        </p:nvSpPr>
        <p:spPr>
          <a:xfrm>
            <a:off x="86868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vector · traversal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controller. Same </a:t>
            </a:r>
            <a:r>
              <a:rPr lang="en-US" sz="1680" i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QuestionAnswerAdvisor</a:t>
            </a:r>
            <a:r>
              <a:rPr lang="en-US" sz="168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Same API — every time.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video, five minutes, three parts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1440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216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solving, in one</a:t>
            </a:r>
            <a:endParaRPr lang="en-US" sz="156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two plain-English sentences.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4023360" y="3520440"/>
            <a:ext cx="365760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38912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66344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2160" dirty="0"/>
          </a:p>
        </p:txBody>
      </p:sp>
      <p:sp>
        <p:nvSpPr>
          <p:cNvPr id="28" name="Text 26"/>
          <p:cNvSpPr/>
          <p:nvPr/>
        </p:nvSpPr>
        <p:spPr>
          <a:xfrm>
            <a:off x="466344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Spring AI code that</a:t>
            </a:r>
            <a:endParaRPr lang="en-US" sz="156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implements it.</a:t>
            </a:r>
            <a:endParaRPr lang="en-US" sz="1560" dirty="0"/>
          </a:p>
        </p:txBody>
      </p:sp>
      <p:sp>
        <p:nvSpPr>
          <p:cNvPr id="29" name="Shape 27"/>
          <p:cNvSpPr/>
          <p:nvPr/>
        </p:nvSpPr>
        <p:spPr>
          <a:xfrm>
            <a:off x="7772400" y="3520440"/>
            <a:ext cx="365760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8138160" y="20116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841248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4124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2160" dirty="0"/>
          </a:p>
        </p:txBody>
      </p:sp>
      <p:sp>
        <p:nvSpPr>
          <p:cNvPr id="33" name="Text 31"/>
          <p:cNvSpPr/>
          <p:nvPr/>
        </p:nvSpPr>
        <p:spPr>
          <a:xfrm>
            <a:off x="841248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showing how the pieces</a:t>
            </a:r>
            <a:endParaRPr lang="en-US" sz="156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each other.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runtime target: under 5 minutes per chapter.</a:t>
            </a:r>
            <a:endParaRPr lang="en-US" sz="1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START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need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274320" y="21031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21+</a:t>
            </a:r>
            <a:endParaRPr lang="en-US" sz="192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every chapter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3246120" y="21031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4290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 3.8+</a:t>
            </a:r>
            <a:endParaRPr lang="en-US" sz="1920" dirty="0"/>
          </a:p>
        </p:txBody>
      </p:sp>
      <p:sp>
        <p:nvSpPr>
          <p:cNvPr id="25" name="Text 23"/>
          <p:cNvSpPr/>
          <p:nvPr/>
        </p:nvSpPr>
        <p:spPr>
          <a:xfrm>
            <a:off x="342900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every chapter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920" dirty="0"/>
          </a:p>
        </p:txBody>
      </p:sp>
      <p:sp>
        <p:nvSpPr>
          <p:cNvPr id="28" name="Text 26"/>
          <p:cNvSpPr/>
          <p:nvPr/>
        </p:nvSpPr>
        <p:spPr>
          <a:xfrm>
            <a:off x="640080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every chapter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9189720" y="210312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9372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920" dirty="0"/>
          </a:p>
        </p:txBody>
      </p:sp>
      <p:sp>
        <p:nvSpPr>
          <p:cNvPr id="31" name="Text 29"/>
          <p:cNvSpPr/>
          <p:nvPr/>
        </p:nvSpPr>
        <p:spPr>
          <a:xfrm>
            <a:off x="9372600" y="3017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Chapters 8 &amp; 9</a:t>
            </a:r>
            <a:endParaRPr lang="en-US" sz="144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+ pgvector, Neo4j)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</a:t>
            </a:r>
            <a:r>
              <a:rPr lang="en-US" sz="16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nomic-embed-text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kern="0" spc="2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577840" y="9454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96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3696" dirty="0"/>
          </a:p>
        </p:txBody>
      </p:sp>
      <p:sp>
        <p:nvSpPr>
          <p:cNvPr id="19" name="Shape 17"/>
          <p:cNvSpPr/>
          <p:nvPr/>
        </p:nvSpPr>
        <p:spPr>
          <a:xfrm>
            <a:off x="6000293" y="1186891"/>
            <a:ext cx="341986" cy="120701"/>
          </a:xfrm>
          <a:prstGeom prst="roundRect">
            <a:avLst>
              <a:gd name="adj" fmla="val 50000"/>
            </a:avLst>
          </a:prstGeom>
          <a:solidFill>
            <a:srgbClr val="5FE0C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0" y="17830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build Chapter 1.</a:t>
            </a:r>
            <a:endParaRPr lang="en-US" sz="432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27432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668012" y="2702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039612" y="2702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7411212" y="2702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0" y="30175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every chapter  ·  </a:t>
            </a:r>
            <a:r>
              <a:rPr lang="en-US" sz="204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</a:t>
            </a: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GitHub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0" y="3657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0" y="4114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prompttoapps.com</a:t>
            </a:r>
            <a:endParaRPr lang="en-US" sz="1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with Llama — Series Introduction</dc:title>
  <dc:subject>PptxGenJS Presentation</dc:subject>
  <dc:creator>PromptToApps</dc:creator>
  <cp:lastModifiedBy>Thaman C (2665634)</cp:lastModifiedBy>
  <cp:revision>2</cp:revision>
  <dcterms:created xsi:type="dcterms:W3CDTF">2026-07-07T23:09:52Z</dcterms:created>
  <dcterms:modified xsi:type="dcterms:W3CDTF">2026-07-07T23:11:26Z</dcterms:modified>
</cp:coreProperties>
</file>