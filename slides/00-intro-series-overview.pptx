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4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1127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5349240" y="1345997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368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4368" dirty="0"/>
          </a:p>
        </p:txBody>
      </p:sp>
      <p:sp>
        <p:nvSpPr>
          <p:cNvPr id="19" name="Shape 17"/>
          <p:cNvSpPr/>
          <p:nvPr/>
        </p:nvSpPr>
        <p:spPr>
          <a:xfrm>
            <a:off x="5848502" y="1631290"/>
            <a:ext cx="404165" cy="142646"/>
          </a:xfrm>
          <a:prstGeom prst="roundRect">
            <a:avLst>
              <a:gd name="adj" fmla="val 50000"/>
            </a:avLst>
          </a:prstGeom>
          <a:solidFill>
            <a:srgbClr val="5FE0C5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0" y="2240280"/>
            <a:ext cx="1216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8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</a:t>
            </a:r>
            <a:r>
              <a:rPr lang="en-US" sz="648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</a:t>
            </a:r>
            <a:r>
              <a:rPr lang="en-US" sz="648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</a:t>
            </a:r>
            <a:endParaRPr lang="en-US" sz="6480" dirty="0"/>
          </a:p>
        </p:txBody>
      </p:sp>
      <p:sp>
        <p:nvSpPr>
          <p:cNvPr id="21" name="Text 19"/>
          <p:cNvSpPr/>
          <p:nvPr/>
        </p:nvSpPr>
        <p:spPr>
          <a:xfrm>
            <a:off x="0" y="324612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an AI-Powered HR Assistant — Chapters 1 to 11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4251960" y="3977640"/>
            <a:ext cx="3657600" cy="0"/>
          </a:xfrm>
          <a:prstGeom prst="line">
            <a:avLst/>
          </a:prstGeom>
          <a:noFill/>
          <a:ln w="12700">
            <a:solidFill>
              <a:srgbClr val="5B647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3" name="Shape 21"/>
          <p:cNvSpPr/>
          <p:nvPr/>
        </p:nvSpPr>
        <p:spPr>
          <a:xfrm>
            <a:off x="4210812" y="39364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F2A93B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Shape 22"/>
          <p:cNvSpPr/>
          <p:nvPr/>
        </p:nvSpPr>
        <p:spPr>
          <a:xfrm>
            <a:off x="6039612" y="39364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8B98AC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5" name="Shape 23"/>
          <p:cNvSpPr/>
          <p:nvPr/>
        </p:nvSpPr>
        <p:spPr>
          <a:xfrm>
            <a:off x="7868412" y="39364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5FE0C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0" y="416052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PromptToApps Series  ·  prompttoapps.com</a:t>
            </a:r>
            <a:endParaRPr lang="en-US" sz="15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40" kern="0" spc="2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THIS SERIES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cloud bill. No API key. Just code.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640080" y="182880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1" name="Shape 19"/>
          <p:cNvSpPr/>
          <p:nvPr/>
        </p:nvSpPr>
        <p:spPr>
          <a:xfrm>
            <a:off x="2130552" y="2194560"/>
            <a:ext cx="402336" cy="402336"/>
          </a:xfrm>
          <a:prstGeom prst="ellipse">
            <a:avLst/>
          </a:prstGeom>
          <a:solidFill>
            <a:srgbClr val="0A0F1C"/>
          </a:solidFill>
          <a:ln w="25400">
            <a:solidFill>
              <a:srgbClr val="F2A93B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/>
          <p:nvPr/>
        </p:nvSpPr>
        <p:spPr>
          <a:xfrm>
            <a:off x="2130552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920" dirty="0"/>
          </a:p>
        </p:txBody>
      </p:sp>
      <p:sp>
        <p:nvSpPr>
          <p:cNvPr id="23" name="Text 21"/>
          <p:cNvSpPr/>
          <p:nvPr/>
        </p:nvSpPr>
        <p:spPr>
          <a:xfrm>
            <a:off x="914400" y="2788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Paid APIs</a:t>
            </a:r>
            <a:endParaRPr lang="en-US" sz="1920" dirty="0"/>
          </a:p>
        </p:txBody>
      </p:sp>
      <p:sp>
        <p:nvSpPr>
          <p:cNvPr id="24" name="Text 22"/>
          <p:cNvSpPr/>
          <p:nvPr/>
        </p:nvSpPr>
        <p:spPr>
          <a:xfrm>
            <a:off x="914400" y="333756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example runs on Ollama, locally.</a:t>
            </a:r>
            <a:endParaRPr lang="en-US" sz="162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OpenAI account required.</a:t>
            </a:r>
            <a:endParaRPr lang="en-US" sz="1620" dirty="0"/>
          </a:p>
        </p:txBody>
      </p:sp>
      <p:sp>
        <p:nvSpPr>
          <p:cNvPr id="25" name="Shape 23"/>
          <p:cNvSpPr/>
          <p:nvPr/>
        </p:nvSpPr>
        <p:spPr>
          <a:xfrm>
            <a:off x="4389120" y="182880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6" name="Shape 24"/>
          <p:cNvSpPr/>
          <p:nvPr/>
        </p:nvSpPr>
        <p:spPr>
          <a:xfrm>
            <a:off x="5879592" y="2194560"/>
            <a:ext cx="402336" cy="402336"/>
          </a:xfrm>
          <a:prstGeom prst="ellipse">
            <a:avLst/>
          </a:prstGeom>
          <a:solidFill>
            <a:srgbClr val="0A0F1C"/>
          </a:solidFill>
          <a:ln w="25400">
            <a:solidFill>
              <a:srgbClr val="8B98AC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7" name="Text 25"/>
          <p:cNvSpPr/>
          <p:nvPr/>
        </p:nvSpPr>
        <p:spPr>
          <a:xfrm>
            <a:off x="5879592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920" dirty="0"/>
          </a:p>
        </p:txBody>
      </p:sp>
      <p:sp>
        <p:nvSpPr>
          <p:cNvPr id="28" name="Text 26"/>
          <p:cNvSpPr/>
          <p:nvPr/>
        </p:nvSpPr>
        <p:spPr>
          <a:xfrm>
            <a:off x="4663440" y="2788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Code-First</a:t>
            </a:r>
            <a:endParaRPr lang="en-US" sz="1920" dirty="0"/>
          </a:p>
        </p:txBody>
      </p:sp>
      <p:sp>
        <p:nvSpPr>
          <p:cNvPr id="29" name="Text 27"/>
          <p:cNvSpPr/>
          <p:nvPr/>
        </p:nvSpPr>
        <p:spPr>
          <a:xfrm>
            <a:off x="4663440" y="333756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Spring Boot code in every video —</a:t>
            </a:r>
            <a:endParaRPr lang="en-US" sz="162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slideware, not pseudocode.</a:t>
            </a:r>
            <a:endParaRPr lang="en-US" sz="1620" dirty="0"/>
          </a:p>
        </p:txBody>
      </p:sp>
      <p:sp>
        <p:nvSpPr>
          <p:cNvPr id="30" name="Shape 28"/>
          <p:cNvSpPr/>
          <p:nvPr/>
        </p:nvSpPr>
        <p:spPr>
          <a:xfrm>
            <a:off x="8138160" y="182880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1" name="Shape 29"/>
          <p:cNvSpPr/>
          <p:nvPr/>
        </p:nvSpPr>
        <p:spPr>
          <a:xfrm>
            <a:off x="9628632" y="2194560"/>
            <a:ext cx="402336" cy="402336"/>
          </a:xfrm>
          <a:prstGeom prst="ellipse">
            <a:avLst/>
          </a:prstGeom>
          <a:solidFill>
            <a:srgbClr val="0A0F1C"/>
          </a:solidFill>
          <a:ln w="25400">
            <a:solidFill>
              <a:srgbClr val="5FE0C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2" name="Text 30"/>
          <p:cNvSpPr/>
          <p:nvPr/>
        </p:nvSpPr>
        <p:spPr>
          <a:xfrm>
            <a:off x="9628632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920" dirty="0"/>
          </a:p>
        </p:txBody>
      </p:sp>
      <p:sp>
        <p:nvSpPr>
          <p:cNvPr id="33" name="Text 31"/>
          <p:cNvSpPr/>
          <p:nvPr/>
        </p:nvSpPr>
        <p:spPr>
          <a:xfrm>
            <a:off x="8412480" y="2788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Evolving App</a:t>
            </a:r>
            <a:endParaRPr lang="en-US" sz="1920" dirty="0"/>
          </a:p>
        </p:txBody>
      </p:sp>
      <p:sp>
        <p:nvSpPr>
          <p:cNvPr id="34" name="Text 32"/>
          <p:cNvSpPr/>
          <p:nvPr/>
        </p:nvSpPr>
        <p:spPr>
          <a:xfrm>
            <a:off x="8412480" y="333756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11 disconnected demos. One project</a:t>
            </a:r>
            <a:endParaRPr lang="en-US" sz="162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6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grows a capability each chapter.</a:t>
            </a:r>
            <a:endParaRPr lang="en-US" sz="1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40" kern="0" spc="2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PROJECT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SmartHR Assistant</a:t>
            </a:r>
            <a:endParaRPr lang="en-US" sz="3360" dirty="0"/>
          </a:p>
        </p:txBody>
      </p:sp>
      <p:sp>
        <p:nvSpPr>
          <p:cNvPr id="20" name="Text 18"/>
          <p:cNvSpPr/>
          <p:nvPr/>
        </p:nvSpPr>
        <p:spPr>
          <a:xfrm>
            <a:off x="640080" y="141732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fictional company, </a:t>
            </a:r>
            <a:r>
              <a:rPr lang="en-US" sz="216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TechCorp</a:t>
            </a:r>
            <a:r>
              <a:rPr lang="en-US" sz="21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needs an AI-powered HR platform.</a:t>
            </a:r>
            <a:endParaRPr lang="en-US" sz="2160" dirty="0"/>
          </a:p>
        </p:txBody>
      </p:sp>
      <p:sp>
        <p:nvSpPr>
          <p:cNvPr id="21" name="Text 19"/>
          <p:cNvSpPr/>
          <p:nvPr/>
        </p:nvSpPr>
        <p:spPr>
          <a:xfrm>
            <a:off x="640080" y="2377440"/>
            <a:ext cx="6675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600"/>
              </a:spcAft>
              <a:buSzPct val="100000"/>
              <a:buChar char="→"/>
            </a:pPr>
            <a:r>
              <a:rPr lang="en-US" sz="18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Spring Boot application — not eleven separate sample projects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1600"/>
              </a:spcAft>
              <a:buSzPct val="100000"/>
              <a:buChar char="→"/>
            </a:pPr>
            <a:r>
              <a:rPr lang="en-US" sz="18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chapter adds a new capability to the same codebase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1600"/>
              </a:spcAft>
              <a:buSzPct val="100000"/>
              <a:buChar char="→"/>
            </a:pPr>
            <a:r>
              <a:rPr lang="en-US" sz="18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Chapter 11 it answers questions, remembers context, searches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1600"/>
              </a:spcAft>
              <a:buSzPct val="100000"/>
              <a:buChar char="→"/>
            </a:pPr>
            <a:r>
              <a:rPr lang="en-US" sz="18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documents, and books interviews — all on its own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955280" y="1554480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  <a:effectLst>
            <a:outerShdw blurRad="76200" dist="381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3" name="Text 21"/>
          <p:cNvSpPr/>
          <p:nvPr/>
        </p:nvSpPr>
        <p:spPr>
          <a:xfrm>
            <a:off x="8183880" y="16459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8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1</a:t>
            </a:r>
            <a:endParaRPr lang="en-US" sz="1680" dirty="0"/>
          </a:p>
        </p:txBody>
      </p:sp>
      <p:sp>
        <p:nvSpPr>
          <p:cNvPr id="24" name="Text 22"/>
          <p:cNvSpPr/>
          <p:nvPr/>
        </p:nvSpPr>
        <p:spPr>
          <a:xfrm>
            <a:off x="8183880" y="19933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8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question</a:t>
            </a:r>
            <a:endParaRPr lang="en-US" sz="1680" dirty="0"/>
          </a:p>
        </p:txBody>
      </p:sp>
      <p:sp>
        <p:nvSpPr>
          <p:cNvPr id="25" name="Shape 23"/>
          <p:cNvSpPr/>
          <p:nvPr/>
        </p:nvSpPr>
        <p:spPr>
          <a:xfrm>
            <a:off x="9729216" y="2468880"/>
            <a:ext cx="0" cy="228600"/>
          </a:xfrm>
          <a:prstGeom prst="line">
            <a:avLst/>
          </a:prstGeom>
          <a:noFill/>
          <a:ln w="19050">
            <a:solidFill>
              <a:srgbClr val="5B6478"/>
            </a:solidFill>
            <a:prstDash val="solid"/>
            <a:tailEnd type="triangle"/>
          </a:ln>
        </p:spPr>
        <p:txBody>
          <a:bodyPr/>
          <a:lstStyle/>
          <a:p>
            <a:endParaRPr lang="en-CA"/>
          </a:p>
        </p:txBody>
      </p:sp>
      <p:sp>
        <p:nvSpPr>
          <p:cNvPr id="26" name="Shape 24"/>
          <p:cNvSpPr/>
          <p:nvPr/>
        </p:nvSpPr>
        <p:spPr>
          <a:xfrm>
            <a:off x="7955280" y="2697480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15875">
            <a:solidFill>
              <a:srgbClr val="8B98AC"/>
            </a:solidFill>
            <a:prstDash val="solid"/>
          </a:ln>
          <a:effectLst>
            <a:outerShdw blurRad="76200" dist="381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7" name="Text 25"/>
          <p:cNvSpPr/>
          <p:nvPr/>
        </p:nvSpPr>
        <p:spPr>
          <a:xfrm>
            <a:off x="8183880" y="27889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8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6</a:t>
            </a:r>
            <a:endParaRPr lang="en-US" sz="1680" dirty="0"/>
          </a:p>
        </p:txBody>
      </p:sp>
      <p:sp>
        <p:nvSpPr>
          <p:cNvPr id="28" name="Text 26"/>
          <p:cNvSpPr/>
          <p:nvPr/>
        </p:nvSpPr>
        <p:spPr>
          <a:xfrm>
            <a:off x="8183880" y="31363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8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context</a:t>
            </a:r>
            <a:endParaRPr lang="en-US" sz="1680" dirty="0"/>
          </a:p>
        </p:txBody>
      </p:sp>
      <p:sp>
        <p:nvSpPr>
          <p:cNvPr id="29" name="Shape 27"/>
          <p:cNvSpPr/>
          <p:nvPr/>
        </p:nvSpPr>
        <p:spPr>
          <a:xfrm>
            <a:off x="9729216" y="3611880"/>
            <a:ext cx="0" cy="228600"/>
          </a:xfrm>
          <a:prstGeom prst="line">
            <a:avLst/>
          </a:prstGeom>
          <a:noFill/>
          <a:ln w="19050">
            <a:solidFill>
              <a:srgbClr val="5B6478"/>
            </a:solidFill>
            <a:prstDash val="solid"/>
            <a:tailEnd type="triangle"/>
          </a:ln>
        </p:spPr>
        <p:txBody>
          <a:bodyPr/>
          <a:lstStyle/>
          <a:p>
            <a:endParaRPr lang="en-CA"/>
          </a:p>
        </p:txBody>
      </p:sp>
      <p:sp>
        <p:nvSpPr>
          <p:cNvPr id="30" name="Shape 28"/>
          <p:cNvSpPr/>
          <p:nvPr/>
        </p:nvSpPr>
        <p:spPr>
          <a:xfrm>
            <a:off x="7955280" y="3840480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  <a:effectLst>
            <a:outerShdw blurRad="76200" dist="381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1" name="Text 29"/>
          <p:cNvSpPr/>
          <p:nvPr/>
        </p:nvSpPr>
        <p:spPr>
          <a:xfrm>
            <a:off x="8183880" y="39319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8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7</a:t>
            </a:r>
            <a:endParaRPr lang="en-US" sz="1680" dirty="0"/>
          </a:p>
        </p:txBody>
      </p:sp>
      <p:sp>
        <p:nvSpPr>
          <p:cNvPr id="32" name="Text 30"/>
          <p:cNvSpPr/>
          <p:nvPr/>
        </p:nvSpPr>
        <p:spPr>
          <a:xfrm>
            <a:off x="8183880" y="42793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8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policy docs (RAG)</a:t>
            </a:r>
            <a:endParaRPr lang="en-US" sz="1680" dirty="0"/>
          </a:p>
        </p:txBody>
      </p:sp>
      <p:sp>
        <p:nvSpPr>
          <p:cNvPr id="33" name="Shape 31"/>
          <p:cNvSpPr/>
          <p:nvPr/>
        </p:nvSpPr>
        <p:spPr>
          <a:xfrm>
            <a:off x="9729216" y="4754880"/>
            <a:ext cx="0" cy="228600"/>
          </a:xfrm>
          <a:prstGeom prst="line">
            <a:avLst/>
          </a:prstGeom>
          <a:noFill/>
          <a:ln w="19050">
            <a:solidFill>
              <a:srgbClr val="5B6478"/>
            </a:solidFill>
            <a:prstDash val="solid"/>
            <a:tailEnd type="triangle"/>
          </a:ln>
        </p:spPr>
        <p:txBody>
          <a:bodyPr/>
          <a:lstStyle/>
          <a:p>
            <a:endParaRPr lang="en-CA"/>
          </a:p>
        </p:txBody>
      </p:sp>
      <p:sp>
        <p:nvSpPr>
          <p:cNvPr id="34" name="Shape 32"/>
          <p:cNvSpPr/>
          <p:nvPr/>
        </p:nvSpPr>
        <p:spPr>
          <a:xfrm>
            <a:off x="7955280" y="4983480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15875">
            <a:solidFill>
              <a:srgbClr val="5FE0C5"/>
            </a:solidFill>
            <a:prstDash val="solid"/>
          </a:ln>
          <a:effectLst>
            <a:outerShdw blurRad="76200" dist="381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5" name="Text 33"/>
          <p:cNvSpPr/>
          <p:nvPr/>
        </p:nvSpPr>
        <p:spPr>
          <a:xfrm>
            <a:off x="8183880" y="50749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8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11</a:t>
            </a:r>
            <a:endParaRPr lang="en-US" sz="1680" dirty="0"/>
          </a:p>
        </p:txBody>
      </p:sp>
      <p:sp>
        <p:nvSpPr>
          <p:cNvPr id="36" name="Text 34"/>
          <p:cNvSpPr/>
          <p:nvPr/>
        </p:nvSpPr>
        <p:spPr>
          <a:xfrm>
            <a:off x="8183880" y="54223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8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action via MCP</a:t>
            </a:r>
            <a:endParaRPr lang="en-US" sz="16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40" kern="0" spc="2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 STACK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under the hood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525780" y="169164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762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1" name="Text 19"/>
          <p:cNvSpPr/>
          <p:nvPr/>
        </p:nvSpPr>
        <p:spPr>
          <a:xfrm>
            <a:off x="708660" y="1856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8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Boot 4.1</a:t>
            </a:r>
            <a:endParaRPr lang="en-US" sz="1680" dirty="0"/>
          </a:p>
        </p:txBody>
      </p:sp>
      <p:sp>
        <p:nvSpPr>
          <p:cNvPr id="22" name="Text 20"/>
          <p:cNvSpPr/>
          <p:nvPr/>
        </p:nvSpPr>
        <p:spPr>
          <a:xfrm>
            <a:off x="708660" y="2468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8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framework</a:t>
            </a:r>
            <a:endParaRPr lang="en-US" sz="1380" dirty="0"/>
          </a:p>
        </p:txBody>
      </p:sp>
      <p:sp>
        <p:nvSpPr>
          <p:cNvPr id="23" name="Shape 21"/>
          <p:cNvSpPr/>
          <p:nvPr/>
        </p:nvSpPr>
        <p:spPr>
          <a:xfrm>
            <a:off x="3360420" y="169164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762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4" name="Text 22"/>
          <p:cNvSpPr/>
          <p:nvPr/>
        </p:nvSpPr>
        <p:spPr>
          <a:xfrm>
            <a:off x="3543300" y="1856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8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AI 2.0</a:t>
            </a:r>
            <a:endParaRPr lang="en-US" sz="1680" dirty="0"/>
          </a:p>
        </p:txBody>
      </p:sp>
      <p:sp>
        <p:nvSpPr>
          <p:cNvPr id="25" name="Text 23"/>
          <p:cNvSpPr/>
          <p:nvPr/>
        </p:nvSpPr>
        <p:spPr>
          <a:xfrm>
            <a:off x="3543300" y="2468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8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integration layer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6195060" y="169164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762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7" name="Text 25"/>
          <p:cNvSpPr/>
          <p:nvPr/>
        </p:nvSpPr>
        <p:spPr>
          <a:xfrm>
            <a:off x="6377940" y="1856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8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25</a:t>
            </a:r>
            <a:endParaRPr lang="en-US" sz="1680" dirty="0"/>
          </a:p>
        </p:txBody>
      </p:sp>
      <p:sp>
        <p:nvSpPr>
          <p:cNvPr id="28" name="Text 26"/>
          <p:cNvSpPr/>
          <p:nvPr/>
        </p:nvSpPr>
        <p:spPr>
          <a:xfrm>
            <a:off x="6377940" y="2468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8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+ runtime</a:t>
            </a:r>
            <a:endParaRPr lang="en-US" sz="1380" dirty="0"/>
          </a:p>
        </p:txBody>
      </p:sp>
      <p:sp>
        <p:nvSpPr>
          <p:cNvPr id="29" name="Shape 27"/>
          <p:cNvSpPr/>
          <p:nvPr/>
        </p:nvSpPr>
        <p:spPr>
          <a:xfrm>
            <a:off x="9029700" y="169164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762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0" name="Text 28"/>
          <p:cNvSpPr/>
          <p:nvPr/>
        </p:nvSpPr>
        <p:spPr>
          <a:xfrm>
            <a:off x="9212580" y="1856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8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</a:t>
            </a:r>
            <a:endParaRPr lang="en-US" sz="1680" dirty="0"/>
          </a:p>
        </p:txBody>
      </p:sp>
      <p:sp>
        <p:nvSpPr>
          <p:cNvPr id="31" name="Text 29"/>
          <p:cNvSpPr/>
          <p:nvPr/>
        </p:nvSpPr>
        <p:spPr>
          <a:xfrm>
            <a:off x="9212580" y="2468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8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model runtime</a:t>
            </a:r>
            <a:endParaRPr lang="en-US" sz="1380" dirty="0"/>
          </a:p>
        </p:txBody>
      </p:sp>
      <p:sp>
        <p:nvSpPr>
          <p:cNvPr id="32" name="Shape 30"/>
          <p:cNvSpPr/>
          <p:nvPr/>
        </p:nvSpPr>
        <p:spPr>
          <a:xfrm>
            <a:off x="525780" y="333756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762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3" name="Text 31"/>
          <p:cNvSpPr/>
          <p:nvPr/>
        </p:nvSpPr>
        <p:spPr>
          <a:xfrm>
            <a:off x="708660" y="35021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8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llama3.2</a:t>
            </a:r>
            <a:endParaRPr lang="en-US" sz="1680" dirty="0"/>
          </a:p>
        </p:txBody>
      </p:sp>
      <p:sp>
        <p:nvSpPr>
          <p:cNvPr id="34" name="Text 32"/>
          <p:cNvSpPr/>
          <p:nvPr/>
        </p:nvSpPr>
        <p:spPr>
          <a:xfrm>
            <a:off x="708660" y="41148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8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/ generation model</a:t>
            </a:r>
            <a:endParaRPr lang="en-US" sz="1380" dirty="0"/>
          </a:p>
        </p:txBody>
      </p:sp>
      <p:sp>
        <p:nvSpPr>
          <p:cNvPr id="35" name="Shape 33"/>
          <p:cNvSpPr/>
          <p:nvPr/>
        </p:nvSpPr>
        <p:spPr>
          <a:xfrm>
            <a:off x="3360420" y="333756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762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6" name="Text 34"/>
          <p:cNvSpPr/>
          <p:nvPr/>
        </p:nvSpPr>
        <p:spPr>
          <a:xfrm>
            <a:off x="3543300" y="35021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8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nomic-embed-text</a:t>
            </a:r>
            <a:endParaRPr lang="en-US" sz="1680" dirty="0"/>
          </a:p>
        </p:txBody>
      </p:sp>
      <p:sp>
        <p:nvSpPr>
          <p:cNvPr id="37" name="Text 35"/>
          <p:cNvSpPr/>
          <p:nvPr/>
        </p:nvSpPr>
        <p:spPr>
          <a:xfrm>
            <a:off x="3543300" y="41148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8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</a:t>
            </a:r>
            <a:endParaRPr lang="en-US" sz="1380" dirty="0"/>
          </a:p>
        </p:txBody>
      </p:sp>
      <p:sp>
        <p:nvSpPr>
          <p:cNvPr id="38" name="Shape 36"/>
          <p:cNvSpPr/>
          <p:nvPr/>
        </p:nvSpPr>
        <p:spPr>
          <a:xfrm>
            <a:off x="6195060" y="333756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762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9" name="Text 37"/>
          <p:cNvSpPr/>
          <p:nvPr/>
        </p:nvSpPr>
        <p:spPr>
          <a:xfrm>
            <a:off x="6377940" y="35021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8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 + pgvector</a:t>
            </a:r>
            <a:endParaRPr lang="en-US" sz="1680" dirty="0"/>
          </a:p>
        </p:txBody>
      </p:sp>
      <p:sp>
        <p:nvSpPr>
          <p:cNvPr id="40" name="Text 38"/>
          <p:cNvSpPr/>
          <p:nvPr/>
        </p:nvSpPr>
        <p:spPr>
          <a:xfrm>
            <a:off x="6377940" y="41148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8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vector store</a:t>
            </a:r>
            <a:endParaRPr lang="en-US" sz="1380" dirty="0"/>
          </a:p>
        </p:txBody>
      </p:sp>
      <p:sp>
        <p:nvSpPr>
          <p:cNvPr id="41" name="Shape 39"/>
          <p:cNvSpPr/>
          <p:nvPr/>
        </p:nvSpPr>
        <p:spPr>
          <a:xfrm>
            <a:off x="9029700" y="333756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762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42" name="Text 40"/>
          <p:cNvSpPr/>
          <p:nvPr/>
        </p:nvSpPr>
        <p:spPr>
          <a:xfrm>
            <a:off x="9212580" y="35021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8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Neo4j</a:t>
            </a:r>
            <a:endParaRPr lang="en-US" sz="1680" dirty="0"/>
          </a:p>
        </p:txBody>
      </p:sp>
      <p:sp>
        <p:nvSpPr>
          <p:cNvPr id="43" name="Text 41"/>
          <p:cNvSpPr/>
          <p:nvPr/>
        </p:nvSpPr>
        <p:spPr>
          <a:xfrm>
            <a:off x="9212580" y="41148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8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Graph-based vector store</a:t>
            </a:r>
            <a:endParaRPr lang="en-US" sz="13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40" kern="0" spc="2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JOURNEY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Chapters 1 → 11 at a glance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411480" y="1600200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635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1" name="Text 19"/>
          <p:cNvSpPr/>
          <p:nvPr/>
        </p:nvSpPr>
        <p:spPr>
          <a:xfrm>
            <a:off x="576072" y="1600200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</a:t>
            </a: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Hello, Spring AI!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291840" y="1600200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635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3" name="Text 21"/>
          <p:cNvSpPr/>
          <p:nvPr/>
        </p:nvSpPr>
        <p:spPr>
          <a:xfrm>
            <a:off x="3456432" y="1600200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</a:t>
            </a: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Concepts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1600200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635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5" name="Text 23"/>
          <p:cNvSpPr/>
          <p:nvPr/>
        </p:nvSpPr>
        <p:spPr>
          <a:xfrm>
            <a:off x="6336792" y="1600200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</a:t>
            </a: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Comparing Models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052560" y="1600200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635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7" name="Text 25"/>
          <p:cNvSpPr/>
          <p:nvPr/>
        </p:nvSpPr>
        <p:spPr>
          <a:xfrm>
            <a:off x="9217152" y="1600200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</a:t>
            </a: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Engineering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11480" y="2761488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635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9" name="Text 27"/>
          <p:cNvSpPr/>
          <p:nvPr/>
        </p:nvSpPr>
        <p:spPr>
          <a:xfrm>
            <a:off x="576072" y="2761488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</a:t>
            </a: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Structured Output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3291840" y="2761488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635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1" name="Text 29"/>
          <p:cNvSpPr/>
          <p:nvPr/>
        </p:nvSpPr>
        <p:spPr>
          <a:xfrm>
            <a:off x="3456432" y="2761488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</a:t>
            </a: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Memory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172200" y="2761488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635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3" name="Text 31"/>
          <p:cNvSpPr/>
          <p:nvPr/>
        </p:nvSpPr>
        <p:spPr>
          <a:xfrm>
            <a:off x="6336792" y="2761488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</a:t>
            </a: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RAG (SimpleVectorStore)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9052560" y="2761488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635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5" name="Text 33"/>
          <p:cNvSpPr/>
          <p:nvPr/>
        </p:nvSpPr>
        <p:spPr>
          <a:xfrm>
            <a:off x="9217152" y="2761488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 </a:t>
            </a: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PgVector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411480" y="3922776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635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7" name="Text 35"/>
          <p:cNvSpPr/>
          <p:nvPr/>
        </p:nvSpPr>
        <p:spPr>
          <a:xfrm>
            <a:off x="576072" y="3922776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 </a:t>
            </a: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Neo4j Graph RAG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3291840" y="3922776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21A2E"/>
          </a:solidFill>
          <a:ln w="9525">
            <a:solidFill>
              <a:srgbClr val="5B6478"/>
            </a:solidFill>
            <a:prstDash val="solid"/>
          </a:ln>
          <a:effectLst>
            <a:outerShdw blurRad="635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9" name="Text 37"/>
          <p:cNvSpPr/>
          <p:nvPr/>
        </p:nvSpPr>
        <p:spPr>
          <a:xfrm>
            <a:off x="3456432" y="3922776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Calling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6172200" y="3922776"/>
            <a:ext cx="2697480" cy="960120"/>
          </a:xfrm>
          <a:prstGeom prst="roundRect">
            <a:avLst>
              <a:gd name="adj" fmla="val 9524"/>
            </a:avLst>
          </a:prstGeom>
          <a:solidFill>
            <a:srgbClr val="172238"/>
          </a:solidFill>
          <a:ln w="19050">
            <a:solidFill>
              <a:srgbClr val="5FE0C5"/>
            </a:solidFill>
            <a:prstDash val="solid"/>
          </a:ln>
          <a:effectLst>
            <a:outerShdw blurRad="635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41" name="Text 39"/>
          <p:cNvSpPr/>
          <p:nvPr/>
        </p:nvSpPr>
        <p:spPr>
          <a:xfrm>
            <a:off x="6336792" y="3922776"/>
            <a:ext cx="2368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r>
              <a:rPr lang="en-US" sz="1500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Integration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40" kern="0" spc="2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RUNNING THEME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interface, three vector stores</a:t>
            </a:r>
            <a:endParaRPr lang="en-US" sz="3360" dirty="0"/>
          </a:p>
        </p:txBody>
      </p:sp>
      <p:sp>
        <p:nvSpPr>
          <p:cNvPr id="20" name="Text 18"/>
          <p:cNvSpPr/>
          <p:nvPr/>
        </p:nvSpPr>
        <p:spPr>
          <a:xfrm>
            <a:off x="640080" y="13258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7, 8, and 9 swap a single bean behind Spring AI's VectorStore interface — the rest of the app never changes.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02920" y="23774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121A2E"/>
          </a:solidFill>
          <a:ln w="19050">
            <a:solidFill>
              <a:srgbClr val="F2A93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/>
          <p:nvPr/>
        </p:nvSpPr>
        <p:spPr>
          <a:xfrm>
            <a:off x="73152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4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7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731520" y="2834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6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SimpleVectorStore</a:t>
            </a:r>
            <a:endParaRPr lang="en-US" sz="2160" dirty="0"/>
          </a:p>
        </p:txBody>
      </p:sp>
      <p:sp>
        <p:nvSpPr>
          <p:cNvPr id="24" name="Text 22"/>
          <p:cNvSpPr/>
          <p:nvPr/>
        </p:nvSpPr>
        <p:spPr>
          <a:xfrm>
            <a:off x="731520" y="3383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· O(N) brute force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703320" y="3154680"/>
            <a:ext cx="777240" cy="0"/>
          </a:xfrm>
          <a:prstGeom prst="line">
            <a:avLst/>
          </a:prstGeom>
          <a:noFill/>
          <a:ln w="22225">
            <a:solidFill>
              <a:srgbClr val="5B6478"/>
            </a:solidFill>
            <a:prstDash val="solid"/>
            <a:tailEnd type="triangle"/>
          </a:ln>
        </p:spPr>
        <p:txBody>
          <a:bodyPr/>
          <a:lstStyle/>
          <a:p>
            <a:endParaRPr lang="en-CA"/>
          </a:p>
        </p:txBody>
      </p:sp>
      <p:sp>
        <p:nvSpPr>
          <p:cNvPr id="26" name="Shape 24"/>
          <p:cNvSpPr/>
          <p:nvPr/>
        </p:nvSpPr>
        <p:spPr>
          <a:xfrm>
            <a:off x="4480560" y="23774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121A2E"/>
          </a:solidFill>
          <a:ln w="19050">
            <a:solidFill>
              <a:srgbClr val="8B98AC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7" name="Text 25"/>
          <p:cNvSpPr/>
          <p:nvPr/>
        </p:nvSpPr>
        <p:spPr>
          <a:xfrm>
            <a:off x="470916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4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8</a:t>
            </a:r>
            <a:endParaRPr lang="en-US" sz="1440" dirty="0"/>
          </a:p>
        </p:txBody>
      </p:sp>
      <p:sp>
        <p:nvSpPr>
          <p:cNvPr id="28" name="Text 26"/>
          <p:cNvSpPr/>
          <p:nvPr/>
        </p:nvSpPr>
        <p:spPr>
          <a:xfrm>
            <a:off x="4709160" y="2834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6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PgVectorStore</a:t>
            </a:r>
            <a:endParaRPr lang="en-US" sz="2160" dirty="0"/>
          </a:p>
        </p:txBody>
      </p:sp>
      <p:sp>
        <p:nvSpPr>
          <p:cNvPr id="29" name="Text 27"/>
          <p:cNvSpPr/>
          <p:nvPr/>
        </p:nvSpPr>
        <p:spPr>
          <a:xfrm>
            <a:off x="4709160" y="3383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HNSW index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680960" y="3154680"/>
            <a:ext cx="777240" cy="0"/>
          </a:xfrm>
          <a:prstGeom prst="line">
            <a:avLst/>
          </a:prstGeom>
          <a:noFill/>
          <a:ln w="22225">
            <a:solidFill>
              <a:srgbClr val="5B6478"/>
            </a:solidFill>
            <a:prstDash val="solid"/>
            <a:tailEnd type="triangle"/>
          </a:ln>
        </p:spPr>
        <p:txBody>
          <a:bodyPr/>
          <a:lstStyle/>
          <a:p>
            <a:endParaRPr lang="en-CA"/>
          </a:p>
        </p:txBody>
      </p:sp>
      <p:sp>
        <p:nvSpPr>
          <p:cNvPr id="31" name="Shape 29"/>
          <p:cNvSpPr/>
          <p:nvPr/>
        </p:nvSpPr>
        <p:spPr>
          <a:xfrm>
            <a:off x="8458200" y="23774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121A2E"/>
          </a:solidFill>
          <a:ln w="19050">
            <a:solidFill>
              <a:srgbClr val="5FE0C5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2" name="Text 30"/>
          <p:cNvSpPr/>
          <p:nvPr/>
        </p:nvSpPr>
        <p:spPr>
          <a:xfrm>
            <a:off x="868680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4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9</a:t>
            </a:r>
            <a:endParaRPr lang="en-US" sz="1440" dirty="0"/>
          </a:p>
        </p:txBody>
      </p:sp>
      <p:sp>
        <p:nvSpPr>
          <p:cNvPr id="33" name="Text 31"/>
          <p:cNvSpPr/>
          <p:nvPr/>
        </p:nvSpPr>
        <p:spPr>
          <a:xfrm>
            <a:off x="8686800" y="2834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6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Neo4jVectorStore</a:t>
            </a:r>
            <a:endParaRPr lang="en-US" sz="2160" dirty="0"/>
          </a:p>
        </p:txBody>
      </p:sp>
      <p:sp>
        <p:nvSpPr>
          <p:cNvPr id="34" name="Text 32"/>
          <p:cNvSpPr/>
          <p:nvPr/>
        </p:nvSpPr>
        <p:spPr>
          <a:xfrm>
            <a:off x="8686800" y="3383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+ vector · traversal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40080" y="4434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i="1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controller. Same </a:t>
            </a:r>
            <a:r>
              <a:rPr lang="en-US" sz="1680" i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QuestionAnswerAdvisor</a:t>
            </a:r>
            <a:r>
              <a:rPr lang="en-US" sz="1680" i="1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Same API — every time.</a:t>
            </a:r>
            <a:endParaRPr lang="en-US" sz="16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40" kern="0" spc="2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video, five minutes, three parts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640080" y="201168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1" name="Text 19"/>
          <p:cNvSpPr/>
          <p:nvPr/>
        </p:nvSpPr>
        <p:spPr>
          <a:xfrm>
            <a:off x="914400" y="2286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914400" y="30632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6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</a:t>
            </a:r>
            <a:endParaRPr lang="en-US" sz="2160" dirty="0"/>
          </a:p>
        </p:txBody>
      </p:sp>
      <p:sp>
        <p:nvSpPr>
          <p:cNvPr id="23" name="Text 21"/>
          <p:cNvSpPr/>
          <p:nvPr/>
        </p:nvSpPr>
        <p:spPr>
          <a:xfrm>
            <a:off x="914400" y="361188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6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problem are we solving, in one</a:t>
            </a:r>
            <a:endParaRPr lang="en-US" sz="156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6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two plain-English sentences.</a:t>
            </a:r>
            <a:endParaRPr lang="en-US" sz="1560" dirty="0"/>
          </a:p>
        </p:txBody>
      </p:sp>
      <p:sp>
        <p:nvSpPr>
          <p:cNvPr id="24" name="Shape 22"/>
          <p:cNvSpPr/>
          <p:nvPr/>
        </p:nvSpPr>
        <p:spPr>
          <a:xfrm>
            <a:off x="4023360" y="3520440"/>
            <a:ext cx="365760" cy="0"/>
          </a:xfrm>
          <a:prstGeom prst="line">
            <a:avLst/>
          </a:prstGeom>
          <a:noFill/>
          <a:ln w="22225">
            <a:solidFill>
              <a:srgbClr val="5B6478"/>
            </a:solidFill>
            <a:prstDash val="solid"/>
            <a:tailEnd type="triangle"/>
          </a:ln>
        </p:spPr>
        <p:txBody>
          <a:bodyPr/>
          <a:lstStyle/>
          <a:p>
            <a:endParaRPr lang="en-CA"/>
          </a:p>
        </p:txBody>
      </p:sp>
      <p:sp>
        <p:nvSpPr>
          <p:cNvPr id="25" name="Shape 23"/>
          <p:cNvSpPr/>
          <p:nvPr/>
        </p:nvSpPr>
        <p:spPr>
          <a:xfrm>
            <a:off x="4389120" y="201168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121A2E"/>
          </a:solidFill>
          <a:ln w="15875">
            <a:solidFill>
              <a:srgbClr val="8B98AC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4663440" y="2286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4663440" y="30632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6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endParaRPr lang="en-US" sz="2160" dirty="0"/>
          </a:p>
        </p:txBody>
      </p:sp>
      <p:sp>
        <p:nvSpPr>
          <p:cNvPr id="28" name="Text 26"/>
          <p:cNvSpPr/>
          <p:nvPr/>
        </p:nvSpPr>
        <p:spPr>
          <a:xfrm>
            <a:off x="4663440" y="361188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6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minimal Spring AI code that</a:t>
            </a:r>
            <a:endParaRPr lang="en-US" sz="156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6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implements it.</a:t>
            </a:r>
            <a:endParaRPr lang="en-US" sz="1560" dirty="0"/>
          </a:p>
        </p:txBody>
      </p:sp>
      <p:sp>
        <p:nvSpPr>
          <p:cNvPr id="29" name="Shape 27"/>
          <p:cNvSpPr/>
          <p:nvPr/>
        </p:nvSpPr>
        <p:spPr>
          <a:xfrm>
            <a:off x="7772400" y="3520440"/>
            <a:ext cx="365760" cy="0"/>
          </a:xfrm>
          <a:prstGeom prst="line">
            <a:avLst/>
          </a:prstGeom>
          <a:noFill/>
          <a:ln w="22225">
            <a:solidFill>
              <a:srgbClr val="5B6478"/>
            </a:solidFill>
            <a:prstDash val="solid"/>
            <a:tailEnd type="triangle"/>
          </a:ln>
        </p:spPr>
        <p:txBody>
          <a:bodyPr/>
          <a:lstStyle/>
          <a:p>
            <a:endParaRPr lang="en-CA"/>
          </a:p>
        </p:txBody>
      </p:sp>
      <p:sp>
        <p:nvSpPr>
          <p:cNvPr id="30" name="Shape 28"/>
          <p:cNvSpPr/>
          <p:nvPr/>
        </p:nvSpPr>
        <p:spPr>
          <a:xfrm>
            <a:off x="8138160" y="201168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121A2E"/>
          </a:solidFill>
          <a:ln w="15875">
            <a:solidFill>
              <a:srgbClr val="5FE0C5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1" name="Text 29"/>
          <p:cNvSpPr/>
          <p:nvPr/>
        </p:nvSpPr>
        <p:spPr>
          <a:xfrm>
            <a:off x="8412480" y="2286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3600" dirty="0"/>
          </a:p>
        </p:txBody>
      </p:sp>
      <p:sp>
        <p:nvSpPr>
          <p:cNvPr id="32" name="Text 30"/>
          <p:cNvSpPr/>
          <p:nvPr/>
        </p:nvSpPr>
        <p:spPr>
          <a:xfrm>
            <a:off x="8412480" y="30632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6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2160" dirty="0"/>
          </a:p>
        </p:txBody>
      </p:sp>
      <p:sp>
        <p:nvSpPr>
          <p:cNvPr id="33" name="Text 31"/>
          <p:cNvSpPr/>
          <p:nvPr/>
        </p:nvSpPr>
        <p:spPr>
          <a:xfrm>
            <a:off x="8412480" y="361188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6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diagram showing how the pieces</a:t>
            </a:r>
            <a:endParaRPr lang="en-US" sz="156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6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each other.</a:t>
            </a:r>
            <a:endParaRPr lang="en-US" sz="1560" dirty="0"/>
          </a:p>
        </p:txBody>
      </p:sp>
      <p:sp>
        <p:nvSpPr>
          <p:cNvPr id="34" name="Text 32"/>
          <p:cNvSpPr/>
          <p:nvPr/>
        </p:nvSpPr>
        <p:spPr>
          <a:xfrm>
            <a:off x="0" y="534924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runtime target: under 5 minutes per chapter.</a:t>
            </a:r>
            <a:endParaRPr lang="en-US" sz="15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40" kern="0" spc="2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START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you need</a:t>
            </a:r>
            <a:endParaRPr lang="en-US" sz="3360" dirty="0"/>
          </a:p>
        </p:txBody>
      </p:sp>
      <p:sp>
        <p:nvSpPr>
          <p:cNvPr id="20" name="Shape 18"/>
          <p:cNvSpPr/>
          <p:nvPr/>
        </p:nvSpPr>
        <p:spPr>
          <a:xfrm>
            <a:off x="274320" y="2103120"/>
            <a:ext cx="2697480" cy="2377440"/>
          </a:xfrm>
          <a:prstGeom prst="roundRect">
            <a:avLst>
              <a:gd name="adj" fmla="val 3846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  <a:effectLst>
            <a:outerShdw blurRad="762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1" name="Text 19"/>
          <p:cNvSpPr/>
          <p:nvPr/>
        </p:nvSpPr>
        <p:spPr>
          <a:xfrm>
            <a:off x="457200" y="23774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25+</a:t>
            </a:r>
            <a:endParaRPr lang="en-US" sz="1920" dirty="0"/>
          </a:p>
        </p:txBody>
      </p:sp>
      <p:sp>
        <p:nvSpPr>
          <p:cNvPr id="22" name="Text 20"/>
          <p:cNvSpPr/>
          <p:nvPr/>
        </p:nvSpPr>
        <p:spPr>
          <a:xfrm>
            <a:off x="457200" y="30175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every chapter</a:t>
            </a:r>
            <a:endParaRPr lang="en-US" sz="1440" dirty="0"/>
          </a:p>
        </p:txBody>
      </p:sp>
      <p:sp>
        <p:nvSpPr>
          <p:cNvPr id="23" name="Shape 21"/>
          <p:cNvSpPr/>
          <p:nvPr/>
        </p:nvSpPr>
        <p:spPr>
          <a:xfrm>
            <a:off x="3246120" y="2103120"/>
            <a:ext cx="2697480" cy="2377440"/>
          </a:xfrm>
          <a:prstGeom prst="roundRect">
            <a:avLst>
              <a:gd name="adj" fmla="val 3846"/>
            </a:avLst>
          </a:prstGeom>
          <a:solidFill>
            <a:srgbClr val="121A2E"/>
          </a:solidFill>
          <a:ln w="15875">
            <a:solidFill>
              <a:srgbClr val="F2A93B"/>
            </a:solidFill>
            <a:prstDash val="solid"/>
          </a:ln>
          <a:effectLst>
            <a:outerShdw blurRad="762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4" name="Text 22"/>
          <p:cNvSpPr/>
          <p:nvPr/>
        </p:nvSpPr>
        <p:spPr>
          <a:xfrm>
            <a:off x="3429000" y="23774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Maven 3.8+</a:t>
            </a:r>
            <a:endParaRPr lang="en-US" sz="1920" dirty="0"/>
          </a:p>
        </p:txBody>
      </p:sp>
      <p:sp>
        <p:nvSpPr>
          <p:cNvPr id="25" name="Text 23"/>
          <p:cNvSpPr/>
          <p:nvPr/>
        </p:nvSpPr>
        <p:spPr>
          <a:xfrm>
            <a:off x="3429000" y="30175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every chapter</a:t>
            </a:r>
            <a:endParaRPr lang="en-US" sz="1440" dirty="0"/>
          </a:p>
        </p:txBody>
      </p:sp>
      <p:sp>
        <p:nvSpPr>
          <p:cNvPr id="26" name="Shape 24"/>
          <p:cNvSpPr/>
          <p:nvPr/>
        </p:nvSpPr>
        <p:spPr>
          <a:xfrm>
            <a:off x="6217920" y="2103120"/>
            <a:ext cx="2697480" cy="2377440"/>
          </a:xfrm>
          <a:prstGeom prst="roundRect">
            <a:avLst>
              <a:gd name="adj" fmla="val 3846"/>
            </a:avLst>
          </a:prstGeom>
          <a:solidFill>
            <a:srgbClr val="121A2E"/>
          </a:solidFill>
          <a:ln w="15875">
            <a:solidFill>
              <a:srgbClr val="5FE0C5"/>
            </a:solidFill>
            <a:prstDash val="solid"/>
          </a:ln>
          <a:effectLst>
            <a:outerShdw blurRad="762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7" name="Text 25"/>
          <p:cNvSpPr/>
          <p:nvPr/>
        </p:nvSpPr>
        <p:spPr>
          <a:xfrm>
            <a:off x="6400800" y="23774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</a:t>
            </a:r>
            <a:endParaRPr lang="en-US" sz="1920" dirty="0"/>
          </a:p>
        </p:txBody>
      </p:sp>
      <p:sp>
        <p:nvSpPr>
          <p:cNvPr id="28" name="Text 26"/>
          <p:cNvSpPr/>
          <p:nvPr/>
        </p:nvSpPr>
        <p:spPr>
          <a:xfrm>
            <a:off x="6400800" y="30175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every chapter</a:t>
            </a:r>
            <a:endParaRPr lang="en-US" sz="1440" dirty="0"/>
          </a:p>
        </p:txBody>
      </p:sp>
      <p:sp>
        <p:nvSpPr>
          <p:cNvPr id="29" name="Shape 27"/>
          <p:cNvSpPr/>
          <p:nvPr/>
        </p:nvSpPr>
        <p:spPr>
          <a:xfrm>
            <a:off x="9189720" y="2103120"/>
            <a:ext cx="2697480" cy="2377440"/>
          </a:xfrm>
          <a:prstGeom prst="roundRect">
            <a:avLst>
              <a:gd name="adj" fmla="val 3846"/>
            </a:avLst>
          </a:prstGeom>
          <a:solidFill>
            <a:srgbClr val="121A2E"/>
          </a:solidFill>
          <a:ln w="15875">
            <a:solidFill>
              <a:srgbClr val="8B98AC"/>
            </a:solidFill>
            <a:prstDash val="solid"/>
          </a:ln>
          <a:effectLst>
            <a:outerShdw blurRad="762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0" name="Text 28"/>
          <p:cNvSpPr/>
          <p:nvPr/>
        </p:nvSpPr>
        <p:spPr>
          <a:xfrm>
            <a:off x="9372600" y="23774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</a:t>
            </a:r>
            <a:endParaRPr lang="en-US" sz="1920" dirty="0"/>
          </a:p>
        </p:txBody>
      </p:sp>
      <p:sp>
        <p:nvSpPr>
          <p:cNvPr id="31" name="Text 29"/>
          <p:cNvSpPr/>
          <p:nvPr/>
        </p:nvSpPr>
        <p:spPr>
          <a:xfrm>
            <a:off x="9372600" y="30175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for Chapters 8 &amp; 9</a:t>
            </a:r>
            <a:endParaRPr lang="en-US" sz="144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(PostgreSQL + pgvector, Neo4j)</a:t>
            </a:r>
            <a:endParaRPr lang="en-US" sz="1440" dirty="0"/>
          </a:p>
        </p:txBody>
      </p:sp>
      <p:sp>
        <p:nvSpPr>
          <p:cNvPr id="32" name="Text 30"/>
          <p:cNvSpPr/>
          <p:nvPr/>
        </p:nvSpPr>
        <p:spPr>
          <a:xfrm>
            <a:off x="0" y="484632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 pull llama3.2</a:t>
            </a:r>
            <a:r>
              <a:rPr lang="en-US" sz="16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r>
              <a:rPr lang="en-US" sz="168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 pull nomic-embed-text</a:t>
            </a:r>
            <a:endParaRPr lang="en-US" sz="1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40" kern="0" spc="2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RESOURCES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Keep learning</a:t>
            </a:r>
            <a:endParaRPr lang="en-US" sz="3360" dirty="0"/>
          </a:p>
        </p:txBody>
      </p:sp>
      <p:sp>
        <p:nvSpPr>
          <p:cNvPr id="20" name="Text 18"/>
          <p:cNvSpPr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for this series lives in one place — read, run, and test yourself.</a:t>
            </a:r>
            <a:endParaRPr lang="en-US" sz="1920" dirty="0"/>
          </a:p>
        </p:txBody>
      </p:sp>
      <p:sp>
        <p:nvSpPr>
          <p:cNvPr id="21" name="Shape 19"/>
          <p:cNvSpPr/>
          <p:nvPr/>
        </p:nvSpPr>
        <p:spPr>
          <a:xfrm>
            <a:off x="822960" y="1874520"/>
            <a:ext cx="10515600" cy="1097280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19050">
            <a:solidFill>
              <a:srgbClr val="F2A93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/>
          <p:nvPr/>
        </p:nvSpPr>
        <p:spPr>
          <a:xfrm>
            <a:off x="1143000" y="201168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2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code — all chapters</a:t>
            </a:r>
            <a:endParaRPr lang="en-US" sz="1920" dirty="0"/>
          </a:p>
        </p:txBody>
      </p:sp>
      <p:sp>
        <p:nvSpPr>
          <p:cNvPr id="23" name="Text 21"/>
          <p:cNvSpPr/>
          <p:nvPr/>
        </p:nvSpPr>
        <p:spPr>
          <a:xfrm>
            <a:off x="1143000" y="238658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4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Clone, run, and star the repo on GitHub.</a:t>
            </a:r>
            <a:endParaRPr lang="en-US" sz="1440" dirty="0"/>
          </a:p>
        </p:txBody>
      </p:sp>
      <p:sp>
        <p:nvSpPr>
          <p:cNvPr id="24" name="Text 22"/>
          <p:cNvSpPr/>
          <p:nvPr/>
        </p:nvSpPr>
        <p:spPr>
          <a:xfrm>
            <a:off x="1143000" y="267004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4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github.com/balajich/spring-ai-with-llama</a:t>
            </a:r>
            <a:endParaRPr lang="en-US" sz="1440" dirty="0"/>
          </a:p>
        </p:txBody>
      </p:sp>
      <p:sp>
        <p:nvSpPr>
          <p:cNvPr id="25" name="Shape 23"/>
          <p:cNvSpPr/>
          <p:nvPr/>
        </p:nvSpPr>
        <p:spPr>
          <a:xfrm>
            <a:off x="822960" y="3154680"/>
            <a:ext cx="10515600" cy="1097280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19050">
            <a:solidFill>
              <a:srgbClr val="5FE0C5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1143000" y="329184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2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tutorial series</a:t>
            </a:r>
            <a:endParaRPr lang="en-US" sz="1920" dirty="0"/>
          </a:p>
        </p:txBody>
      </p:sp>
      <p:sp>
        <p:nvSpPr>
          <p:cNvPr id="27" name="Text 25"/>
          <p:cNvSpPr/>
          <p:nvPr/>
        </p:nvSpPr>
        <p:spPr>
          <a:xfrm>
            <a:off x="1143000" y="366674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4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every chapter online, with code and diagrams.</a:t>
            </a:r>
            <a:endParaRPr lang="en-US" sz="1440" dirty="0"/>
          </a:p>
        </p:txBody>
      </p:sp>
      <p:sp>
        <p:nvSpPr>
          <p:cNvPr id="28" name="Text 26"/>
          <p:cNvSpPr/>
          <p:nvPr/>
        </p:nvSpPr>
        <p:spPr>
          <a:xfrm>
            <a:off x="1143000" y="395020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4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prompttoapps.com/tutorials/spring-ai-llama</a:t>
            </a:r>
            <a:endParaRPr lang="en-US" sz="1440" dirty="0"/>
          </a:p>
        </p:txBody>
      </p:sp>
      <p:sp>
        <p:nvSpPr>
          <p:cNvPr id="29" name="Shape 27"/>
          <p:cNvSpPr/>
          <p:nvPr/>
        </p:nvSpPr>
        <p:spPr>
          <a:xfrm>
            <a:off x="822960" y="4434840"/>
            <a:ext cx="10515600" cy="1097280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19050">
            <a:solidFill>
              <a:srgbClr val="8B98AC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0" name="Text 28"/>
          <p:cNvSpPr/>
          <p:nvPr/>
        </p:nvSpPr>
        <p:spPr>
          <a:xfrm>
            <a:off x="1143000" y="457200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20" b="1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yourself — chapter quizzes</a:t>
            </a:r>
            <a:endParaRPr lang="en-US" sz="1920" dirty="0"/>
          </a:p>
        </p:txBody>
      </p:sp>
      <p:sp>
        <p:nvSpPr>
          <p:cNvPr id="31" name="Text 29"/>
          <p:cNvSpPr/>
          <p:nvPr/>
        </p:nvSpPr>
        <p:spPr>
          <a:xfrm>
            <a:off x="1143000" y="49469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4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understanding chapter by chapter.</a:t>
            </a:r>
            <a:endParaRPr lang="en-US" sz="1440" dirty="0"/>
          </a:p>
        </p:txBody>
      </p:sp>
      <p:sp>
        <p:nvSpPr>
          <p:cNvPr id="32" name="Text 30"/>
          <p:cNvSpPr/>
          <p:nvPr/>
        </p:nvSpPr>
        <p:spPr>
          <a:xfrm>
            <a:off x="1143000" y="52303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4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prompttoapps.com/quiz/#springai/ch01</a:t>
            </a:r>
            <a:endParaRPr lang="en-US" sz="1440" dirty="0"/>
          </a:p>
        </p:txBody>
      </p:sp>
      <p:sp>
        <p:nvSpPr>
          <p:cNvPr id="33" name="Shape 31"/>
          <p:cNvSpPr/>
          <p:nvPr/>
        </p:nvSpPr>
        <p:spPr>
          <a:xfrm>
            <a:off x="4251960" y="5943600"/>
            <a:ext cx="3657600" cy="0"/>
          </a:xfrm>
          <a:prstGeom prst="line">
            <a:avLst/>
          </a:prstGeom>
          <a:noFill/>
          <a:ln w="12700">
            <a:solidFill>
              <a:srgbClr val="5B647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4" name="Shape 32"/>
          <p:cNvSpPr/>
          <p:nvPr/>
        </p:nvSpPr>
        <p:spPr>
          <a:xfrm>
            <a:off x="4210812" y="590245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F2A93B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5" name="Shape 33"/>
          <p:cNvSpPr/>
          <p:nvPr/>
        </p:nvSpPr>
        <p:spPr>
          <a:xfrm>
            <a:off x="6039612" y="590245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8B98AC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6" name="Shape 34"/>
          <p:cNvSpPr/>
          <p:nvPr/>
        </p:nvSpPr>
        <p:spPr>
          <a:xfrm>
            <a:off x="7868412" y="590245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5FE0C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008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40" kern="0" spc="200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CREDITS &amp; THANKS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6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isn't my merit</a:t>
            </a:r>
            <a:endParaRPr lang="en-US" sz="3360" dirty="0"/>
          </a:p>
        </p:txBody>
      </p:sp>
      <p:sp>
        <p:nvSpPr>
          <p:cNvPr id="20" name="Text 18"/>
          <p:cNvSpPr/>
          <p:nvPr/>
        </p:nvSpPr>
        <p:spPr>
          <a:xfrm>
            <a:off x="640080" y="13716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92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this series is built on the work of open-source projects and their communities. I only learned from them and shared what I built.</a:t>
            </a:r>
            <a:endParaRPr lang="en-US" sz="1920" dirty="0"/>
          </a:p>
        </p:txBody>
      </p:sp>
      <p:sp>
        <p:nvSpPr>
          <p:cNvPr id="21" name="Shape 19"/>
          <p:cNvSpPr/>
          <p:nvPr/>
        </p:nvSpPr>
        <p:spPr>
          <a:xfrm>
            <a:off x="822960" y="2423160"/>
            <a:ext cx="5029200" cy="2011680"/>
          </a:xfrm>
          <a:prstGeom prst="roundRect">
            <a:avLst>
              <a:gd name="adj" fmla="val 5455"/>
            </a:avLst>
          </a:prstGeom>
          <a:solidFill>
            <a:srgbClr val="121A2E"/>
          </a:solidFill>
          <a:ln w="19050">
            <a:solidFill>
              <a:srgbClr val="5FE0C5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/>
          <p:nvPr/>
        </p:nvSpPr>
        <p:spPr>
          <a:xfrm>
            <a:off x="1143000" y="26974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40" b="1" dirty="0">
                <a:solidFill>
                  <a:srgbClr val="5FE0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AI</a:t>
            </a:r>
            <a:endParaRPr lang="en-US" sz="2640" dirty="0"/>
          </a:p>
        </p:txBody>
      </p:sp>
      <p:sp>
        <p:nvSpPr>
          <p:cNvPr id="23" name="Text 21"/>
          <p:cNvSpPr/>
          <p:nvPr/>
        </p:nvSpPr>
        <p:spPr>
          <a:xfrm>
            <a:off x="114300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integration layer for Spring</a:t>
            </a:r>
            <a:endParaRPr lang="en-US" sz="1560" dirty="0"/>
          </a:p>
        </p:txBody>
      </p:sp>
      <p:sp>
        <p:nvSpPr>
          <p:cNvPr id="24" name="Text 22"/>
          <p:cNvSpPr/>
          <p:nvPr/>
        </p:nvSpPr>
        <p:spPr>
          <a:xfrm>
            <a:off x="114300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4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spring.io/projects/spring-ai</a:t>
            </a:r>
            <a:endParaRPr lang="en-US" sz="1440" dirty="0"/>
          </a:p>
        </p:txBody>
      </p:sp>
      <p:sp>
        <p:nvSpPr>
          <p:cNvPr id="25" name="Shape 23"/>
          <p:cNvSpPr/>
          <p:nvPr/>
        </p:nvSpPr>
        <p:spPr>
          <a:xfrm>
            <a:off x="6309360" y="2423160"/>
            <a:ext cx="5029200" cy="2011680"/>
          </a:xfrm>
          <a:prstGeom prst="roundRect">
            <a:avLst>
              <a:gd name="adj" fmla="val 5455"/>
            </a:avLst>
          </a:prstGeom>
          <a:solidFill>
            <a:srgbClr val="121A2E"/>
          </a:solidFill>
          <a:ln w="19050">
            <a:solidFill>
              <a:srgbClr val="F2A93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6629400" y="26974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4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</a:t>
            </a:r>
            <a:endParaRPr lang="en-US" sz="2640" dirty="0"/>
          </a:p>
        </p:txBody>
      </p:sp>
      <p:sp>
        <p:nvSpPr>
          <p:cNvPr id="27" name="Text 25"/>
          <p:cNvSpPr/>
          <p:nvPr/>
        </p:nvSpPr>
        <p:spPr>
          <a:xfrm>
            <a:off x="662940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6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open LLMs locally</a:t>
            </a:r>
            <a:endParaRPr lang="en-US" sz="1560" dirty="0"/>
          </a:p>
        </p:txBody>
      </p:sp>
      <p:sp>
        <p:nvSpPr>
          <p:cNvPr id="28" name="Text 26"/>
          <p:cNvSpPr/>
          <p:nvPr/>
        </p:nvSpPr>
        <p:spPr>
          <a:xfrm>
            <a:off x="662940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4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ollama.com</a:t>
            </a:r>
            <a:endParaRPr lang="en-US" sz="1440" dirty="0"/>
          </a:p>
        </p:txBody>
      </p:sp>
      <p:sp>
        <p:nvSpPr>
          <p:cNvPr id="29" name="Shape 27"/>
          <p:cNvSpPr/>
          <p:nvPr/>
        </p:nvSpPr>
        <p:spPr>
          <a:xfrm>
            <a:off x="4251960" y="4892040"/>
            <a:ext cx="3657600" cy="0"/>
          </a:xfrm>
          <a:prstGeom prst="line">
            <a:avLst/>
          </a:prstGeom>
          <a:noFill/>
          <a:ln w="12700">
            <a:solidFill>
              <a:srgbClr val="5B647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Shape 28"/>
          <p:cNvSpPr/>
          <p:nvPr/>
        </p:nvSpPr>
        <p:spPr>
          <a:xfrm>
            <a:off x="4210812" y="48508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F2A93B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1" name="Shape 29"/>
          <p:cNvSpPr/>
          <p:nvPr/>
        </p:nvSpPr>
        <p:spPr>
          <a:xfrm>
            <a:off x="6039612" y="48508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8B98AC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2" name="Shape 30"/>
          <p:cNvSpPr/>
          <p:nvPr/>
        </p:nvSpPr>
        <p:spPr>
          <a:xfrm>
            <a:off x="7868412" y="485089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5FE0C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3" name="Text 31"/>
          <p:cNvSpPr/>
          <p:nvPr/>
        </p:nvSpPr>
        <p:spPr>
          <a:xfrm>
            <a:off x="0" y="512064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dirty="0">
                <a:solidFill>
                  <a:srgbClr val="E5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with gratitude — all credit to their maintainers &amp; contributors.</a:t>
            </a:r>
            <a:endParaRPr lang="en-US" sz="1680" dirty="0"/>
          </a:p>
        </p:txBody>
      </p:sp>
      <p:sp>
        <p:nvSpPr>
          <p:cNvPr id="34" name="Text 32"/>
          <p:cNvSpPr/>
          <p:nvPr/>
        </p:nvSpPr>
        <p:spPr>
          <a:xfrm>
            <a:off x="0" y="562356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4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github.com/balajich/spring-ai-with-llama</a:t>
            </a:r>
            <a:endParaRPr lang="en-US" sz="14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731520" cy="45720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Shape 1"/>
          <p:cNvSpPr/>
          <p:nvPr/>
        </p:nvSpPr>
        <p:spPr>
          <a:xfrm>
            <a:off x="822960" y="82296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" name="Shape 2"/>
          <p:cNvSpPr/>
          <p:nvPr/>
        </p:nvSpPr>
        <p:spPr>
          <a:xfrm flipV="1">
            <a:off x="822960" y="1280160"/>
            <a:ext cx="914400" cy="2743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429768" y="3383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Shape 4"/>
          <p:cNvSpPr/>
          <p:nvPr/>
        </p:nvSpPr>
        <p:spPr>
          <a:xfrm>
            <a:off x="1161288" y="7955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Shape 5"/>
          <p:cNvSpPr/>
          <p:nvPr/>
        </p:nvSpPr>
        <p:spPr>
          <a:xfrm>
            <a:off x="795528" y="15270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Shape 6"/>
          <p:cNvSpPr/>
          <p:nvPr/>
        </p:nvSpPr>
        <p:spPr>
          <a:xfrm>
            <a:off x="1709928" y="125272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9" name="Shape 7"/>
          <p:cNvSpPr/>
          <p:nvPr/>
        </p:nvSpPr>
        <p:spPr>
          <a:xfrm flipV="1">
            <a:off x="10789920" y="5486400"/>
            <a:ext cx="731520" cy="54864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Shape 8"/>
          <p:cNvSpPr/>
          <p:nvPr/>
        </p:nvSpPr>
        <p:spPr>
          <a:xfrm flipV="1">
            <a:off x="11155680" y="4754880"/>
            <a:ext cx="365760" cy="73152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Shape 9"/>
          <p:cNvSpPr/>
          <p:nvPr/>
        </p:nvSpPr>
        <p:spPr>
          <a:xfrm>
            <a:off x="11155680" y="4754880"/>
            <a:ext cx="731520" cy="365760"/>
          </a:xfrm>
          <a:prstGeom prst="line">
            <a:avLst/>
          </a:prstGeom>
          <a:noFill/>
          <a:ln w="9525">
            <a:solidFill>
              <a:srgbClr val="5B647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Shape 10"/>
          <p:cNvSpPr/>
          <p:nvPr/>
        </p:nvSpPr>
        <p:spPr>
          <a:xfrm>
            <a:off x="10762488" y="60076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3" name="Shape 11"/>
          <p:cNvSpPr/>
          <p:nvPr/>
        </p:nvSpPr>
        <p:spPr>
          <a:xfrm>
            <a:off x="11494008" y="545896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Shape 12"/>
          <p:cNvSpPr/>
          <p:nvPr/>
        </p:nvSpPr>
        <p:spPr>
          <a:xfrm>
            <a:off x="11128248" y="472744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5" name="Shape 13"/>
          <p:cNvSpPr/>
          <p:nvPr/>
        </p:nvSpPr>
        <p:spPr>
          <a:xfrm>
            <a:off x="11859768" y="5093208"/>
            <a:ext cx="54864" cy="54864"/>
          </a:xfrm>
          <a:prstGeom prst="ellipse">
            <a:avLst/>
          </a:prstGeom>
          <a:solidFill>
            <a:srgbClr val="8B98AC">
              <a:alpha val="6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4572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24712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8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11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5577840" y="94549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96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3696" dirty="0"/>
          </a:p>
        </p:txBody>
      </p:sp>
      <p:sp>
        <p:nvSpPr>
          <p:cNvPr id="19" name="Shape 17"/>
          <p:cNvSpPr/>
          <p:nvPr/>
        </p:nvSpPr>
        <p:spPr>
          <a:xfrm>
            <a:off x="6000293" y="1186891"/>
            <a:ext cx="341986" cy="120701"/>
          </a:xfrm>
          <a:prstGeom prst="roundRect">
            <a:avLst>
              <a:gd name="adj" fmla="val 50000"/>
            </a:avLst>
          </a:prstGeom>
          <a:solidFill>
            <a:srgbClr val="5FE0C5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0" y="1783080"/>
            <a:ext cx="1216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320" b="1" dirty="0">
                <a:solidFill>
                  <a:srgbClr val="E5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Let's build Chapter 1.</a:t>
            </a:r>
            <a:endParaRPr lang="en-US" sz="4320" dirty="0"/>
          </a:p>
        </p:txBody>
      </p:sp>
      <p:sp>
        <p:nvSpPr>
          <p:cNvPr id="21" name="Shape 19"/>
          <p:cNvSpPr/>
          <p:nvPr/>
        </p:nvSpPr>
        <p:spPr>
          <a:xfrm>
            <a:off x="4709160" y="2743200"/>
            <a:ext cx="2743200" cy="0"/>
          </a:xfrm>
          <a:prstGeom prst="line">
            <a:avLst/>
          </a:prstGeom>
          <a:noFill/>
          <a:ln w="12700">
            <a:solidFill>
              <a:srgbClr val="5B647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Shape 20"/>
          <p:cNvSpPr/>
          <p:nvPr/>
        </p:nvSpPr>
        <p:spPr>
          <a:xfrm>
            <a:off x="4668012" y="270205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F2A93B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3" name="Shape 21"/>
          <p:cNvSpPr/>
          <p:nvPr/>
        </p:nvSpPr>
        <p:spPr>
          <a:xfrm>
            <a:off x="6039612" y="270205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8B98AC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Shape 22"/>
          <p:cNvSpPr/>
          <p:nvPr/>
        </p:nvSpPr>
        <p:spPr>
          <a:xfrm>
            <a:off x="7411212" y="2702052"/>
            <a:ext cx="82296" cy="82296"/>
          </a:xfrm>
          <a:prstGeom prst="ellipse">
            <a:avLst/>
          </a:prstGeom>
          <a:solidFill>
            <a:srgbClr val="0A0F1C"/>
          </a:solidFill>
          <a:ln w="19050">
            <a:solidFill>
              <a:srgbClr val="5FE0C5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5" name="Text 23"/>
          <p:cNvSpPr/>
          <p:nvPr/>
        </p:nvSpPr>
        <p:spPr>
          <a:xfrm>
            <a:off x="0" y="301752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4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</a:t>
            </a:r>
            <a:r>
              <a:rPr lang="en-US" sz="20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for every chapter  ·  </a:t>
            </a:r>
            <a:r>
              <a:rPr lang="en-US" sz="2040" b="1" dirty="0">
                <a:solidFill>
                  <a:srgbClr val="5FE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the repo</a:t>
            </a:r>
            <a:r>
              <a:rPr lang="en-US" sz="2040" dirty="0">
                <a:solidFill>
                  <a:srgbClr val="B8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GitHub</a:t>
            </a:r>
            <a:endParaRPr lang="en-US" sz="2040" dirty="0"/>
          </a:p>
        </p:txBody>
      </p:sp>
      <p:sp>
        <p:nvSpPr>
          <p:cNvPr id="26" name="Text 24"/>
          <p:cNvSpPr/>
          <p:nvPr/>
        </p:nvSpPr>
        <p:spPr>
          <a:xfrm>
            <a:off x="0" y="365760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98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github.com/balajich/spring-ai-with-llama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0" y="411480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dirty="0">
                <a:solidFill>
                  <a:srgbClr val="5B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prompttoapps.com</a:t>
            </a:r>
            <a:endParaRPr lang="en-US" sz="15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676</Words>
  <Application>Microsoft Office PowerPoint</Application>
  <PresentationFormat>Widescreen</PresentationFormat>
  <Paragraphs>165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AI with Llama — Series Introduction</dc:title>
  <dc:subject>PptxGenJS Presentation</dc:subject>
  <dc:creator>PromptToApps</dc:creator>
  <cp:lastModifiedBy>Thaman C (2665634)</cp:lastModifiedBy>
  <cp:revision>2</cp:revision>
  <dcterms:created xsi:type="dcterms:W3CDTF">2026-07-13T22:31:17Z</dcterms:created>
  <dcterms:modified xsi:type="dcterms:W3CDTF">2026-07-13T22:32:44Z</dcterms:modified>
</cp:coreProperties>
</file>