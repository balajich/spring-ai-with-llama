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9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Concepts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ChatOptions</a:t>
            </a:r>
            <a:endParaRPr lang="en-US" sz="228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question, different answers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week live, Sarah has two complaints:</a:t>
            </a:r>
            <a:endParaRPr lang="en-US" sz="2160" dirty="0"/>
          </a:p>
        </p:txBody>
      </p:sp>
      <p:sp>
        <p:nvSpPr>
          <p:cNvPr id="21" name="Shape 19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is all over the place</a:t>
            </a:r>
            <a:endParaRPr lang="en-US" sz="1740" dirty="0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answer was two sentences, the next was six paragraphs. Can we control that?"</a:t>
            </a:r>
            <a:endParaRPr lang="en-US" sz="1680" dirty="0"/>
          </a:p>
        </p:txBody>
      </p:sp>
      <p:sp>
        <p:nvSpPr>
          <p:cNvPr id="24" name="Shape 22"/>
          <p:cNvSpPr/>
          <p:nvPr/>
        </p:nvSpPr>
        <p:spPr>
          <a:xfrm>
            <a:off x="640080" y="37490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keep changing</a:t>
            </a:r>
            <a:endParaRPr lang="en-US" sz="1740" dirty="0"/>
          </a:p>
        </p:txBody>
      </p:sp>
      <p:sp>
        <p:nvSpPr>
          <p:cNvPr id="26" name="Text 24"/>
          <p:cNvSpPr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asked the leave policy twice and got different answers. Is that a bug?"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bugs — features of how language models work.</a:t>
            </a: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token is a chunk of text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word, not a character — something in between. Rule of thumb: </a:t>
            </a:r>
            <a:pPr indent="0" marL="0">
              <a:buNone/>
            </a:pPr>
            <a:r>
              <a:rPr lang="en-US" sz="19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token ≈ 0.75 words</a:t>
            </a:r>
            <a:pPr indent="0" marL="0">
              <a:buNone/>
            </a:pPr>
            <a:r>
              <a:rPr lang="en-US" sz="19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640080" y="20574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0574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9006840" y="2057400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72238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0574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tokens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40080" y="262432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6243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how are you?"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9006840" y="262432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72238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26243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tokens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640080" y="319125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1912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"maternity leave"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9006840" y="3191256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72238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31912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tokens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640080" y="375818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581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many vacation days do new employees get?"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9006840" y="3758184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72238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37581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tokens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40080" y="432511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3251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typical HR policy paragraph (~75 words)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9006840" y="4325112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172238"/>
          </a:solidFill>
          <a:ln w="9525">
            <a:solidFill>
              <a:srgbClr val="5FE0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43251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 tokens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= response length · Context window = input + output the model can hold.</a:t>
            </a:r>
            <a:endParaRPr lang="en-US" sz="1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controls randomness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1783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4080" dirty="0"/>
          </a:p>
        </p:txBody>
      </p:sp>
      <p:sp>
        <p:nvSpPr>
          <p:cNvPr id="22" name="Text 20"/>
          <p:cNvSpPr/>
          <p:nvPr/>
        </p:nvSpPr>
        <p:spPr>
          <a:xfrm>
            <a:off x="64008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spc="300" kern="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most likely token. Deterministic — same answer every time.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4343400" y="155448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43400" y="1783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4080" dirty="0"/>
          </a:p>
        </p:txBody>
      </p:sp>
      <p:sp>
        <p:nvSpPr>
          <p:cNvPr id="26" name="Text 24"/>
          <p:cNvSpPr/>
          <p:nvPr/>
        </p:nvSpPr>
        <p:spPr>
          <a:xfrm>
            <a:off x="43434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spc="300" kern="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461772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from the distribution. Different each run — good for ideas.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8046720" y="155448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0" y="1783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4080" dirty="0"/>
          </a:p>
        </p:txBody>
      </p:sp>
      <p:sp>
        <p:nvSpPr>
          <p:cNvPr id="30" name="Text 28"/>
          <p:cNvSpPr/>
          <p:nvPr/>
        </p:nvSpPr>
        <p:spPr>
          <a:xfrm>
            <a:off x="804672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spc="300" kern="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832104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tokens near-equal probability. Output becomes incoherent.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for HR tasks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640080" y="4572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7772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– 0.1</a:t>
            </a:r>
            <a:endParaRPr lang="en-US" sz="1740" dirty="0"/>
          </a:p>
        </p:txBody>
      </p:sp>
      <p:sp>
        <p:nvSpPr>
          <p:cNvPr id="36" name="Shape 34"/>
          <p:cNvSpPr/>
          <p:nvPr/>
        </p:nvSpPr>
        <p:spPr>
          <a:xfrm>
            <a:off x="3383280" y="4572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Q&amp;A</a:t>
            </a:r>
            <a:endParaRPr lang="en-US" sz="1440" dirty="0"/>
          </a:p>
        </p:txBody>
      </p:sp>
      <p:sp>
        <p:nvSpPr>
          <p:cNvPr id="38" name="Text 36"/>
          <p:cNvSpPr/>
          <p:nvPr/>
        </p:nvSpPr>
        <p:spPr>
          <a:xfrm>
            <a:off x="35204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740" dirty="0"/>
          </a:p>
        </p:txBody>
      </p:sp>
      <p:sp>
        <p:nvSpPr>
          <p:cNvPr id="39" name="Shape 37"/>
          <p:cNvSpPr/>
          <p:nvPr/>
        </p:nvSpPr>
        <p:spPr>
          <a:xfrm>
            <a:off x="6126480" y="4572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</a:t>
            </a:r>
            <a:endParaRPr lang="en-US" sz="1440" dirty="0"/>
          </a:p>
        </p:txBody>
      </p:sp>
      <p:sp>
        <p:nvSpPr>
          <p:cNvPr id="41" name="Text 39"/>
          <p:cNvSpPr/>
          <p:nvPr/>
        </p:nvSpPr>
        <p:spPr>
          <a:xfrm>
            <a:off x="62636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740" dirty="0"/>
          </a:p>
        </p:txBody>
      </p:sp>
      <p:sp>
        <p:nvSpPr>
          <p:cNvPr id="42" name="Shape 40"/>
          <p:cNvSpPr/>
          <p:nvPr/>
        </p:nvSpPr>
        <p:spPr>
          <a:xfrm>
            <a:off x="8869680" y="45720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0684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40" dirty="0"/>
          </a:p>
        </p:txBody>
      </p:sp>
      <p:sp>
        <p:nvSpPr>
          <p:cNvPr id="44" name="Text 42"/>
          <p:cNvSpPr/>
          <p:nvPr/>
        </p:nvSpPr>
        <p:spPr>
          <a:xfrm>
            <a:off x="90068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 – 0.9</a:t>
            </a:r>
            <a:endParaRPr lang="en-US" sz="1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3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Prompt is a list of Messages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endParaRPr lang="en-US" sz="1920" dirty="0"/>
          </a:p>
        </p:txBody>
      </p:sp>
      <p:sp>
        <p:nvSpPr>
          <p:cNvPr id="22" name="Shape 20"/>
          <p:cNvSpPr/>
          <p:nvPr/>
        </p:nvSpPr>
        <p:spPr>
          <a:xfrm>
            <a:off x="4434840" y="1783080"/>
            <a:ext cx="0" cy="68580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83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6858000" y="1783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persona, constraints</a:t>
            </a:r>
            <a:endParaRPr lang="en-US" sz="156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3063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UserMessage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4434840" y="3063240"/>
            <a:ext cx="0" cy="68580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6858000" y="3063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question</a:t>
            </a:r>
            <a:endParaRPr lang="en-US" sz="1560" dirty="0"/>
          </a:p>
        </p:txBody>
      </p:sp>
      <p:sp>
        <p:nvSpPr>
          <p:cNvPr id="30" name="Shape 28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343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AssistantMessage</a:t>
            </a:r>
            <a:endParaRPr lang="en-US" sz="1920" dirty="0"/>
          </a:p>
        </p:txBody>
      </p:sp>
      <p:sp>
        <p:nvSpPr>
          <p:cNvPr id="32" name="Shape 30"/>
          <p:cNvSpPr/>
          <p:nvPr/>
        </p:nvSpPr>
        <p:spPr>
          <a:xfrm>
            <a:off x="4434840" y="4343400"/>
            <a:ext cx="0" cy="68580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343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685800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AI reply — used in multi-turn (Ch. 6)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assembles these into a Prompt on every call — you rarely build them by hand.</a:t>
            </a:r>
            <a:endParaRPr lang="en-US" sz="1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ABSTRACTION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sits on top of ChatModel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15875">
            <a:solidFill>
              <a:srgbClr val="5B647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Code   </a:t>
            </a:r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endpoints you write</a:t>
            </a:r>
            <a:endParaRPr lang="en-US" sz="1740" dirty="0"/>
          </a:p>
        </p:txBody>
      </p:sp>
      <p:sp>
        <p:nvSpPr>
          <p:cNvPr id="22" name="Shape 20"/>
          <p:cNvSpPr/>
          <p:nvPr/>
        </p:nvSpPr>
        <p:spPr>
          <a:xfrm>
            <a:off x="1143000" y="2450592"/>
            <a:ext cx="9875520" cy="731520"/>
          </a:xfrm>
          <a:prstGeom prst="roundRect">
            <a:avLst>
              <a:gd name="adj" fmla="val 12500"/>
            </a:avLst>
          </a:prstGeom>
          <a:solidFill>
            <a:srgbClr val="172238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245059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  </a:t>
            </a:r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— fluent API, advisors, defaults</a:t>
            </a:r>
            <a:endParaRPr lang="en-US" sz="1740" dirty="0"/>
          </a:p>
        </p:txBody>
      </p:sp>
      <p:sp>
        <p:nvSpPr>
          <p:cNvPr id="24" name="Shape 22"/>
          <p:cNvSpPr/>
          <p:nvPr/>
        </p:nvSpPr>
        <p:spPr>
          <a:xfrm>
            <a:off x="1645920" y="3346704"/>
            <a:ext cx="8869680" cy="731520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45920" y="3346704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ChatModel   </a:t>
            </a:r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— send Prompt, get ChatResponse</a:t>
            </a:r>
            <a:endParaRPr lang="en-US" sz="1740" dirty="0"/>
          </a:p>
        </p:txBody>
      </p:sp>
      <p:sp>
        <p:nvSpPr>
          <p:cNvPr id="26" name="Shape 24"/>
          <p:cNvSpPr/>
          <p:nvPr/>
        </p:nvSpPr>
        <p:spPr>
          <a:xfrm>
            <a:off x="2148840" y="4242816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172238"/>
          </a:solidFill>
          <a:ln w="15875">
            <a:solidFill>
              <a:srgbClr val="8B98A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48840" y="424281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OllamaChatModel   </a:t>
            </a:r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Ollama-specific implementation</a:t>
            </a:r>
            <a:endParaRPr lang="en-US" sz="1740" dirty="0"/>
          </a:p>
        </p:txBody>
      </p:sp>
      <p:sp>
        <p:nvSpPr>
          <p:cNvPr id="28" name="Shape 26"/>
          <p:cNvSpPr/>
          <p:nvPr/>
        </p:nvSpPr>
        <p:spPr>
          <a:xfrm>
            <a:off x="2651760" y="5138928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121A2E"/>
          </a:solidFill>
          <a:ln w="15875">
            <a:solidFill>
              <a:srgbClr val="5B647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51760" y="513892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B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HTTP API → Llama 3.2   </a:t>
            </a:r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</a:t>
            </a:r>
            <a:endParaRPr lang="en-US" sz="174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OpenAI later? Only the bottom layer changes — your code stays identical.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modes, one controller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234440"/>
            <a:ext cx="10881360" cy="5029200"/>
          </a:xfrm>
          <a:prstGeom prst="roundRect">
            <a:avLst>
              <a:gd name="adj" fmla="val 145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399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39903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39903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HrChatController.java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691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PRECISE — deterministic, capped short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1965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chatClient.prompt()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ChatOptions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.temperature(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).maxTokens(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2788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.user(question).call().content();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063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3375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CREATIVE — warm, generous budget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ChatOptions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.temperature(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).maxTokens(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4434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RAW — bypass ChatClient, use ChatModel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4709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chatModel.call(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(List.of(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983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(SYSTEM_PROMPT),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UserMessage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(question))));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tokens, context windows, and why length varies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response length with maxTokens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temperature per use case — precise vs. creative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 the ChatModel + Message API when you need it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Comparing Models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mistral, codellama, and phi3 side by side — swap models with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config, or per request, and compare their answers.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9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— Core Concepts</dc:title>
  <dc:subject>PptxGenJS Presentation</dc:subject>
  <dc:creator>PromptToApps</dc:creator>
  <cp:lastModifiedBy>PromptToApps</cp:lastModifiedBy>
  <cp:revision>1</cp:revision>
  <dcterms:created xsi:type="dcterms:W3CDTF">2026-07-07T23:09:53Z</dcterms:created>
  <dcterms:modified xsi:type="dcterms:W3CDTF">2026-07-07T23:09:53Z</dcterms:modified>
</cp:coreProperties>
</file>