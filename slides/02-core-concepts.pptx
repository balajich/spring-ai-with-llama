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11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166360" y="91440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914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 </a:t>
            </a:r>
            <a:pPr algn="ctr"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0" y="182880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Concepts</a:t>
            </a:r>
            <a:endParaRPr lang="en-US" sz="5520" dirty="0"/>
          </a:p>
        </p:txBody>
      </p:sp>
      <p:sp>
        <p:nvSpPr>
          <p:cNvPr id="21" name="Text 19"/>
          <p:cNvSpPr/>
          <p:nvPr/>
        </p:nvSpPr>
        <p:spPr>
          <a:xfrm>
            <a:off x="0" y="27432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Window</a:t>
            </a:r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</a:t>
            </a:r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20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</a:t>
            </a:r>
            <a:endParaRPr lang="en-US" sz="2040" dirty="0"/>
          </a:p>
        </p:txBody>
      </p:sp>
      <p:sp>
        <p:nvSpPr>
          <p:cNvPr id="22" name="Shape 20"/>
          <p:cNvSpPr/>
          <p:nvPr/>
        </p:nvSpPr>
        <p:spPr>
          <a:xfrm>
            <a:off x="4251960" y="35204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108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96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8412" y="34792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3703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with Llama  ·  PromptToApps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question, different answers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week live, Sarah has two complaints:</a:t>
            </a:r>
            <a:endParaRPr lang="en-US" sz="2160" dirty="0"/>
          </a:p>
        </p:txBody>
      </p:sp>
      <p:sp>
        <p:nvSpPr>
          <p:cNvPr id="21" name="Shape 19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is all over the place</a:t>
            </a:r>
            <a:endParaRPr lang="en-US" sz="1740" dirty="0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answer was two sentences, the next was six paragraphs. Can we control that?"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40080" y="37490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Answers keep changing</a:t>
            </a:r>
            <a:endParaRPr lang="en-US" sz="1740" dirty="0"/>
          </a:p>
        </p:txBody>
      </p:sp>
      <p:sp>
        <p:nvSpPr>
          <p:cNvPr id="26" name="Text 2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asked the leave policy twice and got different answers. Is that a bug?"</a:t>
            </a:r>
            <a:endParaRPr lang="en-US" sz="1680" dirty="0"/>
          </a:p>
        </p:txBody>
      </p:sp>
      <p:sp>
        <p:nvSpPr>
          <p:cNvPr id="27" name="Text 25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 — features of how language models work.</a:t>
            </a:r>
            <a:endParaRPr lang="en-US" sz="1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1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token is a chunk of text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word, not a character — something in between. Rule of thumb: </a:t>
            </a:r>
            <a:pPr indent="0" marL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token ≈ 0.75 words</a:t>
            </a:r>
            <a:pPr indent="0" marL="0">
              <a:buNone/>
            </a:pPr>
            <a:r>
              <a:rPr lang="en-US" sz="192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640080" y="205740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121A2E"/>
          </a:solidFill>
          <a:ln w="6350">
            <a:solidFill>
              <a:srgbClr val="5B6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0574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"Hello"</a:t>
            </a:r>
            <a:endParaRPr lang="en-US" sz="1440" dirty="0"/>
          </a:p>
        </p:txBody>
      </p:sp>
      <p:sp>
        <p:nvSpPr>
          <p:cNvPr id="23" name="Shape 21"/>
          <p:cNvSpPr/>
          <p:nvPr/>
        </p:nvSpPr>
        <p:spPr>
          <a:xfrm>
            <a:off x="9006840" y="2057400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172238"/>
          </a:solidFill>
          <a:ln w="9525">
            <a:solidFill>
              <a:srgbClr val="5FE0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205740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tokens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40080" y="262432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121A2E"/>
          </a:solidFill>
          <a:ln w="6350">
            <a:solidFill>
              <a:srgbClr val="5B647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26243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"Hello, how are you?"</a:t>
            </a:r>
            <a:endParaRPr lang="en-US" sz="1440" dirty="0"/>
          </a:p>
        </p:txBody>
      </p:sp>
      <p:sp>
        <p:nvSpPr>
          <p:cNvPr id="27" name="Shape 25"/>
          <p:cNvSpPr/>
          <p:nvPr/>
        </p:nvSpPr>
        <p:spPr>
          <a:xfrm>
            <a:off x="9006840" y="2624328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172238"/>
          </a:solidFill>
          <a:ln w="9525">
            <a:solidFill>
              <a:srgbClr val="5FE0C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06840" y="26243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tokens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640080" y="319125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121A2E"/>
          </a:solidFill>
          <a:ln w="6350">
            <a:solidFill>
              <a:srgbClr val="5B64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319125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"maternity leave"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9006840" y="3191256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172238"/>
          </a:solidFill>
          <a:ln w="9525">
            <a:solidFill>
              <a:srgbClr val="5FE0C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06840" y="319125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tokens</a:t>
            </a:r>
            <a:endParaRPr lang="en-US" sz="1440" dirty="0"/>
          </a:p>
        </p:txBody>
      </p:sp>
      <p:sp>
        <p:nvSpPr>
          <p:cNvPr id="33" name="Shape 31"/>
          <p:cNvSpPr/>
          <p:nvPr/>
        </p:nvSpPr>
        <p:spPr>
          <a:xfrm>
            <a:off x="640080" y="3758184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121A2E"/>
          </a:solidFill>
          <a:ln w="6350">
            <a:solidFill>
              <a:srgbClr val="5B6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375818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"How many vacation days do new employees get?"</a:t>
            </a:r>
            <a:endParaRPr lang="en-US" sz="1440" dirty="0"/>
          </a:p>
        </p:txBody>
      </p:sp>
      <p:sp>
        <p:nvSpPr>
          <p:cNvPr id="35" name="Shape 33"/>
          <p:cNvSpPr/>
          <p:nvPr/>
        </p:nvSpPr>
        <p:spPr>
          <a:xfrm>
            <a:off x="9006840" y="3758184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172238"/>
          </a:solidFill>
          <a:ln w="9525">
            <a:solidFill>
              <a:srgbClr val="5FE0C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06840" y="3758184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tokens</a:t>
            </a:r>
            <a:endParaRPr lang="en-US" sz="1440" dirty="0"/>
          </a:p>
        </p:txBody>
      </p:sp>
      <p:sp>
        <p:nvSpPr>
          <p:cNvPr id="37" name="Shape 35"/>
          <p:cNvSpPr/>
          <p:nvPr/>
        </p:nvSpPr>
        <p:spPr>
          <a:xfrm>
            <a:off x="640080" y="4325112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121A2E"/>
          </a:solidFill>
          <a:ln w="6350">
            <a:solidFill>
              <a:srgbClr val="5B647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432511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typical HR policy paragraph (~75 words)</a:t>
            </a:r>
            <a:endParaRPr lang="en-US" sz="1440" dirty="0"/>
          </a:p>
        </p:txBody>
      </p:sp>
      <p:sp>
        <p:nvSpPr>
          <p:cNvPr id="39" name="Shape 37"/>
          <p:cNvSpPr/>
          <p:nvPr/>
        </p:nvSpPr>
        <p:spPr>
          <a:xfrm>
            <a:off x="9006840" y="4325112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172238"/>
          </a:solidFill>
          <a:ln w="9525">
            <a:solidFill>
              <a:srgbClr val="5FE0C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06840" y="4325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~100 tokens</a:t>
            </a:r>
            <a:endParaRPr lang="en-US" sz="1440" dirty="0"/>
          </a:p>
        </p:txBody>
      </p:sp>
      <p:sp>
        <p:nvSpPr>
          <p:cNvPr id="41" name="Text 3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tokens = response length · Context window = input + output the model can hold.</a:t>
            </a:r>
            <a:endParaRPr lang="en-US" sz="1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2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context window is the memory budget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limited by a fixed token budget — input and output share it.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14884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121A2E"/>
          </a:solidFill>
          <a:ln w="12700">
            <a:solidFill>
              <a:srgbClr val="5B647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2240280"/>
            <a:ext cx="1613002" cy="640080"/>
          </a:xfrm>
          <a:prstGeom prst="roundRect">
            <a:avLst>
              <a:gd name="adj" fmla="val 8571"/>
            </a:avLst>
          </a:prstGeom>
          <a:solidFill>
            <a:srgbClr val="F2A93B">
              <a:alpha val="80000"/>
            </a:srgbClr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2240280"/>
            <a:ext cx="16130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536546" y="2240280"/>
            <a:ext cx="1404518" cy="640080"/>
          </a:xfrm>
          <a:prstGeom prst="roundRect">
            <a:avLst>
              <a:gd name="adj" fmla="val 8571"/>
            </a:avLst>
          </a:prstGeom>
          <a:solidFill>
            <a:srgbClr val="5FE0C5">
              <a:alpha val="80000"/>
            </a:srgbClr>
          </a:solidFill>
          <a:ln w="12700">
            <a:solidFill>
              <a:srgbClr val="5FE0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6546" y="2240280"/>
            <a:ext cx="14045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995928" y="2240280"/>
            <a:ext cx="4636008" cy="640080"/>
          </a:xfrm>
          <a:prstGeom prst="roundRect">
            <a:avLst>
              <a:gd name="adj" fmla="val 8571"/>
            </a:avLst>
          </a:prstGeom>
          <a:solidFill>
            <a:srgbClr val="8B98AC">
              <a:alpha val="80000"/>
            </a:srgbClr>
          </a:solidFill>
          <a:ln w="12700">
            <a:solidFill>
              <a:srgbClr val="8B98A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95928" y="224028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reply (output tokens)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686800" y="2240280"/>
            <a:ext cx="2551176" cy="640080"/>
          </a:xfrm>
          <a:prstGeom prst="roundRect">
            <a:avLst>
              <a:gd name="adj" fmla="val 8571"/>
            </a:avLst>
          </a:prstGeom>
          <a:solidFill>
            <a:srgbClr val="5B6478">
              <a:alpha val="30000"/>
            </a:srgbClr>
          </a:solidFill>
          <a:ln w="12700">
            <a:solidFill>
              <a:srgbClr val="5B64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0" y="2240280"/>
            <a:ext cx="2551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960" y="30815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~128,000 tokens for Llama 3.2  —  input + output must fit together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822960" y="397764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51560" y="4160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budget</a:t>
            </a:r>
            <a:endParaRPr lang="en-US" sz="1680" dirty="0"/>
          </a:p>
        </p:txBody>
      </p:sp>
      <p:sp>
        <p:nvSpPr>
          <p:cNvPr id="33" name="Text 31"/>
          <p:cNvSpPr/>
          <p:nvPr/>
        </p:nvSpPr>
        <p:spPr>
          <a:xfrm>
            <a:off x="1051560" y="4581144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tokens + reply tokens both count. A huge prompt leaves less room to answer.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4572000" y="397764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800600" y="4160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Overflow is dropped</a:t>
            </a:r>
            <a:endParaRPr lang="en-US" sz="1680" dirty="0"/>
          </a:p>
        </p:txBody>
      </p:sp>
      <p:sp>
        <p:nvSpPr>
          <p:cNvPr id="36" name="Text 34"/>
          <p:cNvSpPr/>
          <p:nvPr/>
        </p:nvSpPr>
        <p:spPr>
          <a:xfrm>
            <a:off x="4800600" y="4581144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 the window and the oldest tokens fall off — the model simply can't see them.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8321040" y="3977640"/>
            <a:ext cx="3429000" cy="1691640"/>
          </a:xfrm>
          <a:prstGeom prst="roundRect">
            <a:avLst>
              <a:gd name="adj" fmla="val 648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549640" y="4160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memory matters</a:t>
            </a:r>
            <a:endParaRPr lang="en-US" sz="1680" dirty="0"/>
          </a:p>
        </p:txBody>
      </p:sp>
      <p:sp>
        <p:nvSpPr>
          <p:cNvPr id="39" name="Text 37"/>
          <p:cNvSpPr/>
          <p:nvPr/>
        </p:nvSpPr>
        <p:spPr>
          <a:xfrm>
            <a:off x="8549640" y="4581144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history eats the budget too — Chapter 6 manages this with a memory window.</a:t>
            </a:r>
            <a:endParaRPr lang="en-US" sz="13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3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controls randomness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4080" dirty="0"/>
          </a:p>
        </p:txBody>
      </p:sp>
      <p:sp>
        <p:nvSpPr>
          <p:cNvPr id="22" name="Text 20"/>
          <p:cNvSpPr/>
          <p:nvPr/>
        </p:nvSpPr>
        <p:spPr>
          <a:xfrm>
            <a:off x="640080" y="26060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spc="300" kern="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</a:t>
            </a:r>
            <a:endParaRPr lang="en-US" sz="1680" dirty="0"/>
          </a:p>
        </p:txBody>
      </p:sp>
      <p:sp>
        <p:nvSpPr>
          <p:cNvPr id="23" name="Text 21"/>
          <p:cNvSpPr/>
          <p:nvPr/>
        </p:nvSpPr>
        <p:spPr>
          <a:xfrm>
            <a:off x="914400" y="29718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the most likely token. Deterministic — same answer every time.</a:t>
            </a:r>
            <a:endParaRPr lang="en-US" sz="1380" dirty="0"/>
          </a:p>
        </p:txBody>
      </p:sp>
      <p:sp>
        <p:nvSpPr>
          <p:cNvPr id="24" name="Shape 22"/>
          <p:cNvSpPr/>
          <p:nvPr/>
        </p:nvSpPr>
        <p:spPr>
          <a:xfrm>
            <a:off x="4343400" y="15544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34340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</a:t>
            </a:r>
            <a:endParaRPr lang="en-US" sz="4080" dirty="0"/>
          </a:p>
        </p:txBody>
      </p:sp>
      <p:sp>
        <p:nvSpPr>
          <p:cNvPr id="26" name="Text 24"/>
          <p:cNvSpPr/>
          <p:nvPr/>
        </p:nvSpPr>
        <p:spPr>
          <a:xfrm>
            <a:off x="4343400" y="26060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spc="300" kern="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WARM</a:t>
            </a:r>
            <a:endParaRPr lang="en-US" sz="1680" dirty="0"/>
          </a:p>
        </p:txBody>
      </p:sp>
      <p:sp>
        <p:nvSpPr>
          <p:cNvPr id="27" name="Text 25"/>
          <p:cNvSpPr/>
          <p:nvPr/>
        </p:nvSpPr>
        <p:spPr>
          <a:xfrm>
            <a:off x="4617720" y="29718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from the distribution. Different each run — good for ideas.</a:t>
            </a:r>
            <a:endParaRPr lang="en-US" sz="1380" dirty="0"/>
          </a:p>
        </p:txBody>
      </p:sp>
      <p:sp>
        <p:nvSpPr>
          <p:cNvPr id="28" name="Shape 26"/>
          <p:cNvSpPr/>
          <p:nvPr/>
        </p:nvSpPr>
        <p:spPr>
          <a:xfrm>
            <a:off x="8046720" y="15544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04672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</a:t>
            </a:r>
            <a:endParaRPr lang="en-US" sz="4080" dirty="0"/>
          </a:p>
        </p:txBody>
      </p:sp>
      <p:sp>
        <p:nvSpPr>
          <p:cNvPr id="30" name="Text 28"/>
          <p:cNvSpPr/>
          <p:nvPr/>
        </p:nvSpPr>
        <p:spPr>
          <a:xfrm>
            <a:off x="8046720" y="26060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spc="300" kern="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8321040" y="29718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tokens near-equal probability. Output becomes incoherent.</a:t>
            </a:r>
            <a:endParaRPr lang="en-US" sz="1380" dirty="0"/>
          </a:p>
        </p:txBody>
      </p:sp>
      <p:sp>
        <p:nvSpPr>
          <p:cNvPr id="32" name="Text 30"/>
          <p:cNvSpPr/>
          <p:nvPr/>
        </p:nvSpPr>
        <p:spPr>
          <a:xfrm>
            <a:off x="640080" y="4160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Recommended for HR tasks</a:t>
            </a:r>
            <a:endParaRPr lang="en-US" sz="1440" dirty="0"/>
          </a:p>
        </p:txBody>
      </p:sp>
      <p:sp>
        <p:nvSpPr>
          <p:cNvPr id="33" name="Shape 31"/>
          <p:cNvSpPr/>
          <p:nvPr/>
        </p:nvSpPr>
        <p:spPr>
          <a:xfrm>
            <a:off x="640080" y="45720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lookup</a:t>
            </a:r>
            <a:endParaRPr lang="en-US" sz="1440" dirty="0"/>
          </a:p>
        </p:txBody>
      </p:sp>
      <p:sp>
        <p:nvSpPr>
          <p:cNvPr id="35" name="Text 33"/>
          <p:cNvSpPr/>
          <p:nvPr/>
        </p:nvSpPr>
        <p:spPr>
          <a:xfrm>
            <a:off x="7772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 – 0.1</a:t>
            </a:r>
            <a:endParaRPr lang="en-US" sz="1740" dirty="0"/>
          </a:p>
        </p:txBody>
      </p:sp>
      <p:sp>
        <p:nvSpPr>
          <p:cNvPr id="36" name="Shape 34"/>
          <p:cNvSpPr/>
          <p:nvPr/>
        </p:nvSpPr>
        <p:spPr>
          <a:xfrm>
            <a:off x="3383280" y="45720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Q&amp;A</a:t>
            </a:r>
            <a:endParaRPr lang="en-US" sz="1440" dirty="0"/>
          </a:p>
        </p:txBody>
      </p:sp>
      <p:sp>
        <p:nvSpPr>
          <p:cNvPr id="38" name="Text 36"/>
          <p:cNvSpPr/>
          <p:nvPr/>
        </p:nvSpPr>
        <p:spPr>
          <a:xfrm>
            <a:off x="35204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</a:t>
            </a:r>
            <a:endParaRPr lang="en-US" sz="1740" dirty="0"/>
          </a:p>
        </p:txBody>
      </p:sp>
      <p:sp>
        <p:nvSpPr>
          <p:cNvPr id="39" name="Shape 37"/>
          <p:cNvSpPr/>
          <p:nvPr/>
        </p:nvSpPr>
        <p:spPr>
          <a:xfrm>
            <a:off x="6126480" y="45720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6364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descriptions</a:t>
            </a:r>
            <a:endParaRPr lang="en-US" sz="1440" dirty="0"/>
          </a:p>
        </p:txBody>
      </p:sp>
      <p:sp>
        <p:nvSpPr>
          <p:cNvPr id="41" name="Text 39"/>
          <p:cNvSpPr/>
          <p:nvPr/>
        </p:nvSpPr>
        <p:spPr>
          <a:xfrm>
            <a:off x="62636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</a:t>
            </a:r>
            <a:endParaRPr lang="en-US" sz="1740" dirty="0"/>
          </a:p>
        </p:txBody>
      </p:sp>
      <p:sp>
        <p:nvSpPr>
          <p:cNvPr id="42" name="Shape 40"/>
          <p:cNvSpPr/>
          <p:nvPr/>
        </p:nvSpPr>
        <p:spPr>
          <a:xfrm>
            <a:off x="8869680" y="45720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0684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40" dirty="0"/>
          </a:p>
        </p:txBody>
      </p:sp>
      <p:sp>
        <p:nvSpPr>
          <p:cNvPr id="44" name="Text 42"/>
          <p:cNvSpPr/>
          <p:nvPr/>
        </p:nvSpPr>
        <p:spPr>
          <a:xfrm>
            <a:off x="90068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 – 0.9</a:t>
            </a:r>
            <a:endParaRPr lang="en-US" sz="17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 4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 is a list of Messages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4434840" y="1783080"/>
            <a:ext cx="0" cy="68580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783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6858000" y="17830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persona, constraints</a:t>
            </a:r>
            <a:endParaRPr lang="en-US" sz="1560" dirty="0"/>
          </a:p>
        </p:txBody>
      </p:sp>
      <p:sp>
        <p:nvSpPr>
          <p:cNvPr id="25" name="Shape 23"/>
          <p:cNvSpPr/>
          <p:nvPr/>
        </p:nvSpPr>
        <p:spPr>
          <a:xfrm>
            <a:off x="640080" y="28803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" y="3063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UserMessage</a:t>
            </a:r>
            <a:endParaRPr lang="en-US" sz="1920" dirty="0"/>
          </a:p>
        </p:txBody>
      </p:sp>
      <p:sp>
        <p:nvSpPr>
          <p:cNvPr id="27" name="Shape 25"/>
          <p:cNvSpPr/>
          <p:nvPr/>
        </p:nvSpPr>
        <p:spPr>
          <a:xfrm>
            <a:off x="4434840" y="3063240"/>
            <a:ext cx="0" cy="68580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30632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1560" dirty="0"/>
          </a:p>
        </p:txBody>
      </p:sp>
      <p:sp>
        <p:nvSpPr>
          <p:cNvPr id="29" name="Text 27"/>
          <p:cNvSpPr/>
          <p:nvPr/>
        </p:nvSpPr>
        <p:spPr>
          <a:xfrm>
            <a:off x="6858000" y="30632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question</a:t>
            </a:r>
            <a:endParaRPr lang="en-US" sz="1560" dirty="0"/>
          </a:p>
        </p:txBody>
      </p:sp>
      <p:sp>
        <p:nvSpPr>
          <p:cNvPr id="30" name="Shape 28"/>
          <p:cNvSpPr/>
          <p:nvPr/>
        </p:nvSpPr>
        <p:spPr>
          <a:xfrm>
            <a:off x="640080" y="41605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4343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AssistantMessage</a:t>
            </a:r>
            <a:endParaRPr lang="en-US" sz="1920" dirty="0"/>
          </a:p>
        </p:txBody>
      </p:sp>
      <p:sp>
        <p:nvSpPr>
          <p:cNvPr id="32" name="Shape 30"/>
          <p:cNvSpPr/>
          <p:nvPr/>
        </p:nvSpPr>
        <p:spPr>
          <a:xfrm>
            <a:off x="4434840" y="4343400"/>
            <a:ext cx="0" cy="68580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4343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560" dirty="0"/>
          </a:p>
        </p:txBody>
      </p:sp>
      <p:sp>
        <p:nvSpPr>
          <p:cNvPr id="34" name="Text 32"/>
          <p:cNvSpPr/>
          <p:nvPr/>
        </p:nvSpPr>
        <p:spPr>
          <a:xfrm>
            <a:off x="6858000" y="43434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AI reply — used in multi-turn (Ch. 6)</a:t>
            </a:r>
            <a:endParaRPr lang="en-US" sz="1560" dirty="0"/>
          </a:p>
        </p:txBody>
      </p:sp>
      <p:sp>
        <p:nvSpPr>
          <p:cNvPr id="35" name="Text 33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assembles these into a Prompt on every call — you rarely build them by hand.</a:t>
            </a:r>
            <a:endParaRPr lang="en-US" sz="1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ABSTRACTION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 sits on top of ChatModel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55448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121A2E"/>
          </a:solidFill>
          <a:ln w="1587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Code   </a:t>
            </a:r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you write</a:t>
            </a:r>
            <a:endParaRPr lang="en-US" sz="1740" dirty="0"/>
          </a:p>
        </p:txBody>
      </p:sp>
      <p:sp>
        <p:nvSpPr>
          <p:cNvPr id="22" name="Shape 20"/>
          <p:cNvSpPr/>
          <p:nvPr/>
        </p:nvSpPr>
        <p:spPr>
          <a:xfrm>
            <a:off x="1143000" y="2450592"/>
            <a:ext cx="9875520" cy="731520"/>
          </a:xfrm>
          <a:prstGeom prst="roundRect">
            <a:avLst>
              <a:gd name="adj" fmla="val 12500"/>
            </a:avLst>
          </a:prstGeom>
          <a:solidFill>
            <a:srgbClr val="172238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43000" y="245059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   </a:t>
            </a:r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— fluent API, advisors, defaults</a:t>
            </a:r>
            <a:endParaRPr lang="en-US" sz="1740" dirty="0"/>
          </a:p>
        </p:txBody>
      </p:sp>
      <p:sp>
        <p:nvSpPr>
          <p:cNvPr id="24" name="Shape 22"/>
          <p:cNvSpPr/>
          <p:nvPr/>
        </p:nvSpPr>
        <p:spPr>
          <a:xfrm>
            <a:off x="1645920" y="3346704"/>
            <a:ext cx="8869680" cy="731520"/>
          </a:xfrm>
          <a:prstGeom prst="roundRect">
            <a:avLst>
              <a:gd name="adj" fmla="val 125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645920" y="3346704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ChatModel   </a:t>
            </a:r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— send Prompt, get ChatResponse</a:t>
            </a:r>
            <a:endParaRPr lang="en-US" sz="1740" dirty="0"/>
          </a:p>
        </p:txBody>
      </p:sp>
      <p:sp>
        <p:nvSpPr>
          <p:cNvPr id="26" name="Shape 24"/>
          <p:cNvSpPr/>
          <p:nvPr/>
        </p:nvSpPr>
        <p:spPr>
          <a:xfrm>
            <a:off x="2148840" y="4242816"/>
            <a:ext cx="7863840" cy="731520"/>
          </a:xfrm>
          <a:prstGeom prst="roundRect">
            <a:avLst>
              <a:gd name="adj" fmla="val 12500"/>
            </a:avLst>
          </a:prstGeom>
          <a:solidFill>
            <a:srgbClr val="172238"/>
          </a:solidFill>
          <a:ln w="15875">
            <a:solidFill>
              <a:srgbClr val="8B98A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148840" y="4242816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OllamaChatModel   </a:t>
            </a:r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Ollama-specific implementation</a:t>
            </a:r>
            <a:endParaRPr lang="en-US" sz="1740" dirty="0"/>
          </a:p>
        </p:txBody>
      </p:sp>
      <p:sp>
        <p:nvSpPr>
          <p:cNvPr id="28" name="Shape 26"/>
          <p:cNvSpPr/>
          <p:nvPr/>
        </p:nvSpPr>
        <p:spPr>
          <a:xfrm>
            <a:off x="2651760" y="5138928"/>
            <a:ext cx="6858000" cy="731520"/>
          </a:xfrm>
          <a:prstGeom prst="roundRect">
            <a:avLst>
              <a:gd name="adj" fmla="val 12500"/>
            </a:avLst>
          </a:prstGeom>
          <a:solidFill>
            <a:srgbClr val="121A2E"/>
          </a:solidFill>
          <a:ln w="15875">
            <a:solidFill>
              <a:srgbClr val="5B6478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651760" y="5138928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B8C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HTTP API → Llama 3.2   </a:t>
            </a:r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OpenAI later? Only the bottom layer changes — your code stays identical.</a:t>
            </a:r>
            <a:endParaRPr lang="en-US" sz="14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BUILD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modes, one controller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234440"/>
            <a:ext cx="10881360" cy="5029200"/>
          </a:xfrm>
          <a:prstGeom prst="roundRect">
            <a:avLst>
              <a:gd name="adj" fmla="val 1455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1399032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" y="1399032"/>
            <a:ext cx="91440" cy="91440"/>
          </a:xfrm>
          <a:prstGeom prst="ellipse">
            <a:avLst/>
          </a:prstGeom>
          <a:solidFill>
            <a:srgbClr val="8B98A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584" y="1399032"/>
            <a:ext cx="91440" cy="91440"/>
          </a:xfrm>
          <a:prstGeom prst="ellipse">
            <a:avLst/>
          </a:prstGeom>
          <a:solidFill>
            <a:srgbClr val="5FE0C5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HrChatController.java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16916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PRECISE — deterministic, capped short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0120" y="19659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chatClient.prompt()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0120" y="22402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.options(</a:t>
            </a:r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ChatOptions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.builder()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0120" y="25146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.temperature(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).maxTokens(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0120" y="2788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.user(question).call().content();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60120" y="30632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60120" y="33375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CREATIVE — warm, generous budget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0120" y="3611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chatClient.prompt()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60120" y="3886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.options(</a:t>
            </a:r>
            <a:pPr indent="0" marL="0">
              <a:buNone/>
            </a:pPr>
            <a:r>
              <a:rPr lang="en-US" sz="15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ChatOptions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.builder()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0120" y="41605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.temperature(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).maxTokens(</a:t>
            </a:r>
            <a:pPr indent="0" marL="0">
              <a:buNone/>
            </a:pPr>
            <a:r>
              <a:rPr lang="en-US" sz="15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800</a:t>
            </a:r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60120" y="44348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.user(question).call().content();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can do now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tokens, context windows, and why length varies</a:t>
            </a:r>
            <a:endParaRPr lang="en-US" sz="20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response length with maxTokens</a:t>
            </a:r>
            <a:endParaRPr lang="en-US" sz="20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temperature per use case — precise vs. creative</a:t>
            </a:r>
            <a:endParaRPr lang="en-US" sz="20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ChatClient sits on top of ChatModel</a:t>
            </a:r>
            <a:endParaRPr lang="en-US" sz="2040" dirty="0"/>
          </a:p>
        </p:txBody>
      </p:sp>
      <p:sp>
        <p:nvSpPr>
          <p:cNvPr id="21" name="Shape 19"/>
          <p:cNvSpPr/>
          <p:nvPr/>
        </p:nvSpPr>
        <p:spPr>
          <a:xfrm>
            <a:off x="640080" y="35661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914400" y="406908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80" b="1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— Comparing Models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mistral, codellama, and phi3 side by side — swap models with</a:t>
            </a:r>
            <a:endParaRPr lang="en-US" sz="22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config, or per request, and compare their answers.</a:t>
            </a:r>
            <a:endParaRPr lang="en-US" sz="22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ENJOYING THIS?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&amp; Subscribe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helped, a like and a subscribe genuinely help the series reach more developers.</a:t>
            </a:r>
            <a:endParaRPr lang="en-US" sz="204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254203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822960" y="3310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endParaRPr lang="en-US" sz="2280" dirty="0"/>
          </a:p>
        </p:txBody>
      </p:sp>
      <p:sp>
        <p:nvSpPr>
          <p:cNvPr id="24" name="Text 22"/>
          <p:cNvSpPr/>
          <p:nvPr/>
        </p:nvSpPr>
        <p:spPr>
          <a:xfrm>
            <a:off x="1051560" y="37673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like if this made Spring AI click.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4480560" y="22860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80560" y="254203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5FE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480560" y="3310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</a:t>
            </a:r>
            <a:endParaRPr lang="en-US" sz="2280" dirty="0"/>
          </a:p>
        </p:txBody>
      </p:sp>
      <p:sp>
        <p:nvSpPr>
          <p:cNvPr id="28" name="Text 26"/>
          <p:cNvSpPr/>
          <p:nvPr/>
        </p:nvSpPr>
        <p:spPr>
          <a:xfrm>
            <a:off x="4709160" y="37673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 + bell for every new chapter.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8138160" y="2286000"/>
            <a:ext cx="3200400" cy="2148840"/>
          </a:xfrm>
          <a:prstGeom prst="roundRect">
            <a:avLst>
              <a:gd name="adj" fmla="val 5957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38160" y="254203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B9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8138160" y="3310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Comment</a:t>
            </a:r>
            <a:endParaRPr lang="en-US" sz="2280" dirty="0"/>
          </a:p>
        </p:txBody>
      </p:sp>
      <p:sp>
        <p:nvSpPr>
          <p:cNvPr id="32" name="Text 30"/>
          <p:cNvSpPr/>
          <p:nvPr/>
        </p:nvSpPr>
        <p:spPr>
          <a:xfrm>
            <a:off x="8366760" y="37673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— I read and reply.</a:t>
            </a:r>
            <a:endParaRPr lang="en-US" sz="1440" dirty="0"/>
          </a:p>
        </p:txBody>
      </p:sp>
      <p:sp>
        <p:nvSpPr>
          <p:cNvPr id="33" name="Shape 31"/>
          <p:cNvSpPr/>
          <p:nvPr/>
        </p:nvSpPr>
        <p:spPr>
          <a:xfrm>
            <a:off x="4251960" y="502920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10812" y="4988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9612" y="4988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68412" y="4988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52578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chapter every week  ·  Spring AI with Llama  ·  PromptToApps</a:t>
            </a:r>
            <a:endParaRPr lang="en-US" sz="15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CREDITS &amp; THANKS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isn't my merit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series is built on the work of open-source projects and their communities. I only learned from them and shared what I built.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430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</a:t>
            </a:r>
            <a:endParaRPr lang="en-US" sz="2640" dirty="0"/>
          </a:p>
        </p:txBody>
      </p:sp>
      <p:sp>
        <p:nvSpPr>
          <p:cNvPr id="23" name="Text 21"/>
          <p:cNvSpPr/>
          <p:nvPr/>
        </p:nvSpPr>
        <p:spPr>
          <a:xfrm>
            <a:off x="11430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integration layer for Spring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spring.io/projects/spring-ai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3093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2640" dirty="0"/>
          </a:p>
        </p:txBody>
      </p:sp>
      <p:sp>
        <p:nvSpPr>
          <p:cNvPr id="27" name="Text 25"/>
          <p:cNvSpPr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open LLMs locally</a:t>
            </a:r>
            <a:endParaRPr lang="en-US" sz="1560" dirty="0"/>
          </a:p>
        </p:txBody>
      </p:sp>
      <p:sp>
        <p:nvSpPr>
          <p:cNvPr id="28" name="Text 26"/>
          <p:cNvSpPr/>
          <p:nvPr/>
        </p:nvSpPr>
        <p:spPr>
          <a:xfrm>
            <a:off x="66294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ollama.com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4251960" y="48920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108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96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84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5120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gratitude — all credit to their maintainers &amp; contributors.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 — Core Concepts</dc:title>
  <dc:subject>PptxGenJS Presentation</dc:subject>
  <dc:creator>PromptToApps</dc:creator>
  <cp:lastModifiedBy>PromptToApps</cp:lastModifiedBy>
  <cp:revision>1</cp:revision>
  <dcterms:created xsi:type="dcterms:W3CDTF">2026-07-15T01:28:31Z</dcterms:created>
  <dcterms:modified xsi:type="dcterms:W3CDTF">2026-07-15T01:28:31Z</dcterms:modified>
</cp:coreProperties>
</file>