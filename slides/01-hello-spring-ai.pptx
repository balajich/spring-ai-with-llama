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CA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C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CB9E1A-109F-41C2-939C-ACA5AE750FC8}" type="slidenum"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522A9D-B38D-4B26-9998-1364E59E156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E10F2C-1E8D-49EA-B7A3-C1F903BCD65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F61B89-221A-488C-B6EC-E80364C8204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19312B-9ACB-4034-84CB-27C68790FC6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7EFF3A-3148-4A83-91F0-960815A3AC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61F54E-F0D5-4AD6-B342-6DF69D4EA7C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B7CBC1-2F4A-4102-86B4-AFC50B8FB37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4BB8EA-22A9-4385-9524-528FC8B5C68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CA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CA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429840" y="3384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1161360" y="7956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95600" y="15271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1710000" y="12528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10762560" y="60076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11494080" y="545904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1128320" y="47275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11859840" y="50932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5720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PromptToApps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124712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1 / 8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5166360" y="914400"/>
            <a:ext cx="1828440" cy="50256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5875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166360" y="9144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8b98ac"/>
                </a:solidFill>
                <a:effectLst/>
                <a:uFillTx/>
                <a:latin typeface="Courier New"/>
                <a:ea typeface="Courier New"/>
              </a:rPr>
              <a:t>CHAPTER </a:t>
            </a:r>
            <a:r>
              <a:rPr b="1" lang="en-US" sz="14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b="0" lang="en-C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0" y="1828800"/>
            <a:ext cx="12161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Hello, Spring AI!</a:t>
            </a:r>
            <a:endParaRPr b="0" lang="en-CA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0" y="2743200"/>
            <a:ext cx="1216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ChatClient</a:t>
            </a:r>
            <a:r>
              <a:rPr b="0" lang="en-US" sz="200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  +  Ollama Setup</a:t>
            </a:r>
            <a:endParaRPr b="0" lang="en-CA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251960" y="3520440"/>
            <a:ext cx="3657600" cy="360"/>
          </a:xfrm>
          <a:prstGeom prst="line">
            <a:avLst/>
          </a:prstGeom>
          <a:ln w="12700">
            <a:solidFill>
              <a:srgbClr val="5b6478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4210920" y="3479400"/>
            <a:ext cx="82080" cy="82080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039720" y="3479400"/>
            <a:ext cx="82080" cy="82080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7868520" y="3479400"/>
            <a:ext cx="82080" cy="82080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0" y="3703320"/>
            <a:ext cx="12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b98ac"/>
                </a:solidFill>
                <a:effectLst/>
                <a:uFillTx/>
                <a:latin typeface="Courier New"/>
                <a:ea typeface="Courier New"/>
              </a:rPr>
              <a:t>Spring AI with Llama  ·  PromptToApps</a:t>
            </a:r>
            <a:endParaRPr b="0" lang="en-CA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429840" y="3384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1161360" y="7956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795600" y="15271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1710000" y="12528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10762560" y="60076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11494080" y="545904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2"/>
          <p:cNvSpPr/>
          <p:nvPr/>
        </p:nvSpPr>
        <p:spPr>
          <a:xfrm>
            <a:off x="11128320" y="47275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11859840" y="50932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45720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PromptToApps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1124712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2 / 8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640080" y="164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201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THE PROBLEM</a:t>
            </a:r>
            <a:endParaRPr b="0" lang="en-C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640080" y="4572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Sarah's inbox is full of the same question</a:t>
            </a:r>
            <a:endParaRPr b="0" lang="en-C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8"/>
          <p:cNvSpPr/>
          <p:nvPr/>
        </p:nvSpPr>
        <p:spPr>
          <a:xfrm>
            <a:off x="640080" y="1554480"/>
            <a:ext cx="6491880" cy="3931560"/>
          </a:xfrm>
          <a:prstGeom prst="roundRect">
            <a:avLst>
              <a:gd name="adj" fmla="val 2791"/>
            </a:avLst>
          </a:prstGeom>
          <a:solidFill>
            <a:srgbClr val="121a2e"/>
          </a:solidFill>
          <a:ln w="9525">
            <a:solidFill>
              <a:srgbClr val="5b647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914400" y="178308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b98ac"/>
                </a:solidFill>
                <a:effectLst/>
                <a:uFillTx/>
                <a:latin typeface="Courier New"/>
                <a:ea typeface="Courier New"/>
              </a:rPr>
              <a:t>✉  inbox — HR@TechCorp</a:t>
            </a:r>
            <a:endParaRPr b="0" lang="en-CA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0"/>
          <p:cNvSpPr/>
          <p:nvPr/>
        </p:nvSpPr>
        <p:spPr>
          <a:xfrm>
            <a:off x="914400" y="2286000"/>
            <a:ext cx="5943240" cy="594000"/>
          </a:xfrm>
          <a:prstGeom prst="roundRect">
            <a:avLst>
              <a:gd name="adj" fmla="val 12308"/>
            </a:avLst>
          </a:prstGeom>
          <a:solidFill>
            <a:srgbClr val="17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1"/>
          <p:cNvSpPr/>
          <p:nvPr/>
        </p:nvSpPr>
        <p:spPr>
          <a:xfrm>
            <a:off x="1143000" y="2286000"/>
            <a:ext cx="5486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"What's our parental leave policy?"</a:t>
            </a:r>
            <a:endParaRPr b="0" lang="en-C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2"/>
          <p:cNvSpPr/>
          <p:nvPr/>
        </p:nvSpPr>
        <p:spPr>
          <a:xfrm>
            <a:off x="914400" y="3063240"/>
            <a:ext cx="5943240" cy="594000"/>
          </a:xfrm>
          <a:prstGeom prst="roundRect">
            <a:avLst>
              <a:gd name="adj" fmla="val 12308"/>
            </a:avLst>
          </a:prstGeom>
          <a:solidFill>
            <a:srgbClr val="17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1143000" y="3063240"/>
            <a:ext cx="5486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"How many vacation days do I have left?"</a:t>
            </a:r>
            <a:endParaRPr b="0" lang="en-C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4"/>
          <p:cNvSpPr/>
          <p:nvPr/>
        </p:nvSpPr>
        <p:spPr>
          <a:xfrm>
            <a:off x="914400" y="3840480"/>
            <a:ext cx="5943240" cy="594000"/>
          </a:xfrm>
          <a:prstGeom prst="roundRect">
            <a:avLst>
              <a:gd name="adj" fmla="val 12308"/>
            </a:avLst>
          </a:prstGeom>
          <a:solidFill>
            <a:srgbClr val="17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5"/>
          <p:cNvSpPr/>
          <p:nvPr/>
        </p:nvSpPr>
        <p:spPr>
          <a:xfrm>
            <a:off x="1143000" y="3840480"/>
            <a:ext cx="5486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"What's the dress code for client visits?"</a:t>
            </a:r>
            <a:endParaRPr b="0" lang="en-C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6"/>
          <p:cNvSpPr/>
          <p:nvPr/>
        </p:nvSpPr>
        <p:spPr>
          <a:xfrm>
            <a:off x="914400" y="4617720"/>
            <a:ext cx="5943240" cy="594000"/>
          </a:xfrm>
          <a:prstGeom prst="roundRect">
            <a:avLst>
              <a:gd name="adj" fmla="val 12308"/>
            </a:avLst>
          </a:prstGeom>
          <a:solidFill>
            <a:srgbClr val="17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7"/>
          <p:cNvSpPr/>
          <p:nvPr/>
        </p:nvSpPr>
        <p:spPr>
          <a:xfrm>
            <a:off x="1143000" y="4617720"/>
            <a:ext cx="5486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"Can I expense a client dinner?"</a:t>
            </a:r>
            <a:endParaRPr b="0" lang="en-C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8"/>
          <p:cNvSpPr/>
          <p:nvPr/>
        </p:nvSpPr>
        <p:spPr>
          <a:xfrm>
            <a:off x="7406640" y="1783080"/>
            <a:ext cx="41144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2a93b"/>
                </a:solidFill>
                <a:effectLst/>
                <a:uFillTx/>
                <a:latin typeface="Calibri"/>
                <a:ea typeface="Calibri"/>
              </a:rPr>
              <a:t>Sarah</a:t>
            </a:r>
            <a:endParaRPr b="0" lang="en-C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8b98ac"/>
                </a:solidFill>
                <a:effectLst/>
                <a:uFillTx/>
                <a:latin typeface="Calibri"/>
                <a:ea typeface="Calibri"/>
              </a:rPr>
              <a:t>HR Manager, TechCorp</a:t>
            </a:r>
            <a:endParaRPr b="0" lang="en-C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C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Same questions, every day. She needs a first</a:t>
            </a:r>
            <a:endParaRPr b="0" lang="en-CA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line of defense that answers instantly —</a:t>
            </a:r>
            <a:endParaRPr b="0" lang="en-CA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without her typing the same reply twice.</a:t>
            </a:r>
            <a:endParaRPr b="0" lang="en-CA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429840" y="3384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1161360" y="7956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795600" y="15271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1710000" y="12528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10762560" y="60076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11494080" y="545904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11128320" y="47275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11859840" y="50932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45720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PromptToApps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1124712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4 / 8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640080" y="164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201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ARCHITECTURE</a:t>
            </a:r>
            <a:endParaRPr b="0" lang="en-C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640080" y="4572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How a question becomes an answer</a:t>
            </a:r>
            <a:endParaRPr b="0" lang="en-C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640080" y="2468880"/>
            <a:ext cx="2377080" cy="137124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9050">
            <a:solidFill>
              <a:srgbClr val="8b98ac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822960" y="27432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curl / Browser</a:t>
            </a:r>
            <a:endParaRPr b="0" lang="en-C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822960" y="32461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b98ac"/>
                </a:solidFill>
                <a:effectLst/>
                <a:uFillTx/>
                <a:latin typeface="Courier New"/>
                <a:ea typeface="Courier New"/>
              </a:rPr>
              <a:t>POST /hr/ask</a:t>
            </a:r>
            <a:endParaRPr b="0" lang="en-CA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1"/>
          <p:cNvSpPr/>
          <p:nvPr/>
        </p:nvSpPr>
        <p:spPr>
          <a:xfrm>
            <a:off x="3977640" y="2468880"/>
            <a:ext cx="2742840" cy="137124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9050">
            <a:solidFill>
              <a:srgbClr val="f2a93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4160520" y="27432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Spring Boot App</a:t>
            </a:r>
            <a:endParaRPr b="0" lang="en-C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3"/>
          <p:cNvSpPr/>
          <p:nvPr/>
        </p:nvSpPr>
        <p:spPr>
          <a:xfrm>
            <a:off x="4160520" y="32461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ChatClient</a:t>
            </a:r>
            <a:endParaRPr b="0" lang="en-CA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4"/>
          <p:cNvSpPr/>
          <p:nvPr/>
        </p:nvSpPr>
        <p:spPr>
          <a:xfrm>
            <a:off x="7726680" y="2468880"/>
            <a:ext cx="2742840" cy="137124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9050">
            <a:solidFill>
              <a:srgbClr val="5fe0c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5"/>
          <p:cNvSpPr/>
          <p:nvPr/>
        </p:nvSpPr>
        <p:spPr>
          <a:xfrm>
            <a:off x="7909560" y="27432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Ollama</a:t>
            </a:r>
            <a:endParaRPr b="0" lang="en-C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6"/>
          <p:cNvSpPr/>
          <p:nvPr/>
        </p:nvSpPr>
        <p:spPr>
          <a:xfrm>
            <a:off x="7909560" y="32461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llama3.2 model</a:t>
            </a:r>
            <a:endParaRPr b="0" lang="en-CA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7"/>
          <p:cNvSpPr/>
          <p:nvPr/>
        </p:nvSpPr>
        <p:spPr>
          <a:xfrm>
            <a:off x="3017520" y="2880360"/>
            <a:ext cx="960120" cy="360"/>
          </a:xfrm>
          <a:prstGeom prst="line">
            <a:avLst/>
          </a:prstGeom>
          <a:ln w="25400">
            <a:solidFill>
              <a:srgbClr val="8b98a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8"/>
          <p:cNvSpPr/>
          <p:nvPr/>
        </p:nvSpPr>
        <p:spPr>
          <a:xfrm>
            <a:off x="2788920" y="242316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eeeee"/>
                </a:solidFill>
                <a:effectLst/>
                <a:uFillTx/>
                <a:latin typeface="Courier New"/>
                <a:ea typeface="Courier New"/>
              </a:rPr>
              <a:t>question</a:t>
            </a:r>
            <a:endParaRPr b="0" lang="en-CA" sz="1050" strike="noStrike" u="non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9"/>
          <p:cNvSpPr/>
          <p:nvPr/>
        </p:nvSpPr>
        <p:spPr>
          <a:xfrm flipH="1">
            <a:off x="3017160" y="3420000"/>
            <a:ext cx="960480" cy="0"/>
          </a:xfrm>
          <a:prstGeom prst="line">
            <a:avLst/>
          </a:prstGeom>
          <a:ln w="25400">
            <a:solidFill>
              <a:srgbClr val="f2a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0"/>
          <p:cNvSpPr/>
          <p:nvPr/>
        </p:nvSpPr>
        <p:spPr>
          <a:xfrm>
            <a:off x="2788920" y="352044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answer</a:t>
            </a:r>
            <a:endParaRPr b="0" lang="en-CA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1"/>
          <p:cNvSpPr/>
          <p:nvPr/>
        </p:nvSpPr>
        <p:spPr>
          <a:xfrm>
            <a:off x="6720840" y="2880360"/>
            <a:ext cx="1005840" cy="360"/>
          </a:xfrm>
          <a:prstGeom prst="line">
            <a:avLst/>
          </a:prstGeom>
          <a:ln w="25400">
            <a:solidFill>
              <a:srgbClr val="f2a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2"/>
          <p:cNvSpPr/>
          <p:nvPr/>
        </p:nvSpPr>
        <p:spPr>
          <a:xfrm>
            <a:off x="6492240" y="242316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prompt</a:t>
            </a:r>
            <a:endParaRPr b="0" lang="en-CA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3"/>
          <p:cNvSpPr/>
          <p:nvPr/>
        </p:nvSpPr>
        <p:spPr>
          <a:xfrm flipH="1">
            <a:off x="6720480" y="3520440"/>
            <a:ext cx="1006200" cy="0"/>
          </a:xfrm>
          <a:prstGeom prst="line">
            <a:avLst/>
          </a:prstGeom>
          <a:ln w="25400">
            <a:solidFill>
              <a:srgbClr val="5fe0c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4"/>
          <p:cNvSpPr/>
          <p:nvPr/>
        </p:nvSpPr>
        <p:spPr>
          <a:xfrm>
            <a:off x="6492240" y="352044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completion</a:t>
            </a:r>
            <a:endParaRPr b="0" lang="en-CA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5"/>
          <p:cNvSpPr/>
          <p:nvPr/>
        </p:nvSpPr>
        <p:spPr>
          <a:xfrm>
            <a:off x="3977640" y="3977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eeeee"/>
                </a:solidFill>
                <a:effectLst/>
                <a:uFillTx/>
                <a:latin typeface="Courier New"/>
                <a:ea typeface="Courier New"/>
              </a:rPr>
              <a:t>localhost:8080</a:t>
            </a:r>
            <a:endParaRPr b="0" lang="en-CA" sz="1100" strike="noStrike" u="non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6"/>
          <p:cNvSpPr/>
          <p:nvPr/>
        </p:nvSpPr>
        <p:spPr>
          <a:xfrm>
            <a:off x="7726680" y="3977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eeeee"/>
                </a:solidFill>
                <a:effectLst/>
                <a:uFillTx/>
                <a:latin typeface="Courier New"/>
                <a:ea typeface="Courier New"/>
              </a:rPr>
              <a:t>localhost:11434</a:t>
            </a:r>
            <a:endParaRPr b="0" lang="en-CA" sz="1100" strike="noStrike" u="non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429840" y="3384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1161360" y="7956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"/>
          <p:cNvSpPr/>
          <p:nvPr/>
        </p:nvSpPr>
        <p:spPr>
          <a:xfrm>
            <a:off x="795600" y="15271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6"/>
          <p:cNvSpPr/>
          <p:nvPr/>
        </p:nvSpPr>
        <p:spPr>
          <a:xfrm>
            <a:off x="1710000" y="12528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0"/>
          <p:cNvSpPr/>
          <p:nvPr/>
        </p:nvSpPr>
        <p:spPr>
          <a:xfrm>
            <a:off x="10762560" y="60076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1"/>
          <p:cNvSpPr/>
          <p:nvPr/>
        </p:nvSpPr>
        <p:spPr>
          <a:xfrm>
            <a:off x="11494080" y="545904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11128320" y="47275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3"/>
          <p:cNvSpPr/>
          <p:nvPr/>
        </p:nvSpPr>
        <p:spPr>
          <a:xfrm>
            <a:off x="11859840" y="50932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45720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PromptToApps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1124712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3 / 8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6"/>
          <p:cNvSpPr/>
          <p:nvPr/>
        </p:nvSpPr>
        <p:spPr>
          <a:xfrm>
            <a:off x="640080" y="164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201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CORE CONCEPT</a:t>
            </a:r>
            <a:endParaRPr b="0" lang="en-C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640080" y="4572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ChatClient — one API for any model</a:t>
            </a:r>
            <a:endParaRPr b="0" lang="en-C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640080" y="1463040"/>
            <a:ext cx="10881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ChatClient</a:t>
            </a:r>
            <a:r>
              <a:rPr b="0" lang="en-US" sz="180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 is Spring AI's single fluent API for talking to an LLM — build it once with </a:t>
            </a:r>
            <a:r>
              <a:rPr b="0" lang="en-US" sz="18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.prompt().user(...).call()</a:t>
            </a:r>
            <a:r>
              <a:rPr b="0" lang="en-US" sz="180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, and the model behind it can change without touching your code.</a:t>
            </a:r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9"/>
          <p:cNvSpPr/>
          <p:nvPr/>
        </p:nvSpPr>
        <p:spPr>
          <a:xfrm>
            <a:off x="640080" y="2926080"/>
            <a:ext cx="319680" cy="319680"/>
          </a:xfrm>
          <a:prstGeom prst="ellipse">
            <a:avLst/>
          </a:prstGeom>
          <a:solidFill>
            <a:srgbClr val="0a0f1c"/>
          </a:solidFill>
          <a:ln w="22225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0"/>
          <p:cNvSpPr/>
          <p:nvPr/>
        </p:nvSpPr>
        <p:spPr>
          <a:xfrm>
            <a:off x="640080" y="29260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b="0" lang="en-CA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1143000" y="2880360"/>
            <a:ext cx="10058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Builder pattern</a:t>
            </a:r>
            <a:endParaRPr b="0" lang="en-C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ChatClient.builder(chatModel).build() — configure once, reuse everywhere</a:t>
            </a:r>
            <a:endParaRPr b="0" lang="en-C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2"/>
          <p:cNvSpPr/>
          <p:nvPr/>
        </p:nvSpPr>
        <p:spPr>
          <a:xfrm>
            <a:off x="640080" y="3886200"/>
            <a:ext cx="319680" cy="319680"/>
          </a:xfrm>
          <a:prstGeom prst="ellipse">
            <a:avLst/>
          </a:prstGeom>
          <a:solidFill>
            <a:srgbClr val="0a0f1c"/>
          </a:solidFill>
          <a:ln w="22225">
            <a:solidFill>
              <a:srgbClr val="8b98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3"/>
          <p:cNvSpPr/>
          <p:nvPr/>
        </p:nvSpPr>
        <p:spPr>
          <a:xfrm>
            <a:off x="640080" y="38862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8b98ac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b="0" lang="en-CA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4"/>
          <p:cNvSpPr/>
          <p:nvPr/>
        </p:nvSpPr>
        <p:spPr>
          <a:xfrm>
            <a:off x="1143000" y="3840480"/>
            <a:ext cx="10058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Provider-agnostic</a:t>
            </a:r>
            <a:endParaRPr b="0" lang="en-C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Today it's Ollama + llama3.2. Swap to another provider, same calling code</a:t>
            </a:r>
            <a:endParaRPr b="0" lang="en-C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5"/>
          <p:cNvSpPr/>
          <p:nvPr/>
        </p:nvSpPr>
        <p:spPr>
          <a:xfrm>
            <a:off x="640080" y="4846320"/>
            <a:ext cx="319680" cy="319680"/>
          </a:xfrm>
          <a:prstGeom prst="ellipse">
            <a:avLst/>
          </a:prstGeom>
          <a:solidFill>
            <a:srgbClr val="0a0f1c"/>
          </a:solidFill>
          <a:ln w="22225">
            <a:solidFill>
              <a:srgbClr val="5fe0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6"/>
          <p:cNvSpPr/>
          <p:nvPr/>
        </p:nvSpPr>
        <p:spPr>
          <a:xfrm>
            <a:off x="640080" y="48463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b="0" lang="en-CA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7"/>
          <p:cNvSpPr/>
          <p:nvPr/>
        </p:nvSpPr>
        <p:spPr>
          <a:xfrm>
            <a:off x="1143000" y="4800600"/>
            <a:ext cx="10058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Fluent calls</a:t>
            </a:r>
            <a:endParaRPr b="0" lang="en-C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prompt().user(question).call().content() reads like plain English</a:t>
            </a:r>
            <a:endParaRPr b="0" lang="en-C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429840" y="3384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1161360" y="7956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795600" y="15271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1710000" y="12528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10762560" y="60076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11494080" y="545904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11128320" y="47275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11859840" y="50932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45720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PromptToApps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1124712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5 / 8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640080" y="164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201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CODE SNIPPET</a:t>
            </a:r>
            <a:endParaRPr b="0" lang="en-C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640080" y="4572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The Controller</a:t>
            </a:r>
            <a:endParaRPr b="0" lang="en-C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8"/>
          <p:cNvSpPr/>
          <p:nvPr/>
        </p:nvSpPr>
        <p:spPr>
          <a:xfrm>
            <a:off x="640080" y="1280160"/>
            <a:ext cx="10881000" cy="4891680"/>
          </a:xfrm>
          <a:prstGeom prst="roundRect">
            <a:avLst>
              <a:gd name="adj" fmla="val 1495"/>
            </a:avLst>
          </a:prstGeom>
          <a:solidFill>
            <a:srgbClr val="121a2e"/>
          </a:solidFill>
          <a:ln w="9525">
            <a:solidFill>
              <a:srgbClr val="5b6478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841320" y="1444680"/>
            <a:ext cx="91080" cy="91080"/>
          </a:xfrm>
          <a:prstGeom prst="ellipse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0"/>
          <p:cNvSpPr/>
          <p:nvPr/>
        </p:nvSpPr>
        <p:spPr>
          <a:xfrm>
            <a:off x="1042560" y="1444680"/>
            <a:ext cx="91080" cy="91080"/>
          </a:xfrm>
          <a:prstGeom prst="ellipse">
            <a:avLst/>
          </a:prstGeom>
          <a:solidFill>
            <a:srgbClr val="8b98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1243440" y="1444680"/>
            <a:ext cx="91080" cy="91080"/>
          </a:xfrm>
          <a:prstGeom prst="ellipse">
            <a:avLst/>
          </a:prstGeom>
          <a:solidFill>
            <a:srgbClr val="5fe0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9509760" y="13716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b98ac"/>
                </a:solidFill>
                <a:effectLst/>
                <a:uFillTx/>
                <a:latin typeface="Courier New"/>
                <a:ea typeface="Courier New"/>
              </a:rPr>
              <a:t>HrController.java</a:t>
            </a:r>
            <a:endParaRPr b="0" lang="en-C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960120" y="17373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@RestController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960120" y="19659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@RequestMapping</a:t>
            </a:r>
            <a:r>
              <a:rPr b="0" lang="en-US" sz="125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("/hr")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5"/>
          <p:cNvSpPr/>
          <p:nvPr/>
        </p:nvSpPr>
        <p:spPr>
          <a:xfrm>
            <a:off x="960120" y="21945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public class </a:t>
            </a: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HrController {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960120" y="24231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 27"/>
          <p:cNvSpPr/>
          <p:nvPr/>
        </p:nvSpPr>
        <p:spPr>
          <a:xfrm>
            <a:off x="960120" y="26517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  private final </a:t>
            </a:r>
            <a:r>
              <a:rPr b="0" lang="en-US" sz="125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ChatClient</a:t>
            </a: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chatClient;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960120" y="28803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 29"/>
          <p:cNvSpPr/>
          <p:nvPr/>
        </p:nvSpPr>
        <p:spPr>
          <a:xfrm>
            <a:off x="960120" y="31089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  public </a:t>
            </a: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HrController(ChatClient.Builder builder) {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960120" y="33375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    this.chatClient = builder.build();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1"/>
          <p:cNvSpPr/>
          <p:nvPr/>
        </p:nvSpPr>
        <p:spPr>
          <a:xfrm>
            <a:off x="960120" y="35661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2"/>
          <p:cNvSpPr/>
          <p:nvPr/>
        </p:nvSpPr>
        <p:spPr>
          <a:xfrm>
            <a:off x="960120" y="37947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960120" y="40233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  @PostMapping</a:t>
            </a:r>
            <a:r>
              <a:rPr b="0" lang="en-US" sz="125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("/ask")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4"/>
          <p:cNvSpPr/>
          <p:nvPr/>
        </p:nvSpPr>
        <p:spPr>
          <a:xfrm>
            <a:off x="960120" y="42519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  public </a:t>
            </a:r>
            <a:r>
              <a:rPr b="0" lang="en-US" sz="125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HrResponse</a:t>
            </a: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ask(@RequestBody HrRequest request) {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5"/>
          <p:cNvSpPr/>
          <p:nvPr/>
        </p:nvSpPr>
        <p:spPr>
          <a:xfrm>
            <a:off x="960120" y="44805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    String answer = chatClient.prompt()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6"/>
          <p:cNvSpPr/>
          <p:nvPr/>
        </p:nvSpPr>
        <p:spPr>
          <a:xfrm>
            <a:off x="960120" y="47091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            .user(request.question())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7"/>
          <p:cNvSpPr/>
          <p:nvPr/>
        </p:nvSpPr>
        <p:spPr>
          <a:xfrm>
            <a:off x="960120" y="49377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            .call()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8"/>
          <p:cNvSpPr/>
          <p:nvPr/>
        </p:nvSpPr>
        <p:spPr>
          <a:xfrm>
            <a:off x="960120" y="51663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            .content();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9"/>
          <p:cNvSpPr/>
          <p:nvPr/>
        </p:nvSpPr>
        <p:spPr>
          <a:xfrm>
            <a:off x="960120" y="53949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      return new </a:t>
            </a:r>
            <a:r>
              <a:rPr b="0" lang="en-US" sz="125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HrResponse</a:t>
            </a: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(request.question(), answer);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0"/>
          <p:cNvSpPr/>
          <p:nvPr/>
        </p:nvSpPr>
        <p:spPr>
          <a:xfrm>
            <a:off x="960120" y="56235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1"/>
          <p:cNvSpPr/>
          <p:nvPr/>
        </p:nvSpPr>
        <p:spPr>
          <a:xfrm>
            <a:off x="960120" y="58521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en-C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429840" y="3384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4"/>
          <p:cNvSpPr/>
          <p:nvPr/>
        </p:nvSpPr>
        <p:spPr>
          <a:xfrm>
            <a:off x="1161360" y="7956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795600" y="15271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1710000" y="12528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10762560" y="60076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1"/>
          <p:cNvSpPr/>
          <p:nvPr/>
        </p:nvSpPr>
        <p:spPr>
          <a:xfrm>
            <a:off x="11494080" y="545904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2"/>
          <p:cNvSpPr/>
          <p:nvPr/>
        </p:nvSpPr>
        <p:spPr>
          <a:xfrm>
            <a:off x="11128320" y="47275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11859840" y="50932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45720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PromptToApps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1124712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6 / 8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640080" y="164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201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CODE SNIPPET</a:t>
            </a:r>
            <a:endParaRPr b="0" lang="en-C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7"/>
          <p:cNvSpPr/>
          <p:nvPr/>
        </p:nvSpPr>
        <p:spPr>
          <a:xfrm>
            <a:off x="640080" y="4572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Pointing Spring AI at Ollama</a:t>
            </a:r>
            <a:endParaRPr b="0" lang="en-C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8"/>
          <p:cNvSpPr/>
          <p:nvPr/>
        </p:nvSpPr>
        <p:spPr>
          <a:xfrm>
            <a:off x="1737360" y="1645920"/>
            <a:ext cx="8686440" cy="4023000"/>
          </a:xfrm>
          <a:prstGeom prst="roundRect">
            <a:avLst>
              <a:gd name="adj" fmla="val 1818"/>
            </a:avLst>
          </a:prstGeom>
          <a:solidFill>
            <a:srgbClr val="121a2e"/>
          </a:solidFill>
          <a:ln w="9525">
            <a:solidFill>
              <a:srgbClr val="5b6478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9"/>
          <p:cNvSpPr/>
          <p:nvPr/>
        </p:nvSpPr>
        <p:spPr>
          <a:xfrm>
            <a:off x="1938600" y="1810440"/>
            <a:ext cx="91080" cy="91080"/>
          </a:xfrm>
          <a:prstGeom prst="ellipse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0"/>
          <p:cNvSpPr/>
          <p:nvPr/>
        </p:nvSpPr>
        <p:spPr>
          <a:xfrm>
            <a:off x="2139840" y="1810440"/>
            <a:ext cx="91080" cy="91080"/>
          </a:xfrm>
          <a:prstGeom prst="ellipse">
            <a:avLst/>
          </a:prstGeom>
          <a:solidFill>
            <a:srgbClr val="8b98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1"/>
          <p:cNvSpPr/>
          <p:nvPr/>
        </p:nvSpPr>
        <p:spPr>
          <a:xfrm>
            <a:off x="2340720" y="1810440"/>
            <a:ext cx="91080" cy="91080"/>
          </a:xfrm>
          <a:prstGeom prst="ellipse">
            <a:avLst/>
          </a:prstGeom>
          <a:solidFill>
            <a:srgbClr val="5fe0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2"/>
          <p:cNvSpPr/>
          <p:nvPr/>
        </p:nvSpPr>
        <p:spPr>
          <a:xfrm>
            <a:off x="8412480" y="17373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b98ac"/>
                </a:solidFill>
                <a:effectLst/>
                <a:uFillTx/>
                <a:latin typeface="Courier New"/>
                <a:ea typeface="Courier New"/>
              </a:rPr>
              <a:t>application.yml</a:t>
            </a:r>
            <a:endParaRPr b="0" lang="en-C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3"/>
          <p:cNvSpPr/>
          <p:nvPr/>
        </p:nvSpPr>
        <p:spPr>
          <a:xfrm>
            <a:off x="2057400" y="2148840"/>
            <a:ext cx="8137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spring:</a:t>
            </a:r>
            <a:endParaRPr b="0" lang="en-CA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4"/>
          <p:cNvSpPr/>
          <p:nvPr/>
        </p:nvSpPr>
        <p:spPr>
          <a:xfrm>
            <a:off x="2057400" y="2459880"/>
            <a:ext cx="8137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ai:</a:t>
            </a:r>
            <a:endParaRPr b="0" lang="en-CA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5"/>
          <p:cNvSpPr/>
          <p:nvPr/>
        </p:nvSpPr>
        <p:spPr>
          <a:xfrm>
            <a:off x="2057400" y="2770560"/>
            <a:ext cx="8137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  ollama:</a:t>
            </a:r>
            <a:endParaRPr b="0" lang="en-CA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6"/>
          <p:cNvSpPr/>
          <p:nvPr/>
        </p:nvSpPr>
        <p:spPr>
          <a:xfrm>
            <a:off x="2057400" y="3081600"/>
            <a:ext cx="8137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  base-url: </a:t>
            </a:r>
            <a:r>
              <a:rPr b="0" lang="en-US" sz="15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http://localhost:11434</a:t>
            </a:r>
            <a:endParaRPr b="0" lang="en-CA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7"/>
          <p:cNvSpPr/>
          <p:nvPr/>
        </p:nvSpPr>
        <p:spPr>
          <a:xfrm>
            <a:off x="2057400" y="3392280"/>
            <a:ext cx="8137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    chat:</a:t>
            </a:r>
            <a:endParaRPr b="0" lang="en-CA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8"/>
          <p:cNvSpPr/>
          <p:nvPr/>
        </p:nvSpPr>
        <p:spPr>
          <a:xfrm>
            <a:off x="2057400" y="3703320"/>
            <a:ext cx="8137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      options:</a:t>
            </a:r>
            <a:endParaRPr b="0" lang="en-CA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9"/>
          <p:cNvSpPr/>
          <p:nvPr/>
        </p:nvSpPr>
        <p:spPr>
          <a:xfrm>
            <a:off x="2057400" y="4014360"/>
            <a:ext cx="8137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      model: </a:t>
            </a:r>
            <a:r>
              <a:rPr b="0" lang="en-US" sz="15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llama3.2</a:t>
            </a:r>
            <a:endParaRPr b="0" lang="en-CA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0"/>
          <p:cNvSpPr/>
          <p:nvPr/>
        </p:nvSpPr>
        <p:spPr>
          <a:xfrm>
            <a:off x="2057400" y="4325040"/>
            <a:ext cx="8137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 31"/>
          <p:cNvSpPr/>
          <p:nvPr/>
        </p:nvSpPr>
        <p:spPr>
          <a:xfrm>
            <a:off x="2057400" y="4636080"/>
            <a:ext cx="8137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server:</a:t>
            </a:r>
            <a:endParaRPr b="0" lang="en-CA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2"/>
          <p:cNvSpPr/>
          <p:nvPr/>
        </p:nvSpPr>
        <p:spPr>
          <a:xfrm>
            <a:off x="2057400" y="4946760"/>
            <a:ext cx="8137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port: </a:t>
            </a:r>
            <a:r>
              <a:rPr b="0" lang="en-US" sz="15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8080</a:t>
            </a:r>
            <a:endParaRPr b="0" lang="en-CA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3"/>
          <p:cNvSpPr/>
          <p:nvPr/>
        </p:nvSpPr>
        <p:spPr>
          <a:xfrm>
            <a:off x="640080" y="589788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base-url</a:t>
            </a:r>
            <a:r>
              <a:rPr b="0" lang="en-US" sz="135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 and </a:t>
            </a:r>
            <a:r>
              <a:rPr b="0" lang="en-US" sz="135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model</a:t>
            </a:r>
            <a:r>
              <a:rPr b="0" lang="en-US" sz="135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 are the only two settings you need to get talking to Llama.</a:t>
            </a:r>
            <a:endParaRPr b="0" lang="en-C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429840" y="3384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1161360" y="7956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5"/>
          <p:cNvSpPr/>
          <p:nvPr/>
        </p:nvSpPr>
        <p:spPr>
          <a:xfrm>
            <a:off x="795600" y="15271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6"/>
          <p:cNvSpPr/>
          <p:nvPr/>
        </p:nvSpPr>
        <p:spPr>
          <a:xfrm>
            <a:off x="1710000" y="12528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10762560" y="60076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11494080" y="545904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2"/>
          <p:cNvSpPr/>
          <p:nvPr/>
        </p:nvSpPr>
        <p:spPr>
          <a:xfrm>
            <a:off x="11128320" y="47275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3"/>
          <p:cNvSpPr/>
          <p:nvPr/>
        </p:nvSpPr>
        <p:spPr>
          <a:xfrm>
            <a:off x="11859840" y="50932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4"/>
          <p:cNvSpPr/>
          <p:nvPr/>
        </p:nvSpPr>
        <p:spPr>
          <a:xfrm>
            <a:off x="45720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PromptToApps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5"/>
          <p:cNvSpPr/>
          <p:nvPr/>
        </p:nvSpPr>
        <p:spPr>
          <a:xfrm>
            <a:off x="1124712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7 / 8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640080" y="164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201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TRY IT</a:t>
            </a:r>
            <a:endParaRPr b="0" lang="en-C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640080" y="4572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Ask the bot a real question</a:t>
            </a:r>
            <a:endParaRPr b="0" lang="en-C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8"/>
          <p:cNvSpPr/>
          <p:nvPr/>
        </p:nvSpPr>
        <p:spPr>
          <a:xfrm>
            <a:off x="640080" y="1554480"/>
            <a:ext cx="10881000" cy="3840120"/>
          </a:xfrm>
          <a:prstGeom prst="roundRect">
            <a:avLst>
              <a:gd name="adj" fmla="val 1905"/>
            </a:avLst>
          </a:prstGeom>
          <a:solidFill>
            <a:srgbClr val="121a2e"/>
          </a:solidFill>
          <a:ln w="9525">
            <a:solidFill>
              <a:srgbClr val="5b6478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9"/>
          <p:cNvSpPr/>
          <p:nvPr/>
        </p:nvSpPr>
        <p:spPr>
          <a:xfrm>
            <a:off x="841320" y="1719000"/>
            <a:ext cx="91080" cy="91080"/>
          </a:xfrm>
          <a:prstGeom prst="ellipse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0"/>
          <p:cNvSpPr/>
          <p:nvPr/>
        </p:nvSpPr>
        <p:spPr>
          <a:xfrm>
            <a:off x="1042560" y="1719000"/>
            <a:ext cx="91080" cy="91080"/>
          </a:xfrm>
          <a:prstGeom prst="ellipse">
            <a:avLst/>
          </a:prstGeom>
          <a:solidFill>
            <a:srgbClr val="8b98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1"/>
          <p:cNvSpPr/>
          <p:nvPr/>
        </p:nvSpPr>
        <p:spPr>
          <a:xfrm>
            <a:off x="1243440" y="1719000"/>
            <a:ext cx="91080" cy="91080"/>
          </a:xfrm>
          <a:prstGeom prst="ellipse">
            <a:avLst/>
          </a:prstGeom>
          <a:solidFill>
            <a:srgbClr val="5fe0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2"/>
          <p:cNvSpPr/>
          <p:nvPr/>
        </p:nvSpPr>
        <p:spPr>
          <a:xfrm>
            <a:off x="9509760" y="16459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b98ac"/>
                </a:solidFill>
                <a:effectLst/>
                <a:uFillTx/>
                <a:latin typeface="Courier New"/>
                <a:ea typeface="Courier New"/>
              </a:rPr>
              <a:t>terminal</a:t>
            </a:r>
            <a:endParaRPr b="0" lang="en-C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3"/>
          <p:cNvSpPr/>
          <p:nvPr/>
        </p:nvSpPr>
        <p:spPr>
          <a:xfrm>
            <a:off x="960120" y="205740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0" lang="en-US" sz="14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curl -s -X POST http://localhost:8080/hr/ask \</a:t>
            </a:r>
            <a:endParaRPr b="0" lang="en-C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4"/>
          <p:cNvSpPr/>
          <p:nvPr/>
        </p:nvSpPr>
        <p:spPr>
          <a:xfrm>
            <a:off x="960120" y="244152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-H </a:t>
            </a:r>
            <a:r>
              <a:rPr b="0" lang="en-US" sz="14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"Content-Type: application/json"</a:t>
            </a:r>
            <a:r>
              <a:rPr b="0" lang="en-US" sz="14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\</a:t>
            </a:r>
            <a:endParaRPr b="0" lang="en-C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5"/>
          <p:cNvSpPr/>
          <p:nvPr/>
        </p:nvSpPr>
        <p:spPr>
          <a:xfrm>
            <a:off x="960120" y="282564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    -d </a:t>
            </a:r>
            <a:r>
              <a:rPr b="0" lang="en-US" sz="14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'{"question": "What is the parental leave policy?"}'</a:t>
            </a:r>
            <a:endParaRPr b="0" lang="en-C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6"/>
          <p:cNvSpPr/>
          <p:nvPr/>
        </p:nvSpPr>
        <p:spPr>
          <a:xfrm>
            <a:off x="960120" y="320940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27"/>
          <p:cNvSpPr/>
          <p:nvPr/>
        </p:nvSpPr>
        <p:spPr>
          <a:xfrm>
            <a:off x="960120" y="359352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en-C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8"/>
          <p:cNvSpPr/>
          <p:nvPr/>
        </p:nvSpPr>
        <p:spPr>
          <a:xfrm>
            <a:off x="960120" y="397764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"question"</a:t>
            </a:r>
            <a:r>
              <a:rPr b="0" lang="en-US" sz="14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: </a:t>
            </a:r>
            <a:r>
              <a:rPr b="0" lang="en-US" sz="14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"What is the parental leave policy?"</a:t>
            </a:r>
            <a:r>
              <a:rPr b="0" lang="en-US" sz="14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,</a:t>
            </a:r>
            <a:endParaRPr b="0" lang="en-C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9"/>
          <p:cNvSpPr/>
          <p:nvPr/>
        </p:nvSpPr>
        <p:spPr>
          <a:xfrm>
            <a:off x="960120" y="436176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  "answer"</a:t>
            </a:r>
            <a:r>
              <a:rPr b="0" lang="en-US" sz="14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: </a:t>
            </a:r>
            <a:r>
              <a:rPr b="0" lang="en-US" sz="1400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"Primary caregivers receive 16 weeks fully paid..."</a:t>
            </a:r>
            <a:endParaRPr b="0" lang="en-C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0"/>
          <p:cNvSpPr/>
          <p:nvPr/>
        </p:nvSpPr>
        <p:spPr>
          <a:xfrm>
            <a:off x="960120" y="474588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5e9f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en-C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1"/>
          <p:cNvSpPr/>
          <p:nvPr/>
        </p:nvSpPr>
        <p:spPr>
          <a:xfrm>
            <a:off x="0" y="5715000"/>
            <a:ext cx="12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8b98ac"/>
                </a:solidFill>
                <a:effectLst/>
                <a:uFillTx/>
                <a:latin typeface="Calibri"/>
                <a:ea typeface="Calibri"/>
              </a:rPr>
              <a:t>One request. A real answer. No OpenAI account required.</a:t>
            </a:r>
            <a:endParaRPr b="0" lang="en-C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429840" y="3384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1161360" y="7956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795600" y="15271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1710000" y="125280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ln w="9525">
            <a:solidFill>
              <a:srgbClr val="5b647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10762560" y="60076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11494080" y="545904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11128320" y="472752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11859840" y="5093280"/>
            <a:ext cx="54360" cy="54360"/>
          </a:xfrm>
          <a:prstGeom prst="ellipse">
            <a:avLst/>
          </a:prstGeom>
          <a:solidFill>
            <a:srgbClr val="8b98a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45720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PromptToApps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1124712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478"/>
                </a:solidFill>
                <a:effectLst/>
                <a:uFillTx/>
                <a:latin typeface="Courier New"/>
                <a:ea typeface="Courier New"/>
              </a:rPr>
              <a:t>8 / 8</a:t>
            </a:r>
            <a:endParaRPr b="0" lang="en-C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640080" y="164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201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RECAP</a:t>
            </a:r>
            <a:endParaRPr b="0" lang="en-C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7"/>
          <p:cNvSpPr/>
          <p:nvPr/>
        </p:nvSpPr>
        <p:spPr>
          <a:xfrm>
            <a:off x="640080" y="4572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What we built</a:t>
            </a:r>
            <a:endParaRPr b="0" lang="en-C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8"/>
          <p:cNvSpPr/>
          <p:nvPr/>
        </p:nvSpPr>
        <p:spPr>
          <a:xfrm>
            <a:off x="640080" y="1463040"/>
            <a:ext cx="10881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5e9f0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A working AI Q&amp;A endpoint — /hr/ask</a:t>
            </a:r>
            <a:endParaRPr b="0" lang="en-CA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5e9f0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Powered by Spring AI's ChatClient + Ollama's llama3.2</a:t>
            </a:r>
            <a:endParaRPr b="0" lang="en-CA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5e9f0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Runs entirely on your laptop — zero cost, zero API key</a:t>
            </a:r>
            <a:endParaRPr b="0" lang="en-CA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640080" y="3474720"/>
            <a:ext cx="10881000" cy="173700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914400" y="3657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201" strike="noStrike" u="none">
                <a:solidFill>
                  <a:srgbClr val="5fe0c5"/>
                </a:solidFill>
                <a:effectLst/>
                <a:uFillTx/>
                <a:latin typeface="Courier New"/>
                <a:ea typeface="Courier New"/>
              </a:rPr>
              <a:t>WHAT'S NEXT</a:t>
            </a:r>
            <a:endParaRPr b="0" lang="en-C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1"/>
          <p:cNvSpPr/>
          <p:nvPr/>
        </p:nvSpPr>
        <p:spPr>
          <a:xfrm>
            <a:off x="914400" y="3977640"/>
            <a:ext cx="10332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5e9f0"/>
                </a:solidFill>
                <a:effectLst/>
                <a:uFillTx/>
                <a:latin typeface="Calibri"/>
                <a:ea typeface="Calibri"/>
              </a:rPr>
              <a:t>Chapter 2 — Core Concepts</a:t>
            </a:r>
            <a:endParaRPr b="0" lang="en-CA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Tokens, Messages, and ChatOptions — what actually travels</a:t>
            </a:r>
            <a:endParaRPr b="0" lang="en-CA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b8c0d0"/>
                </a:solidFill>
                <a:effectLst/>
                <a:uFillTx/>
                <a:latin typeface="Calibri"/>
                <a:ea typeface="Calibri"/>
              </a:rPr>
              <a:t>between your app and the model on every call.</a:t>
            </a:r>
            <a:endParaRPr b="0" lang="en-CA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2026-06-24T23:11:09Z</dcterms:created>
  <dc:creator>PromptToApps</dc:creator>
  <dc:description/>
  <dc:language>en-CA</dc:language>
  <cp:lastModifiedBy/>
  <dcterms:modified xsi:type="dcterms:W3CDTF">2026-06-24T16:18:05Z</dcterms:modified>
  <cp:revision>2</cp:revision>
  <dc:subject>PptxGenJS Presentation</dc:subject>
  <dc:title>Chapter 1 — Hello, Spring AI!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