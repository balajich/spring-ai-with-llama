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9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5166360" y="914400"/>
            <a:ext cx="1828800" cy="502920"/>
          </a:xfrm>
          <a:prstGeom prst="roundRect">
            <a:avLst>
              <a:gd name="adj" fmla="val 50909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66360" y="914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CHAPTER </a:t>
            </a:r>
            <a:pPr algn="ctr" indent="0" marL="0">
              <a:buNone/>
            </a:pPr>
            <a:r>
              <a:rPr lang="en-US" sz="168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80" dirty="0"/>
          </a:p>
        </p:txBody>
      </p:sp>
      <p:sp>
        <p:nvSpPr>
          <p:cNvPr id="20" name="Text 18"/>
          <p:cNvSpPr/>
          <p:nvPr/>
        </p:nvSpPr>
        <p:spPr>
          <a:xfrm>
            <a:off x="0" y="1828800"/>
            <a:ext cx="1216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2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Hello, Spring AI!</a:t>
            </a:r>
            <a:endParaRPr lang="en-US" sz="5520" dirty="0"/>
          </a:p>
        </p:txBody>
      </p:sp>
      <p:sp>
        <p:nvSpPr>
          <p:cNvPr id="21" name="Text 19"/>
          <p:cNvSpPr/>
          <p:nvPr/>
        </p:nvSpPr>
        <p:spPr>
          <a:xfrm>
            <a:off x="0" y="274320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ChatClient</a:t>
            </a:r>
            <a:pPr algn="ctr" indent="0" marL="0">
              <a:buNone/>
            </a:pPr>
            <a:r>
              <a:rPr lang="en-US" sz="24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Ollama Setup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4251960" y="3520440"/>
            <a:ext cx="3657600" cy="0"/>
          </a:xfrm>
          <a:prstGeom prst="line">
            <a:avLst/>
          </a:prstGeom>
          <a:noFill/>
          <a:ln w="12700">
            <a:solidFill>
              <a:srgbClr val="5B6478">
                <a:alpha val="7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10812" y="34792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F2A93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39612" y="34792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8B98A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8412" y="34792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5FE0C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0" y="370332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AI with Llama  ·  PromptToApps</a:t>
            </a:r>
            <a:endParaRPr lang="en-US" sz="15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9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Sarah's inbox is full of the same question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640080" y="1554480"/>
            <a:ext cx="6492240" cy="3931920"/>
          </a:xfrm>
          <a:prstGeom prst="roundRect">
            <a:avLst>
              <a:gd name="adj" fmla="val 2791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1783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✉  inbox — HR@TechCorp</a:t>
            </a:r>
            <a:endParaRPr lang="en-US" sz="1560" dirty="0"/>
          </a:p>
        </p:txBody>
      </p:sp>
      <p:sp>
        <p:nvSpPr>
          <p:cNvPr id="22" name="Shape 20"/>
          <p:cNvSpPr/>
          <p:nvPr/>
        </p:nvSpPr>
        <p:spPr>
          <a:xfrm>
            <a:off x="914400" y="2286000"/>
            <a:ext cx="5943600" cy="594360"/>
          </a:xfrm>
          <a:prstGeom prst="roundRect">
            <a:avLst>
              <a:gd name="adj" fmla="val 12308"/>
            </a:avLst>
          </a:prstGeom>
          <a:solidFill>
            <a:srgbClr val="172238"/>
          </a:solidFill>
          <a:ln/>
        </p:spPr>
      </p:sp>
      <p:sp>
        <p:nvSpPr>
          <p:cNvPr id="23" name="Text 21"/>
          <p:cNvSpPr/>
          <p:nvPr/>
        </p:nvSpPr>
        <p:spPr>
          <a:xfrm>
            <a:off x="1143000" y="22860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i="1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"What's our parental leave policy?"</a:t>
            </a:r>
            <a:endParaRPr lang="en-US" sz="1620" dirty="0"/>
          </a:p>
        </p:txBody>
      </p:sp>
      <p:sp>
        <p:nvSpPr>
          <p:cNvPr id="24" name="Shape 22"/>
          <p:cNvSpPr/>
          <p:nvPr/>
        </p:nvSpPr>
        <p:spPr>
          <a:xfrm>
            <a:off x="914400" y="3063240"/>
            <a:ext cx="5943600" cy="594360"/>
          </a:xfrm>
          <a:prstGeom prst="roundRect">
            <a:avLst>
              <a:gd name="adj" fmla="val 12308"/>
            </a:avLst>
          </a:prstGeom>
          <a:solidFill>
            <a:srgbClr val="172238"/>
          </a:solidFill>
          <a:ln/>
        </p:spPr>
      </p:sp>
      <p:sp>
        <p:nvSpPr>
          <p:cNvPr id="25" name="Text 23"/>
          <p:cNvSpPr/>
          <p:nvPr/>
        </p:nvSpPr>
        <p:spPr>
          <a:xfrm>
            <a:off x="1143000" y="30632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i="1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many vacation days do I have left?"</a:t>
            </a:r>
            <a:endParaRPr lang="en-US" sz="1620" dirty="0"/>
          </a:p>
        </p:txBody>
      </p:sp>
      <p:sp>
        <p:nvSpPr>
          <p:cNvPr id="26" name="Shape 24"/>
          <p:cNvSpPr/>
          <p:nvPr/>
        </p:nvSpPr>
        <p:spPr>
          <a:xfrm>
            <a:off x="914400" y="3840480"/>
            <a:ext cx="5943600" cy="594360"/>
          </a:xfrm>
          <a:prstGeom prst="roundRect">
            <a:avLst>
              <a:gd name="adj" fmla="val 12308"/>
            </a:avLst>
          </a:prstGeom>
          <a:solidFill>
            <a:srgbClr val="172238"/>
          </a:solidFill>
          <a:ln/>
        </p:spPr>
      </p:sp>
      <p:sp>
        <p:nvSpPr>
          <p:cNvPr id="27" name="Text 25"/>
          <p:cNvSpPr/>
          <p:nvPr/>
        </p:nvSpPr>
        <p:spPr>
          <a:xfrm>
            <a:off x="1143000" y="384048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i="1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"What's the dress code for client visits?"</a:t>
            </a:r>
            <a:endParaRPr lang="en-US" sz="1620" dirty="0"/>
          </a:p>
        </p:txBody>
      </p:sp>
      <p:sp>
        <p:nvSpPr>
          <p:cNvPr id="28" name="Shape 26"/>
          <p:cNvSpPr/>
          <p:nvPr/>
        </p:nvSpPr>
        <p:spPr>
          <a:xfrm>
            <a:off x="914400" y="4617720"/>
            <a:ext cx="5943600" cy="594360"/>
          </a:xfrm>
          <a:prstGeom prst="roundRect">
            <a:avLst>
              <a:gd name="adj" fmla="val 12308"/>
            </a:avLst>
          </a:prstGeom>
          <a:solidFill>
            <a:srgbClr val="172238"/>
          </a:solidFill>
          <a:ln/>
        </p:spPr>
      </p:sp>
      <p:sp>
        <p:nvSpPr>
          <p:cNvPr id="29" name="Text 27"/>
          <p:cNvSpPr/>
          <p:nvPr/>
        </p:nvSpPr>
        <p:spPr>
          <a:xfrm>
            <a:off x="1143000" y="461772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i="1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I expense a client dinner?"</a:t>
            </a:r>
            <a:endParaRPr lang="en-US" sz="1620" dirty="0"/>
          </a:p>
        </p:txBody>
      </p:sp>
      <p:sp>
        <p:nvSpPr>
          <p:cNvPr id="30" name="Text 28"/>
          <p:cNvSpPr/>
          <p:nvPr/>
        </p:nvSpPr>
        <p:spPr>
          <a:xfrm>
            <a:off x="7406640" y="1783080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2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Sarah</a:t>
            </a:r>
            <a:endParaRPr lang="en-US" sz="19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40" dirty="0">
                <a:solidFill>
                  <a:srgbClr val="8B9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Manager, TechCorp</a:t>
            </a:r>
            <a:endParaRPr lang="en-US" sz="19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2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9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questions, every day. She needs a first</a:t>
            </a:r>
            <a:endParaRPr lang="en-US" sz="19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of defense that answers instantly —</a:t>
            </a:r>
            <a:endParaRPr lang="en-US" sz="19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her typing the same reply twice.</a:t>
            </a:r>
            <a:endParaRPr lang="en-US" sz="19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9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CONCEPT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ChatClient — one API for any model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4630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16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ChatClient</a:t>
            </a:r>
            <a:pPr indent="0" marL="0">
              <a:lnSpc>
                <a:spcPct val="130000"/>
              </a:lnSpc>
              <a:buNone/>
            </a:pPr>
            <a:r>
              <a:rPr lang="en-US" sz="21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Spring AI's single fluent API for talking to an LLM — build it once with </a:t>
            </a:r>
            <a:pPr indent="0" marL="0">
              <a:lnSpc>
                <a:spcPct val="130000"/>
              </a:lnSpc>
              <a:buNone/>
            </a:pPr>
            <a:r>
              <a:rPr lang="en-US" sz="216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.prompt().user(...).call()</a:t>
            </a:r>
            <a:pPr indent="0" marL="0">
              <a:lnSpc>
                <a:spcPct val="130000"/>
              </a:lnSpc>
              <a:buNone/>
            </a:pPr>
            <a:r>
              <a:rPr lang="en-US" sz="21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model behind it can change without touching your code.</a:t>
            </a:r>
            <a:endParaRPr lang="en-US" sz="2160" dirty="0"/>
          </a:p>
        </p:txBody>
      </p:sp>
      <p:sp>
        <p:nvSpPr>
          <p:cNvPr id="21" name="Shape 19"/>
          <p:cNvSpPr/>
          <p:nvPr/>
        </p:nvSpPr>
        <p:spPr>
          <a:xfrm>
            <a:off x="640080" y="2926080"/>
            <a:ext cx="320040" cy="320040"/>
          </a:xfrm>
          <a:prstGeom prst="ellipse">
            <a:avLst/>
          </a:prstGeom>
          <a:solidFill>
            <a:srgbClr val="0A0F1C"/>
          </a:solidFill>
          <a:ln w="22225">
            <a:solidFill>
              <a:srgbClr val="F2A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2926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60" dirty="0"/>
          </a:p>
        </p:txBody>
      </p:sp>
      <p:sp>
        <p:nvSpPr>
          <p:cNvPr id="23" name="Text 21"/>
          <p:cNvSpPr/>
          <p:nvPr/>
        </p:nvSpPr>
        <p:spPr>
          <a:xfrm>
            <a:off x="1143000" y="288036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20" b="1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 pattern</a:t>
            </a:r>
            <a:endParaRPr lang="en-US" sz="1920" dirty="0"/>
          </a:p>
          <a:p>
            <a:pPr indent="0" marL="0"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ChatClient.builder(chatModel).build() — configure once, reuse everywhere</a:t>
            </a:r>
            <a:endParaRPr lang="en-US" sz="1920" dirty="0"/>
          </a:p>
        </p:txBody>
      </p:sp>
      <p:sp>
        <p:nvSpPr>
          <p:cNvPr id="24" name="Shape 22"/>
          <p:cNvSpPr/>
          <p:nvPr/>
        </p:nvSpPr>
        <p:spPr>
          <a:xfrm>
            <a:off x="640080" y="3886200"/>
            <a:ext cx="320040" cy="320040"/>
          </a:xfrm>
          <a:prstGeom prst="ellipse">
            <a:avLst/>
          </a:prstGeom>
          <a:solidFill>
            <a:srgbClr val="0A0F1C"/>
          </a:solidFill>
          <a:ln w="22225">
            <a:solidFill>
              <a:srgbClr val="8B98A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8862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560" dirty="0"/>
          </a:p>
        </p:txBody>
      </p:sp>
      <p:sp>
        <p:nvSpPr>
          <p:cNvPr id="26" name="Text 24"/>
          <p:cNvSpPr/>
          <p:nvPr/>
        </p:nvSpPr>
        <p:spPr>
          <a:xfrm>
            <a:off x="1143000" y="38404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20" b="1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Provider-agnostic</a:t>
            </a:r>
            <a:endParaRPr lang="en-US" sz="1920" dirty="0"/>
          </a:p>
          <a:p>
            <a:pPr indent="0" marL="0"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it's Ollama + llama3.2. Swap to another provider, same calling code</a:t>
            </a:r>
            <a:endParaRPr lang="en-US" sz="1920" dirty="0"/>
          </a:p>
        </p:txBody>
      </p:sp>
      <p:sp>
        <p:nvSpPr>
          <p:cNvPr id="27" name="Shape 25"/>
          <p:cNvSpPr/>
          <p:nvPr/>
        </p:nvSpPr>
        <p:spPr>
          <a:xfrm>
            <a:off x="640080" y="4846320"/>
            <a:ext cx="320040" cy="320040"/>
          </a:xfrm>
          <a:prstGeom prst="ellipse">
            <a:avLst/>
          </a:prstGeom>
          <a:solidFill>
            <a:srgbClr val="0A0F1C"/>
          </a:solidFill>
          <a:ln w="22225">
            <a:solidFill>
              <a:srgbClr val="5FE0C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846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560" dirty="0"/>
          </a:p>
        </p:txBody>
      </p:sp>
      <p:sp>
        <p:nvSpPr>
          <p:cNvPr id="29" name="Text 27"/>
          <p:cNvSpPr/>
          <p:nvPr/>
        </p:nvSpPr>
        <p:spPr>
          <a:xfrm>
            <a:off x="1143000" y="48006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20" b="1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calls</a:t>
            </a:r>
            <a:endParaRPr lang="en-US" sz="1920" dirty="0"/>
          </a:p>
          <a:p>
            <a:pPr indent="0" marL="0"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prompt().user(question).call().content() reads like plain English</a:t>
            </a:r>
            <a:endParaRPr lang="en-US" sz="19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9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a question becomes an answer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640080" y="246888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 w="19050">
            <a:solidFill>
              <a:srgbClr val="8B98A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2960" y="2743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/ Browser</a:t>
            </a:r>
            <a:endParaRPr lang="en-US" sz="1920" dirty="0"/>
          </a:p>
        </p:txBody>
      </p:sp>
      <p:sp>
        <p:nvSpPr>
          <p:cNvPr id="22" name="Text 20"/>
          <p:cNvSpPr/>
          <p:nvPr/>
        </p:nvSpPr>
        <p:spPr>
          <a:xfrm>
            <a:off x="822960" y="3246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/hr/ask</a:t>
            </a:r>
            <a:endParaRPr lang="en-US" sz="1560" dirty="0"/>
          </a:p>
        </p:txBody>
      </p:sp>
      <p:sp>
        <p:nvSpPr>
          <p:cNvPr id="23" name="Shape 21"/>
          <p:cNvSpPr/>
          <p:nvPr/>
        </p:nvSpPr>
        <p:spPr>
          <a:xfrm>
            <a:off x="3977640" y="24688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 w="1905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160520" y="2743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Boot App</a:t>
            </a:r>
            <a:endParaRPr lang="en-US" sz="1920" dirty="0"/>
          </a:p>
        </p:txBody>
      </p:sp>
      <p:sp>
        <p:nvSpPr>
          <p:cNvPr id="25" name="Text 23"/>
          <p:cNvSpPr/>
          <p:nvPr/>
        </p:nvSpPr>
        <p:spPr>
          <a:xfrm>
            <a:off x="416052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ChatClient</a:t>
            </a:r>
            <a:endParaRPr lang="en-US" sz="1560" dirty="0"/>
          </a:p>
        </p:txBody>
      </p:sp>
      <p:sp>
        <p:nvSpPr>
          <p:cNvPr id="26" name="Shape 24"/>
          <p:cNvSpPr/>
          <p:nvPr/>
        </p:nvSpPr>
        <p:spPr>
          <a:xfrm>
            <a:off x="7726680" y="24688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 w="19050">
            <a:solidFill>
              <a:srgbClr val="5FE0C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909560" y="2743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</a:t>
            </a:r>
            <a:endParaRPr lang="en-US" sz="1920" dirty="0"/>
          </a:p>
        </p:txBody>
      </p:sp>
      <p:sp>
        <p:nvSpPr>
          <p:cNvPr id="28" name="Text 26"/>
          <p:cNvSpPr/>
          <p:nvPr/>
        </p:nvSpPr>
        <p:spPr>
          <a:xfrm>
            <a:off x="79095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llama3.2 model</a:t>
            </a:r>
            <a:endParaRPr lang="en-US" sz="1560" dirty="0"/>
          </a:p>
        </p:txBody>
      </p:sp>
      <p:sp>
        <p:nvSpPr>
          <p:cNvPr id="29" name="Shape 27"/>
          <p:cNvSpPr/>
          <p:nvPr/>
        </p:nvSpPr>
        <p:spPr>
          <a:xfrm>
            <a:off x="3017520" y="2880360"/>
            <a:ext cx="960120" cy="0"/>
          </a:xfrm>
          <a:prstGeom prst="line">
            <a:avLst/>
          </a:prstGeom>
          <a:noFill/>
          <a:ln w="25400">
            <a:solidFill>
              <a:srgbClr val="8B98AC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2788920" y="2423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</a:t>
            </a:r>
            <a:endParaRPr lang="en-US" sz="1260" dirty="0"/>
          </a:p>
        </p:txBody>
      </p:sp>
      <p:sp>
        <p:nvSpPr>
          <p:cNvPr id="31" name="Shape 29"/>
          <p:cNvSpPr/>
          <p:nvPr/>
        </p:nvSpPr>
        <p:spPr>
          <a:xfrm>
            <a:off x="3017520" y="3429000"/>
            <a:ext cx="960120" cy="0"/>
          </a:xfrm>
          <a:prstGeom prst="line">
            <a:avLst/>
          </a:prstGeom>
          <a:noFill/>
          <a:ln w="25400">
            <a:solidFill>
              <a:srgbClr val="F2A93B"/>
            </a:solidFill>
            <a:prstDash val="solid"/>
            <a:headEnd type="triangle"/>
          </a:ln>
        </p:spPr>
      </p:sp>
      <p:sp>
        <p:nvSpPr>
          <p:cNvPr id="32" name="Text 30"/>
          <p:cNvSpPr/>
          <p:nvPr/>
        </p:nvSpPr>
        <p:spPr>
          <a:xfrm>
            <a:off x="27889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</a:t>
            </a:r>
            <a:endParaRPr lang="en-US" sz="1260" dirty="0"/>
          </a:p>
        </p:txBody>
      </p:sp>
      <p:sp>
        <p:nvSpPr>
          <p:cNvPr id="33" name="Shape 31"/>
          <p:cNvSpPr/>
          <p:nvPr/>
        </p:nvSpPr>
        <p:spPr>
          <a:xfrm>
            <a:off x="6720840" y="2880360"/>
            <a:ext cx="1005840" cy="0"/>
          </a:xfrm>
          <a:prstGeom prst="line">
            <a:avLst/>
          </a:prstGeom>
          <a:noFill/>
          <a:ln w="25400">
            <a:solidFill>
              <a:srgbClr val="F2A93B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492240" y="2423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</a:t>
            </a:r>
            <a:endParaRPr lang="en-US" sz="1260" dirty="0"/>
          </a:p>
        </p:txBody>
      </p:sp>
      <p:sp>
        <p:nvSpPr>
          <p:cNvPr id="35" name="Shape 33"/>
          <p:cNvSpPr/>
          <p:nvPr/>
        </p:nvSpPr>
        <p:spPr>
          <a:xfrm>
            <a:off x="6720840" y="3429000"/>
            <a:ext cx="1005840" cy="0"/>
          </a:xfrm>
          <a:prstGeom prst="line">
            <a:avLst/>
          </a:prstGeom>
          <a:noFill/>
          <a:ln w="25400">
            <a:solidFill>
              <a:srgbClr val="5FE0C5"/>
            </a:solidFill>
            <a:prstDash val="solid"/>
            <a:headEnd type="triangle"/>
          </a:ln>
        </p:spPr>
      </p:sp>
      <p:sp>
        <p:nvSpPr>
          <p:cNvPr id="36" name="Text 34"/>
          <p:cNvSpPr/>
          <p:nvPr/>
        </p:nvSpPr>
        <p:spPr>
          <a:xfrm>
            <a:off x="649224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completion</a:t>
            </a:r>
            <a:endParaRPr lang="en-US" sz="1260" dirty="0"/>
          </a:p>
        </p:txBody>
      </p:sp>
      <p:sp>
        <p:nvSpPr>
          <p:cNvPr id="37" name="Text 35"/>
          <p:cNvSpPr/>
          <p:nvPr/>
        </p:nvSpPr>
        <p:spPr>
          <a:xfrm>
            <a:off x="3977640" y="3977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localhost:8080</a:t>
            </a:r>
            <a:endParaRPr lang="en-US" sz="1320" dirty="0"/>
          </a:p>
        </p:txBody>
      </p:sp>
      <p:sp>
        <p:nvSpPr>
          <p:cNvPr id="38" name="Text 36"/>
          <p:cNvSpPr/>
          <p:nvPr/>
        </p:nvSpPr>
        <p:spPr>
          <a:xfrm>
            <a:off x="7726680" y="3977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localhost:11434</a:t>
            </a:r>
            <a:endParaRPr lang="en-US" sz="13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9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 SNIPPET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Controller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640080" y="1234440"/>
            <a:ext cx="10881360" cy="5029200"/>
          </a:xfrm>
          <a:prstGeom prst="roundRect">
            <a:avLst>
              <a:gd name="adj" fmla="val 1455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1399032"/>
            <a:ext cx="91440" cy="914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42416" y="1399032"/>
            <a:ext cx="91440" cy="91440"/>
          </a:xfrm>
          <a:prstGeom prst="ellipse">
            <a:avLst/>
          </a:prstGeom>
          <a:solidFill>
            <a:srgbClr val="8B98AC"/>
          </a:solidFill>
          <a:ln/>
        </p:spPr>
      </p:sp>
      <p:sp>
        <p:nvSpPr>
          <p:cNvPr id="23" name="Shape 21"/>
          <p:cNvSpPr/>
          <p:nvPr/>
        </p:nvSpPr>
        <p:spPr>
          <a:xfrm>
            <a:off x="1243584" y="1399032"/>
            <a:ext cx="91440" cy="91440"/>
          </a:xfrm>
          <a:prstGeom prst="ellipse">
            <a:avLst/>
          </a:prstGeom>
          <a:solidFill>
            <a:srgbClr val="5FE0C5"/>
          </a:solidFill>
          <a:ln/>
        </p:spPr>
      </p:sp>
      <p:sp>
        <p:nvSpPr>
          <p:cNvPr id="24" name="Text 22"/>
          <p:cNvSpPr/>
          <p:nvPr/>
        </p:nvSpPr>
        <p:spPr>
          <a:xfrm>
            <a:off x="9509760" y="1325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HrController.java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" y="16916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@RestController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60120" y="196596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@RequestMapping</a:t>
            </a:r>
            <a:pPr indent="0" marL="0">
              <a:buNone/>
            </a:pPr>
            <a:r>
              <a:rPr lang="en-US" sz="15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("/hr")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60120" y="22402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HrController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60120" y="251460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final </a:t>
            </a:r>
            <a:pPr indent="0" marL="0">
              <a:buNone/>
            </a:pPr>
            <a:r>
              <a:rPr lang="en-US" sz="15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ChatClient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chatClient;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0120" y="27889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HrController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(ChatClient.Builder builder) {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60120" y="30632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this.chatClient = builder.build();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60120" y="333756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60120" y="36118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@PostMapping</a:t>
            </a:r>
            <a:pPr indent="0" marL="0">
              <a:buNone/>
            </a:pPr>
            <a:r>
              <a:rPr lang="en-US" sz="15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("/ask")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60120" y="388620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</a:t>
            </a:r>
            <a:pPr indent="0" marL="0">
              <a:buNone/>
            </a:pPr>
            <a:r>
              <a:rPr lang="en-US" sz="15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HrResponse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ask(@RequestBody HrRequest request) {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60120" y="41605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answer = chatClient.prompt()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60120" y="44348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.user(request.question())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60120" y="470916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.call()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60120" y="49834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.content();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60120" y="525780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new </a:t>
            </a:r>
            <a:pPr indent="0" marL="0">
              <a:buNone/>
            </a:pPr>
            <a:r>
              <a:rPr lang="en-US" sz="15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HrResponse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(request.question(), answer);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60120" y="55321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960120" y="58064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9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 SNIPPET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Pointing Spring AI at Ollama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1737360" y="1645920"/>
            <a:ext cx="8686800" cy="4023360"/>
          </a:xfrm>
          <a:prstGeom prst="roundRect">
            <a:avLst>
              <a:gd name="adj" fmla="val 1818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938528" y="1810512"/>
            <a:ext cx="91440" cy="914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2" name="Shape 20"/>
          <p:cNvSpPr/>
          <p:nvPr/>
        </p:nvSpPr>
        <p:spPr>
          <a:xfrm>
            <a:off x="2139696" y="1810512"/>
            <a:ext cx="91440" cy="91440"/>
          </a:xfrm>
          <a:prstGeom prst="ellipse">
            <a:avLst/>
          </a:prstGeom>
          <a:solidFill>
            <a:srgbClr val="8B98AC"/>
          </a:solidFill>
          <a:ln/>
        </p:spPr>
      </p:sp>
      <p:sp>
        <p:nvSpPr>
          <p:cNvPr id="23" name="Shape 21"/>
          <p:cNvSpPr/>
          <p:nvPr/>
        </p:nvSpPr>
        <p:spPr>
          <a:xfrm>
            <a:off x="2340864" y="1810512"/>
            <a:ext cx="91440" cy="91440"/>
          </a:xfrm>
          <a:prstGeom prst="ellipse">
            <a:avLst/>
          </a:prstGeom>
          <a:solidFill>
            <a:srgbClr val="5FE0C5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0" y="1737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application.yml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057400" y="2148840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spring: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2057400" y="2523744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ai: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2057400" y="2898648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ollama: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2057400" y="3273552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base-url: </a:t>
            </a:r>
            <a:pPr indent="0" marL="0">
              <a:buNone/>
            </a:pPr>
            <a:r>
              <a:rPr lang="en-US" sz="18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http://localhost:11434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2057400" y="3648456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chat: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2057400" y="4023360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options: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2057400" y="4398264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model: </a:t>
            </a:r>
            <a:pPr indent="0" marL="0">
              <a:buNone/>
            </a:pPr>
            <a:r>
              <a:rPr lang="en-US" sz="18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llama3.2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2057400" y="4773168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2057400" y="5148072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server: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2057400" y="5522976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port: </a:t>
            </a:r>
            <a:pPr indent="0" marL="0">
              <a:buNone/>
            </a:pPr>
            <a:r>
              <a:rPr lang="en-US" sz="18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8080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2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base-url</a:t>
            </a:r>
            <a:pPr algn="ctr" indent="0" marL="0"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ctr" indent="0" marL="0">
              <a:buNone/>
            </a:pPr>
            <a:r>
              <a:rPr lang="en-US" sz="162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ctr" indent="0" marL="0"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the only two settings you need to get talking to Llama.</a:t>
            </a:r>
            <a:endParaRPr lang="en-US" sz="16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9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Ask the bot a real question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640080" y="1554480"/>
            <a:ext cx="10881360" cy="3840480"/>
          </a:xfrm>
          <a:prstGeom prst="roundRect">
            <a:avLst>
              <a:gd name="adj" fmla="val 1905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1719072"/>
            <a:ext cx="91440" cy="914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42416" y="1719072"/>
            <a:ext cx="91440" cy="91440"/>
          </a:xfrm>
          <a:prstGeom prst="ellipse">
            <a:avLst/>
          </a:prstGeom>
          <a:solidFill>
            <a:srgbClr val="8B98AC"/>
          </a:solidFill>
          <a:ln/>
        </p:spPr>
      </p:sp>
      <p:sp>
        <p:nvSpPr>
          <p:cNvPr id="23" name="Shape 21"/>
          <p:cNvSpPr/>
          <p:nvPr/>
        </p:nvSpPr>
        <p:spPr>
          <a:xfrm>
            <a:off x="1243584" y="1719072"/>
            <a:ext cx="91440" cy="91440"/>
          </a:xfrm>
          <a:prstGeom prst="ellipse">
            <a:avLst/>
          </a:prstGeom>
          <a:solidFill>
            <a:srgbClr val="5FE0C5"/>
          </a:solidFill>
          <a:ln/>
        </p:spPr>
      </p:sp>
      <p:sp>
        <p:nvSpPr>
          <p:cNvPr id="24" name="Text 22"/>
          <p:cNvSpPr/>
          <p:nvPr/>
        </p:nvSpPr>
        <p:spPr>
          <a:xfrm>
            <a:off x="950976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" y="20574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-X POST http://localhost:8080/hr/ask \</a:t>
            </a:r>
            <a:endParaRPr lang="en-US" sz="1680" dirty="0"/>
          </a:p>
        </p:txBody>
      </p:sp>
      <p:sp>
        <p:nvSpPr>
          <p:cNvPr id="26" name="Text 24"/>
          <p:cNvSpPr/>
          <p:nvPr/>
        </p:nvSpPr>
        <p:spPr>
          <a:xfrm>
            <a:off x="960120" y="25146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-H </a:t>
            </a:r>
            <a:pPr indent="0" marL="0">
              <a:buNone/>
            </a:pPr>
            <a:r>
              <a:rPr lang="en-US" sz="168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"Content-Type: application/json"</a:t>
            </a:r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\</a:t>
            </a:r>
            <a:endParaRPr lang="en-US" sz="1680" dirty="0"/>
          </a:p>
        </p:txBody>
      </p:sp>
      <p:sp>
        <p:nvSpPr>
          <p:cNvPr id="27" name="Text 25"/>
          <p:cNvSpPr/>
          <p:nvPr/>
        </p:nvSpPr>
        <p:spPr>
          <a:xfrm>
            <a:off x="960120" y="2971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-d </a:t>
            </a:r>
            <a:pPr indent="0" marL="0">
              <a:buNone/>
            </a:pPr>
            <a:r>
              <a:rPr lang="en-US" sz="168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'{"question": "What is the parental leave policy?"}'</a:t>
            </a:r>
            <a:endParaRPr lang="en-US" sz="1680" dirty="0"/>
          </a:p>
        </p:txBody>
      </p:sp>
      <p:sp>
        <p:nvSpPr>
          <p:cNvPr id="28" name="Text 26"/>
          <p:cNvSpPr/>
          <p:nvPr/>
        </p:nvSpPr>
        <p:spPr>
          <a:xfrm>
            <a:off x="960120" y="3429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80" dirty="0"/>
          </a:p>
        </p:txBody>
      </p:sp>
      <p:sp>
        <p:nvSpPr>
          <p:cNvPr id="29" name="Text 27"/>
          <p:cNvSpPr/>
          <p:nvPr/>
        </p:nvSpPr>
        <p:spPr>
          <a:xfrm>
            <a:off x="960120" y="38862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680" dirty="0"/>
          </a:p>
        </p:txBody>
      </p:sp>
      <p:sp>
        <p:nvSpPr>
          <p:cNvPr id="30" name="Text 28"/>
          <p:cNvSpPr/>
          <p:nvPr/>
        </p:nvSpPr>
        <p:spPr>
          <a:xfrm>
            <a:off x="960120" y="43434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"question"</a:t>
            </a:r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68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"What is the parental leave policy?"</a:t>
            </a:r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680" dirty="0"/>
          </a:p>
        </p:txBody>
      </p:sp>
      <p:sp>
        <p:nvSpPr>
          <p:cNvPr id="31" name="Text 29"/>
          <p:cNvSpPr/>
          <p:nvPr/>
        </p:nvSpPr>
        <p:spPr>
          <a:xfrm>
            <a:off x="960120" y="48006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"answer"</a:t>
            </a:r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68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"Primary caregivers receive 16 weeks fully paid..."</a:t>
            </a:r>
            <a:endParaRPr lang="en-US" sz="1680" dirty="0"/>
          </a:p>
        </p:txBody>
      </p:sp>
      <p:sp>
        <p:nvSpPr>
          <p:cNvPr id="32" name="Text 30"/>
          <p:cNvSpPr/>
          <p:nvPr/>
        </p:nvSpPr>
        <p:spPr>
          <a:xfrm>
            <a:off x="960120" y="5257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80" dirty="0"/>
          </a:p>
        </p:txBody>
      </p:sp>
      <p:sp>
        <p:nvSpPr>
          <p:cNvPr id="33" name="Text 31"/>
          <p:cNvSpPr/>
          <p:nvPr/>
        </p:nvSpPr>
        <p:spPr>
          <a:xfrm>
            <a:off x="0" y="571500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i="1" dirty="0">
                <a:solidFill>
                  <a:srgbClr val="8B9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request. A real answer. No OpenAI account required.</a:t>
            </a:r>
            <a:endParaRPr lang="en-US" sz="1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9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RECAP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4630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AI Q&amp;A endpoint — /hr/ask</a:t>
            </a:r>
            <a:endParaRPr lang="en-US" sz="204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Spring AI's ChatClient + Ollama's llama3.2</a:t>
            </a:r>
            <a:endParaRPr lang="en-US" sz="204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entirely on your laptop — zero cost, zero API key</a:t>
            </a:r>
            <a:endParaRPr lang="en-US" sz="2040" dirty="0"/>
          </a:p>
        </p:txBody>
      </p:sp>
      <p:sp>
        <p:nvSpPr>
          <p:cNvPr id="21" name="Shape 19"/>
          <p:cNvSpPr/>
          <p:nvPr/>
        </p:nvSpPr>
        <p:spPr>
          <a:xfrm>
            <a:off x="640080" y="347472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121A2E"/>
          </a:solidFill>
          <a:ln w="15875">
            <a:solidFill>
              <a:srgbClr val="5FE0C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NEXT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914400" y="397764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280" b="1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 — Core Concepts</a:t>
            </a:r>
            <a:endParaRPr lang="en-US" sz="22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Messages, and ChatOptions — what actually travels</a:t>
            </a:r>
            <a:endParaRPr lang="en-US" sz="22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your app and the model on every call.</a:t>
            </a:r>
            <a:endParaRPr lang="en-US" sz="22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9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CREDITS &amp; THANKS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isn't my merit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3716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9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this series is built on the work of open-source projects and their communities. I only learned from them and shared what I built.</a:t>
            </a:r>
            <a:endParaRPr lang="en-US" sz="1920" dirty="0"/>
          </a:p>
        </p:txBody>
      </p:sp>
      <p:sp>
        <p:nvSpPr>
          <p:cNvPr id="21" name="Shape 19"/>
          <p:cNvSpPr/>
          <p:nvPr/>
        </p:nvSpPr>
        <p:spPr>
          <a:xfrm>
            <a:off x="822960" y="2423160"/>
            <a:ext cx="5029200" cy="2011680"/>
          </a:xfrm>
          <a:prstGeom prst="roundRect">
            <a:avLst>
              <a:gd name="adj" fmla="val 5455"/>
            </a:avLst>
          </a:prstGeom>
          <a:solidFill>
            <a:srgbClr val="121A2E"/>
          </a:solidFill>
          <a:ln w="19050">
            <a:solidFill>
              <a:srgbClr val="5FE0C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143000" y="26974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4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AI</a:t>
            </a:r>
            <a:endParaRPr lang="en-US" sz="2640" dirty="0"/>
          </a:p>
        </p:txBody>
      </p:sp>
      <p:sp>
        <p:nvSpPr>
          <p:cNvPr id="23" name="Text 21"/>
          <p:cNvSpPr/>
          <p:nvPr/>
        </p:nvSpPr>
        <p:spPr>
          <a:xfrm>
            <a:off x="114300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integration layer for Spring</a:t>
            </a:r>
            <a:endParaRPr lang="en-US" sz="1560" dirty="0"/>
          </a:p>
        </p:txBody>
      </p:sp>
      <p:sp>
        <p:nvSpPr>
          <p:cNvPr id="24" name="Text 22"/>
          <p:cNvSpPr/>
          <p:nvPr/>
        </p:nvSpPr>
        <p:spPr>
          <a:xfrm>
            <a:off x="114300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spring.io/projects/spring-ai</a:t>
            </a:r>
            <a:endParaRPr lang="en-US" sz="1440" dirty="0"/>
          </a:p>
        </p:txBody>
      </p:sp>
      <p:sp>
        <p:nvSpPr>
          <p:cNvPr id="25" name="Shape 23"/>
          <p:cNvSpPr/>
          <p:nvPr/>
        </p:nvSpPr>
        <p:spPr>
          <a:xfrm>
            <a:off x="6309360" y="2423160"/>
            <a:ext cx="5029200" cy="2011680"/>
          </a:xfrm>
          <a:prstGeom prst="roundRect">
            <a:avLst>
              <a:gd name="adj" fmla="val 5455"/>
            </a:avLst>
          </a:prstGeom>
          <a:solidFill>
            <a:srgbClr val="121A2E"/>
          </a:solidFill>
          <a:ln w="1905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629400" y="26974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4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</a:t>
            </a:r>
            <a:endParaRPr lang="en-US" sz="2640" dirty="0"/>
          </a:p>
        </p:txBody>
      </p:sp>
      <p:sp>
        <p:nvSpPr>
          <p:cNvPr id="27" name="Text 25"/>
          <p:cNvSpPr/>
          <p:nvPr/>
        </p:nvSpPr>
        <p:spPr>
          <a:xfrm>
            <a:off x="662940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open LLMs locally</a:t>
            </a:r>
            <a:endParaRPr lang="en-US" sz="1560" dirty="0"/>
          </a:p>
        </p:txBody>
      </p:sp>
      <p:sp>
        <p:nvSpPr>
          <p:cNvPr id="28" name="Text 26"/>
          <p:cNvSpPr/>
          <p:nvPr/>
        </p:nvSpPr>
        <p:spPr>
          <a:xfrm>
            <a:off x="662940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ollama.com</a:t>
            </a:r>
            <a:endParaRPr lang="en-US" sz="1440" dirty="0"/>
          </a:p>
        </p:txBody>
      </p:sp>
      <p:sp>
        <p:nvSpPr>
          <p:cNvPr id="29" name="Shape 27"/>
          <p:cNvSpPr/>
          <p:nvPr/>
        </p:nvSpPr>
        <p:spPr>
          <a:xfrm>
            <a:off x="4251960" y="4892040"/>
            <a:ext cx="3657600" cy="0"/>
          </a:xfrm>
          <a:prstGeom prst="line">
            <a:avLst/>
          </a:prstGeom>
          <a:noFill/>
          <a:ln w="12700">
            <a:solidFill>
              <a:srgbClr val="5B6478">
                <a:alpha val="7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10812" y="48508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F2A9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9612" y="48508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8B98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8412" y="48508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5FE0C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0" y="512064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with gratitude — all credit to their maintainers &amp; contributors.</a:t>
            </a:r>
            <a:endParaRPr lang="en-US" sz="1680" dirty="0"/>
          </a:p>
        </p:txBody>
      </p:sp>
      <p:sp>
        <p:nvSpPr>
          <p:cNvPr id="34" name="Text 32"/>
          <p:cNvSpPr/>
          <p:nvPr/>
        </p:nvSpPr>
        <p:spPr>
          <a:xfrm>
            <a:off x="0" y="562356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github.com/balajich/spring-ai-with-llama</a:t>
            </a:r>
            <a:endParaRPr lang="en-US" sz="14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 — Hello, Spring AI!</dc:title>
  <dc:subject>PptxGenJS Presentation</dc:subject>
  <dc:creator>PromptToApps</dc:creator>
  <cp:lastModifiedBy>PromptToApps</cp:lastModifiedBy>
  <cp:revision>1</cp:revision>
  <dcterms:created xsi:type="dcterms:W3CDTF">2026-07-07T23:09:53Z</dcterms:created>
  <dcterms:modified xsi:type="dcterms:W3CDTF">2026-07-07T23:09:53Z</dcterms:modified>
</cp:coreProperties>
</file>