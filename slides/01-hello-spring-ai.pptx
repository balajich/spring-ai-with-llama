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0F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65760"/>
            <a:ext cx="731520" cy="457200"/>
          </a:xfrm>
          <a:prstGeom prst="line">
            <a:avLst/>
          </a:prstGeom>
          <a:noFill/>
          <a:ln w="9525">
            <a:solidFill>
              <a:srgbClr val="5B6478">
                <a:alpha val="3000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822960" y="822960"/>
            <a:ext cx="365760" cy="731520"/>
          </a:xfrm>
          <a:prstGeom prst="line">
            <a:avLst/>
          </a:prstGeom>
          <a:noFill/>
          <a:ln w="9525">
            <a:solidFill>
              <a:srgbClr val="5B6478">
                <a:alpha val="3000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 flipV="1">
            <a:off x="822960" y="1280160"/>
            <a:ext cx="914400" cy="274320"/>
          </a:xfrm>
          <a:prstGeom prst="line">
            <a:avLst/>
          </a:prstGeom>
          <a:noFill/>
          <a:ln w="9525">
            <a:solidFill>
              <a:srgbClr val="5B6478">
                <a:alpha val="3000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429768" y="338328"/>
            <a:ext cx="54864" cy="54864"/>
          </a:xfrm>
          <a:prstGeom prst="ellipse">
            <a:avLst/>
          </a:prstGeom>
          <a:solidFill>
            <a:srgbClr val="8B98AC">
              <a:alpha val="60000"/>
            </a:srgbClr>
          </a:solidFill>
          <a:ln/>
        </p:spPr>
      </p:sp>
      <p:sp>
        <p:nvSpPr>
          <p:cNvPr id="6" name="Shape 4"/>
          <p:cNvSpPr/>
          <p:nvPr/>
        </p:nvSpPr>
        <p:spPr>
          <a:xfrm>
            <a:off x="1161288" y="795528"/>
            <a:ext cx="54864" cy="54864"/>
          </a:xfrm>
          <a:prstGeom prst="ellipse">
            <a:avLst/>
          </a:prstGeom>
          <a:solidFill>
            <a:srgbClr val="8B98AC">
              <a:alpha val="60000"/>
            </a:srgbClr>
          </a:solidFill>
          <a:ln/>
        </p:spPr>
      </p:sp>
      <p:sp>
        <p:nvSpPr>
          <p:cNvPr id="7" name="Shape 5"/>
          <p:cNvSpPr/>
          <p:nvPr/>
        </p:nvSpPr>
        <p:spPr>
          <a:xfrm>
            <a:off x="795528" y="1527048"/>
            <a:ext cx="54864" cy="54864"/>
          </a:xfrm>
          <a:prstGeom prst="ellipse">
            <a:avLst/>
          </a:prstGeom>
          <a:solidFill>
            <a:srgbClr val="8B98AC">
              <a:alpha val="60000"/>
            </a:srgbClr>
          </a:solidFill>
          <a:ln/>
        </p:spPr>
      </p:sp>
      <p:sp>
        <p:nvSpPr>
          <p:cNvPr id="8" name="Shape 6"/>
          <p:cNvSpPr/>
          <p:nvPr/>
        </p:nvSpPr>
        <p:spPr>
          <a:xfrm>
            <a:off x="1709928" y="1252728"/>
            <a:ext cx="54864" cy="54864"/>
          </a:xfrm>
          <a:prstGeom prst="ellipse">
            <a:avLst/>
          </a:prstGeom>
          <a:solidFill>
            <a:srgbClr val="8B98AC">
              <a:alpha val="60000"/>
            </a:srgbClr>
          </a:solidFill>
          <a:ln/>
        </p:spPr>
      </p:sp>
      <p:sp>
        <p:nvSpPr>
          <p:cNvPr id="9" name="Shape 7"/>
          <p:cNvSpPr/>
          <p:nvPr/>
        </p:nvSpPr>
        <p:spPr>
          <a:xfrm flipV="1">
            <a:off x="10789920" y="5486400"/>
            <a:ext cx="731520" cy="548640"/>
          </a:xfrm>
          <a:prstGeom prst="line">
            <a:avLst/>
          </a:prstGeom>
          <a:noFill/>
          <a:ln w="9525">
            <a:solidFill>
              <a:srgbClr val="5B6478">
                <a:alpha val="30000"/>
              </a:srgbClr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 flipV="1">
            <a:off x="11155680" y="4754880"/>
            <a:ext cx="365760" cy="731520"/>
          </a:xfrm>
          <a:prstGeom prst="line">
            <a:avLst/>
          </a:prstGeom>
          <a:noFill/>
          <a:ln w="9525">
            <a:solidFill>
              <a:srgbClr val="5B6478">
                <a:alpha val="30000"/>
              </a:srgbClr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11155680" y="4754880"/>
            <a:ext cx="731520" cy="365760"/>
          </a:xfrm>
          <a:prstGeom prst="line">
            <a:avLst/>
          </a:prstGeom>
          <a:noFill/>
          <a:ln w="9525">
            <a:solidFill>
              <a:srgbClr val="5B6478">
                <a:alpha val="30000"/>
              </a:srgbClr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10762488" y="6007608"/>
            <a:ext cx="54864" cy="54864"/>
          </a:xfrm>
          <a:prstGeom prst="ellipse">
            <a:avLst/>
          </a:prstGeom>
          <a:solidFill>
            <a:srgbClr val="8B98AC">
              <a:alpha val="60000"/>
            </a:srgbClr>
          </a:solidFill>
          <a:ln/>
        </p:spPr>
      </p:sp>
      <p:sp>
        <p:nvSpPr>
          <p:cNvPr id="13" name="Shape 11"/>
          <p:cNvSpPr/>
          <p:nvPr/>
        </p:nvSpPr>
        <p:spPr>
          <a:xfrm>
            <a:off x="11494008" y="5458968"/>
            <a:ext cx="54864" cy="54864"/>
          </a:xfrm>
          <a:prstGeom prst="ellipse">
            <a:avLst/>
          </a:prstGeom>
          <a:solidFill>
            <a:srgbClr val="8B98AC">
              <a:alpha val="60000"/>
            </a:srgbClr>
          </a:solidFill>
          <a:ln/>
        </p:spPr>
      </p:sp>
      <p:sp>
        <p:nvSpPr>
          <p:cNvPr id="14" name="Shape 12"/>
          <p:cNvSpPr/>
          <p:nvPr/>
        </p:nvSpPr>
        <p:spPr>
          <a:xfrm>
            <a:off x="11128248" y="4727448"/>
            <a:ext cx="54864" cy="54864"/>
          </a:xfrm>
          <a:prstGeom prst="ellipse">
            <a:avLst/>
          </a:prstGeom>
          <a:solidFill>
            <a:srgbClr val="8B98AC">
              <a:alpha val="60000"/>
            </a:srgbClr>
          </a:solidFill>
          <a:ln/>
        </p:spPr>
      </p:sp>
      <p:sp>
        <p:nvSpPr>
          <p:cNvPr id="15" name="Shape 13"/>
          <p:cNvSpPr/>
          <p:nvPr/>
        </p:nvSpPr>
        <p:spPr>
          <a:xfrm>
            <a:off x="11859768" y="5093208"/>
            <a:ext cx="54864" cy="54864"/>
          </a:xfrm>
          <a:prstGeom prst="ellipse">
            <a:avLst/>
          </a:prstGeom>
          <a:solidFill>
            <a:srgbClr val="8B98AC">
              <a:alpha val="60000"/>
            </a:srgbClr>
          </a:solidFill>
          <a:ln/>
        </p:spPr>
      </p:sp>
      <p:sp>
        <p:nvSpPr>
          <p:cNvPr id="16" name="Text 14"/>
          <p:cNvSpPr/>
          <p:nvPr/>
        </p:nvSpPr>
        <p:spPr>
          <a:xfrm>
            <a:off x="457200" y="635508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80" dirty="0">
                <a:solidFill>
                  <a:srgbClr val="5B64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PromptToApps</a:t>
            </a:r>
            <a:endParaRPr lang="en-US" sz="1080" dirty="0"/>
          </a:p>
        </p:txBody>
      </p:sp>
      <p:sp>
        <p:nvSpPr>
          <p:cNvPr id="17" name="Text 15"/>
          <p:cNvSpPr/>
          <p:nvPr/>
        </p:nvSpPr>
        <p:spPr>
          <a:xfrm>
            <a:off x="11247120" y="635508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80" dirty="0">
                <a:solidFill>
                  <a:srgbClr val="5B64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 / 10</a:t>
            </a:r>
            <a:endParaRPr lang="en-US" sz="1080" dirty="0"/>
          </a:p>
        </p:txBody>
      </p:sp>
      <p:sp>
        <p:nvSpPr>
          <p:cNvPr id="18" name="Shape 16"/>
          <p:cNvSpPr/>
          <p:nvPr/>
        </p:nvSpPr>
        <p:spPr>
          <a:xfrm>
            <a:off x="5166360" y="914400"/>
            <a:ext cx="1828800" cy="502920"/>
          </a:xfrm>
          <a:prstGeom prst="roundRect">
            <a:avLst>
              <a:gd name="adj" fmla="val 50909"/>
            </a:avLst>
          </a:prstGeom>
          <a:solidFill>
            <a:srgbClr val="121A2E"/>
          </a:solidFill>
          <a:ln w="15875">
            <a:solidFill>
              <a:srgbClr val="F2A93B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5166360" y="914400"/>
            <a:ext cx="18288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80" dirty="0">
                <a:solidFill>
                  <a:srgbClr val="8B98A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CHAPTER </a:t>
            </a:r>
            <a:pPr algn="ctr" indent="0" marL="0">
              <a:buNone/>
            </a:pPr>
            <a:r>
              <a:rPr lang="en-US" sz="1680" b="1" dirty="0">
                <a:solidFill>
                  <a:srgbClr val="F2A93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01</a:t>
            </a:r>
            <a:endParaRPr lang="en-US" sz="1680" dirty="0"/>
          </a:p>
        </p:txBody>
      </p:sp>
      <p:sp>
        <p:nvSpPr>
          <p:cNvPr id="20" name="Text 18"/>
          <p:cNvSpPr/>
          <p:nvPr/>
        </p:nvSpPr>
        <p:spPr>
          <a:xfrm>
            <a:off x="0" y="1828800"/>
            <a:ext cx="121615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520" b="1" dirty="0">
                <a:solidFill>
                  <a:srgbClr val="E5E9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Hello, Spring AI!</a:t>
            </a:r>
            <a:endParaRPr lang="en-US" sz="5520" dirty="0"/>
          </a:p>
        </p:txBody>
      </p:sp>
      <p:sp>
        <p:nvSpPr>
          <p:cNvPr id="21" name="Text 19"/>
          <p:cNvSpPr/>
          <p:nvPr/>
        </p:nvSpPr>
        <p:spPr>
          <a:xfrm>
            <a:off x="0" y="2743200"/>
            <a:ext cx="12161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5FE0C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ChatClient</a:t>
            </a:r>
            <a:pPr algn="ctr" indent="0" marL="0">
              <a:buNone/>
            </a:pPr>
            <a:r>
              <a:rPr lang="en-US" sz="2400" dirty="0">
                <a:solidFill>
                  <a:srgbClr val="B8C0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+  Ollama Setup</a:t>
            </a:r>
            <a:endParaRPr lang="en-US" sz="2400" dirty="0"/>
          </a:p>
        </p:txBody>
      </p:sp>
      <p:sp>
        <p:nvSpPr>
          <p:cNvPr id="22" name="Shape 20"/>
          <p:cNvSpPr/>
          <p:nvPr/>
        </p:nvSpPr>
        <p:spPr>
          <a:xfrm>
            <a:off x="4251960" y="3520440"/>
            <a:ext cx="3657600" cy="0"/>
          </a:xfrm>
          <a:prstGeom prst="line">
            <a:avLst/>
          </a:prstGeom>
          <a:noFill/>
          <a:ln w="12700">
            <a:solidFill>
              <a:srgbClr val="5B6478">
                <a:alpha val="70000"/>
              </a:srgbClr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4210812" y="3479292"/>
            <a:ext cx="82296" cy="82296"/>
          </a:xfrm>
          <a:prstGeom prst="ellipse">
            <a:avLst/>
          </a:prstGeom>
          <a:solidFill>
            <a:srgbClr val="0A0F1C"/>
          </a:solidFill>
          <a:ln w="19050">
            <a:solidFill>
              <a:srgbClr val="F2A93B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6039612" y="3479292"/>
            <a:ext cx="82296" cy="82296"/>
          </a:xfrm>
          <a:prstGeom prst="ellipse">
            <a:avLst/>
          </a:prstGeom>
          <a:solidFill>
            <a:srgbClr val="0A0F1C"/>
          </a:solidFill>
          <a:ln w="19050">
            <a:solidFill>
              <a:srgbClr val="8B98AC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7868412" y="3479292"/>
            <a:ext cx="82296" cy="82296"/>
          </a:xfrm>
          <a:prstGeom prst="ellipse">
            <a:avLst/>
          </a:prstGeom>
          <a:solidFill>
            <a:srgbClr val="0A0F1C"/>
          </a:solidFill>
          <a:ln w="19050">
            <a:solidFill>
              <a:srgbClr val="5FE0C5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0" y="3703320"/>
            <a:ext cx="12161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60" dirty="0">
                <a:solidFill>
                  <a:srgbClr val="8B98A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Spring AI with Llama  ·  PromptToApps</a:t>
            </a:r>
            <a:endParaRPr lang="en-US" sz="156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A0F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65760"/>
            <a:ext cx="731520" cy="457200"/>
          </a:xfrm>
          <a:prstGeom prst="line">
            <a:avLst/>
          </a:prstGeom>
          <a:noFill/>
          <a:ln w="9525">
            <a:solidFill>
              <a:srgbClr val="5B6478">
                <a:alpha val="3000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822960" y="822960"/>
            <a:ext cx="365760" cy="731520"/>
          </a:xfrm>
          <a:prstGeom prst="line">
            <a:avLst/>
          </a:prstGeom>
          <a:noFill/>
          <a:ln w="9525">
            <a:solidFill>
              <a:srgbClr val="5B6478">
                <a:alpha val="3000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 flipV="1">
            <a:off x="822960" y="1280160"/>
            <a:ext cx="914400" cy="274320"/>
          </a:xfrm>
          <a:prstGeom prst="line">
            <a:avLst/>
          </a:prstGeom>
          <a:noFill/>
          <a:ln w="9525">
            <a:solidFill>
              <a:srgbClr val="5B6478">
                <a:alpha val="3000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429768" y="338328"/>
            <a:ext cx="54864" cy="54864"/>
          </a:xfrm>
          <a:prstGeom prst="ellipse">
            <a:avLst/>
          </a:prstGeom>
          <a:solidFill>
            <a:srgbClr val="8B98AC">
              <a:alpha val="60000"/>
            </a:srgbClr>
          </a:solidFill>
          <a:ln/>
        </p:spPr>
      </p:sp>
      <p:sp>
        <p:nvSpPr>
          <p:cNvPr id="6" name="Shape 4"/>
          <p:cNvSpPr/>
          <p:nvPr/>
        </p:nvSpPr>
        <p:spPr>
          <a:xfrm>
            <a:off x="1161288" y="795528"/>
            <a:ext cx="54864" cy="54864"/>
          </a:xfrm>
          <a:prstGeom prst="ellipse">
            <a:avLst/>
          </a:prstGeom>
          <a:solidFill>
            <a:srgbClr val="8B98AC">
              <a:alpha val="60000"/>
            </a:srgbClr>
          </a:solidFill>
          <a:ln/>
        </p:spPr>
      </p:sp>
      <p:sp>
        <p:nvSpPr>
          <p:cNvPr id="7" name="Shape 5"/>
          <p:cNvSpPr/>
          <p:nvPr/>
        </p:nvSpPr>
        <p:spPr>
          <a:xfrm>
            <a:off x="795528" y="1527048"/>
            <a:ext cx="54864" cy="54864"/>
          </a:xfrm>
          <a:prstGeom prst="ellipse">
            <a:avLst/>
          </a:prstGeom>
          <a:solidFill>
            <a:srgbClr val="8B98AC">
              <a:alpha val="60000"/>
            </a:srgbClr>
          </a:solidFill>
          <a:ln/>
        </p:spPr>
      </p:sp>
      <p:sp>
        <p:nvSpPr>
          <p:cNvPr id="8" name="Shape 6"/>
          <p:cNvSpPr/>
          <p:nvPr/>
        </p:nvSpPr>
        <p:spPr>
          <a:xfrm>
            <a:off x="1709928" y="1252728"/>
            <a:ext cx="54864" cy="54864"/>
          </a:xfrm>
          <a:prstGeom prst="ellipse">
            <a:avLst/>
          </a:prstGeom>
          <a:solidFill>
            <a:srgbClr val="8B98AC">
              <a:alpha val="60000"/>
            </a:srgbClr>
          </a:solidFill>
          <a:ln/>
        </p:spPr>
      </p:sp>
      <p:sp>
        <p:nvSpPr>
          <p:cNvPr id="9" name="Shape 7"/>
          <p:cNvSpPr/>
          <p:nvPr/>
        </p:nvSpPr>
        <p:spPr>
          <a:xfrm flipV="1">
            <a:off x="10789920" y="5486400"/>
            <a:ext cx="731520" cy="548640"/>
          </a:xfrm>
          <a:prstGeom prst="line">
            <a:avLst/>
          </a:prstGeom>
          <a:noFill/>
          <a:ln w="9525">
            <a:solidFill>
              <a:srgbClr val="5B6478">
                <a:alpha val="30000"/>
              </a:srgbClr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 flipV="1">
            <a:off x="11155680" y="4754880"/>
            <a:ext cx="365760" cy="731520"/>
          </a:xfrm>
          <a:prstGeom prst="line">
            <a:avLst/>
          </a:prstGeom>
          <a:noFill/>
          <a:ln w="9525">
            <a:solidFill>
              <a:srgbClr val="5B6478">
                <a:alpha val="30000"/>
              </a:srgbClr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11155680" y="4754880"/>
            <a:ext cx="731520" cy="365760"/>
          </a:xfrm>
          <a:prstGeom prst="line">
            <a:avLst/>
          </a:prstGeom>
          <a:noFill/>
          <a:ln w="9525">
            <a:solidFill>
              <a:srgbClr val="5B6478">
                <a:alpha val="30000"/>
              </a:srgbClr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10762488" y="6007608"/>
            <a:ext cx="54864" cy="54864"/>
          </a:xfrm>
          <a:prstGeom prst="ellipse">
            <a:avLst/>
          </a:prstGeom>
          <a:solidFill>
            <a:srgbClr val="8B98AC">
              <a:alpha val="60000"/>
            </a:srgbClr>
          </a:solidFill>
          <a:ln/>
        </p:spPr>
      </p:sp>
      <p:sp>
        <p:nvSpPr>
          <p:cNvPr id="13" name="Shape 11"/>
          <p:cNvSpPr/>
          <p:nvPr/>
        </p:nvSpPr>
        <p:spPr>
          <a:xfrm>
            <a:off x="11494008" y="5458968"/>
            <a:ext cx="54864" cy="54864"/>
          </a:xfrm>
          <a:prstGeom prst="ellipse">
            <a:avLst/>
          </a:prstGeom>
          <a:solidFill>
            <a:srgbClr val="8B98AC">
              <a:alpha val="60000"/>
            </a:srgbClr>
          </a:solidFill>
          <a:ln/>
        </p:spPr>
      </p:sp>
      <p:sp>
        <p:nvSpPr>
          <p:cNvPr id="14" name="Shape 12"/>
          <p:cNvSpPr/>
          <p:nvPr/>
        </p:nvSpPr>
        <p:spPr>
          <a:xfrm>
            <a:off x="11128248" y="4727448"/>
            <a:ext cx="54864" cy="54864"/>
          </a:xfrm>
          <a:prstGeom prst="ellipse">
            <a:avLst/>
          </a:prstGeom>
          <a:solidFill>
            <a:srgbClr val="8B98AC">
              <a:alpha val="60000"/>
            </a:srgbClr>
          </a:solidFill>
          <a:ln/>
        </p:spPr>
      </p:sp>
      <p:sp>
        <p:nvSpPr>
          <p:cNvPr id="15" name="Shape 13"/>
          <p:cNvSpPr/>
          <p:nvPr/>
        </p:nvSpPr>
        <p:spPr>
          <a:xfrm>
            <a:off x="11859768" y="5093208"/>
            <a:ext cx="54864" cy="54864"/>
          </a:xfrm>
          <a:prstGeom prst="ellipse">
            <a:avLst/>
          </a:prstGeom>
          <a:solidFill>
            <a:srgbClr val="8B98AC">
              <a:alpha val="60000"/>
            </a:srgbClr>
          </a:solidFill>
          <a:ln/>
        </p:spPr>
      </p:sp>
      <p:sp>
        <p:nvSpPr>
          <p:cNvPr id="16" name="Text 14"/>
          <p:cNvSpPr/>
          <p:nvPr/>
        </p:nvSpPr>
        <p:spPr>
          <a:xfrm>
            <a:off x="457200" y="635508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80" dirty="0">
                <a:solidFill>
                  <a:srgbClr val="5B64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PromptToApps</a:t>
            </a:r>
            <a:endParaRPr lang="en-US" sz="1080" dirty="0"/>
          </a:p>
        </p:txBody>
      </p:sp>
      <p:sp>
        <p:nvSpPr>
          <p:cNvPr id="17" name="Text 15"/>
          <p:cNvSpPr/>
          <p:nvPr/>
        </p:nvSpPr>
        <p:spPr>
          <a:xfrm>
            <a:off x="11247120" y="635508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80" dirty="0">
                <a:solidFill>
                  <a:srgbClr val="5B64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 / 10</a:t>
            </a:r>
            <a:endParaRPr lang="en-US" sz="1080" dirty="0"/>
          </a:p>
        </p:txBody>
      </p:sp>
      <p:sp>
        <p:nvSpPr>
          <p:cNvPr id="18" name="Text 16"/>
          <p:cNvSpPr/>
          <p:nvPr/>
        </p:nvSpPr>
        <p:spPr>
          <a:xfrm>
            <a:off x="640080" y="16459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40" spc="200" kern="0" dirty="0">
                <a:solidFill>
                  <a:srgbClr val="5FE0C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THE PROBLEM</a:t>
            </a:r>
            <a:endParaRPr lang="en-US" sz="1440" dirty="0"/>
          </a:p>
        </p:txBody>
      </p:sp>
      <p:sp>
        <p:nvSpPr>
          <p:cNvPr id="19" name="Text 17"/>
          <p:cNvSpPr/>
          <p:nvPr/>
        </p:nvSpPr>
        <p:spPr>
          <a:xfrm>
            <a:off x="640080" y="457200"/>
            <a:ext cx="10881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360" b="1" dirty="0">
                <a:solidFill>
                  <a:srgbClr val="F2A93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Sarah's inbox is full of the same question</a:t>
            </a:r>
            <a:endParaRPr lang="en-US" sz="3360" dirty="0"/>
          </a:p>
        </p:txBody>
      </p:sp>
      <p:sp>
        <p:nvSpPr>
          <p:cNvPr id="20" name="Shape 18"/>
          <p:cNvSpPr/>
          <p:nvPr/>
        </p:nvSpPr>
        <p:spPr>
          <a:xfrm>
            <a:off x="640080" y="1554480"/>
            <a:ext cx="6492240" cy="3931920"/>
          </a:xfrm>
          <a:prstGeom prst="roundRect">
            <a:avLst>
              <a:gd name="adj" fmla="val 2791"/>
            </a:avLst>
          </a:prstGeom>
          <a:solidFill>
            <a:srgbClr val="121A2E"/>
          </a:solidFill>
          <a:ln w="9525">
            <a:solidFill>
              <a:srgbClr val="5B6478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25000"/>
              </a:srgbClr>
            </a:outerShdw>
          </a:effectLst>
        </p:spPr>
      </p:sp>
      <p:sp>
        <p:nvSpPr>
          <p:cNvPr id="21" name="Text 19"/>
          <p:cNvSpPr/>
          <p:nvPr/>
        </p:nvSpPr>
        <p:spPr>
          <a:xfrm>
            <a:off x="914400" y="1783080"/>
            <a:ext cx="5943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60" dirty="0">
                <a:solidFill>
                  <a:srgbClr val="8B98A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✉  inbox — HR@TechCorp</a:t>
            </a:r>
            <a:endParaRPr lang="en-US" sz="1560" dirty="0"/>
          </a:p>
        </p:txBody>
      </p:sp>
      <p:sp>
        <p:nvSpPr>
          <p:cNvPr id="22" name="Shape 20"/>
          <p:cNvSpPr/>
          <p:nvPr/>
        </p:nvSpPr>
        <p:spPr>
          <a:xfrm>
            <a:off x="914400" y="2286000"/>
            <a:ext cx="5943600" cy="594360"/>
          </a:xfrm>
          <a:prstGeom prst="roundRect">
            <a:avLst>
              <a:gd name="adj" fmla="val 12308"/>
            </a:avLst>
          </a:prstGeom>
          <a:solidFill>
            <a:srgbClr val="172238"/>
          </a:solidFill>
          <a:ln/>
        </p:spPr>
      </p:sp>
      <p:sp>
        <p:nvSpPr>
          <p:cNvPr id="23" name="Text 21"/>
          <p:cNvSpPr/>
          <p:nvPr/>
        </p:nvSpPr>
        <p:spPr>
          <a:xfrm>
            <a:off x="1143000" y="2286000"/>
            <a:ext cx="54864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20" i="1" dirty="0">
                <a:solidFill>
                  <a:srgbClr val="E5E9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"What's our parental leave policy?"</a:t>
            </a:r>
            <a:endParaRPr lang="en-US" sz="1620" dirty="0"/>
          </a:p>
        </p:txBody>
      </p:sp>
      <p:sp>
        <p:nvSpPr>
          <p:cNvPr id="24" name="Shape 22"/>
          <p:cNvSpPr/>
          <p:nvPr/>
        </p:nvSpPr>
        <p:spPr>
          <a:xfrm>
            <a:off x="914400" y="3063240"/>
            <a:ext cx="5943600" cy="594360"/>
          </a:xfrm>
          <a:prstGeom prst="roundRect">
            <a:avLst>
              <a:gd name="adj" fmla="val 12308"/>
            </a:avLst>
          </a:prstGeom>
          <a:solidFill>
            <a:srgbClr val="172238"/>
          </a:solidFill>
          <a:ln/>
        </p:spPr>
      </p:sp>
      <p:sp>
        <p:nvSpPr>
          <p:cNvPr id="25" name="Text 23"/>
          <p:cNvSpPr/>
          <p:nvPr/>
        </p:nvSpPr>
        <p:spPr>
          <a:xfrm>
            <a:off x="1143000" y="3063240"/>
            <a:ext cx="54864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20" i="1" dirty="0">
                <a:solidFill>
                  <a:srgbClr val="E5E9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"How many vacation days do I have left?"</a:t>
            </a:r>
            <a:endParaRPr lang="en-US" sz="1620" dirty="0"/>
          </a:p>
        </p:txBody>
      </p:sp>
      <p:sp>
        <p:nvSpPr>
          <p:cNvPr id="26" name="Shape 24"/>
          <p:cNvSpPr/>
          <p:nvPr/>
        </p:nvSpPr>
        <p:spPr>
          <a:xfrm>
            <a:off x="914400" y="3840480"/>
            <a:ext cx="5943600" cy="594360"/>
          </a:xfrm>
          <a:prstGeom prst="roundRect">
            <a:avLst>
              <a:gd name="adj" fmla="val 12308"/>
            </a:avLst>
          </a:prstGeom>
          <a:solidFill>
            <a:srgbClr val="172238"/>
          </a:solidFill>
          <a:ln/>
        </p:spPr>
      </p:sp>
      <p:sp>
        <p:nvSpPr>
          <p:cNvPr id="27" name="Text 25"/>
          <p:cNvSpPr/>
          <p:nvPr/>
        </p:nvSpPr>
        <p:spPr>
          <a:xfrm>
            <a:off x="1143000" y="3840480"/>
            <a:ext cx="54864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20" i="1" dirty="0">
                <a:solidFill>
                  <a:srgbClr val="E5E9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"What's the dress code for client visits?"</a:t>
            </a:r>
            <a:endParaRPr lang="en-US" sz="1620" dirty="0"/>
          </a:p>
        </p:txBody>
      </p:sp>
      <p:sp>
        <p:nvSpPr>
          <p:cNvPr id="28" name="Shape 26"/>
          <p:cNvSpPr/>
          <p:nvPr/>
        </p:nvSpPr>
        <p:spPr>
          <a:xfrm>
            <a:off x="914400" y="4617720"/>
            <a:ext cx="5943600" cy="594360"/>
          </a:xfrm>
          <a:prstGeom prst="roundRect">
            <a:avLst>
              <a:gd name="adj" fmla="val 12308"/>
            </a:avLst>
          </a:prstGeom>
          <a:solidFill>
            <a:srgbClr val="172238"/>
          </a:solidFill>
          <a:ln/>
        </p:spPr>
      </p:sp>
      <p:sp>
        <p:nvSpPr>
          <p:cNvPr id="29" name="Text 27"/>
          <p:cNvSpPr/>
          <p:nvPr/>
        </p:nvSpPr>
        <p:spPr>
          <a:xfrm>
            <a:off x="1143000" y="4617720"/>
            <a:ext cx="54864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20" i="1" dirty="0">
                <a:solidFill>
                  <a:srgbClr val="E5E9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"Can I expense a client dinner?"</a:t>
            </a:r>
            <a:endParaRPr lang="en-US" sz="1620" dirty="0"/>
          </a:p>
        </p:txBody>
      </p:sp>
      <p:sp>
        <p:nvSpPr>
          <p:cNvPr id="30" name="Text 28"/>
          <p:cNvSpPr/>
          <p:nvPr/>
        </p:nvSpPr>
        <p:spPr>
          <a:xfrm>
            <a:off x="7406640" y="1783080"/>
            <a:ext cx="4114800" cy="3657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920" b="1" dirty="0">
                <a:solidFill>
                  <a:srgbClr val="F2A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Sarah</a:t>
            </a:r>
            <a:endParaRPr lang="en-US" sz="192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440" dirty="0">
                <a:solidFill>
                  <a:srgbClr val="8B98A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HR Manager, TechCorp</a:t>
            </a:r>
            <a:endParaRPr lang="en-US" sz="192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92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endParaRPr lang="en-US" sz="192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740" dirty="0">
                <a:solidFill>
                  <a:srgbClr val="B8C0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Same questions, every day. She needs a first</a:t>
            </a:r>
            <a:endParaRPr lang="en-US" sz="192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740" dirty="0">
                <a:solidFill>
                  <a:srgbClr val="B8C0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line of defense that answers instantly —</a:t>
            </a:r>
            <a:endParaRPr lang="en-US" sz="192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740" dirty="0">
                <a:solidFill>
                  <a:srgbClr val="B8C0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without her typing the same reply twice.</a:t>
            </a:r>
            <a:endParaRPr lang="en-US" sz="192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A0F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65760"/>
            <a:ext cx="731520" cy="457200"/>
          </a:xfrm>
          <a:prstGeom prst="line">
            <a:avLst/>
          </a:prstGeom>
          <a:noFill/>
          <a:ln w="9525">
            <a:solidFill>
              <a:srgbClr val="5B6478">
                <a:alpha val="3000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822960" y="822960"/>
            <a:ext cx="365760" cy="731520"/>
          </a:xfrm>
          <a:prstGeom prst="line">
            <a:avLst/>
          </a:prstGeom>
          <a:noFill/>
          <a:ln w="9525">
            <a:solidFill>
              <a:srgbClr val="5B6478">
                <a:alpha val="3000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 flipV="1">
            <a:off x="822960" y="1280160"/>
            <a:ext cx="914400" cy="274320"/>
          </a:xfrm>
          <a:prstGeom prst="line">
            <a:avLst/>
          </a:prstGeom>
          <a:noFill/>
          <a:ln w="9525">
            <a:solidFill>
              <a:srgbClr val="5B6478">
                <a:alpha val="3000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429768" y="338328"/>
            <a:ext cx="54864" cy="54864"/>
          </a:xfrm>
          <a:prstGeom prst="ellipse">
            <a:avLst/>
          </a:prstGeom>
          <a:solidFill>
            <a:srgbClr val="8B98AC">
              <a:alpha val="60000"/>
            </a:srgbClr>
          </a:solidFill>
          <a:ln/>
        </p:spPr>
      </p:sp>
      <p:sp>
        <p:nvSpPr>
          <p:cNvPr id="6" name="Shape 4"/>
          <p:cNvSpPr/>
          <p:nvPr/>
        </p:nvSpPr>
        <p:spPr>
          <a:xfrm>
            <a:off x="1161288" y="795528"/>
            <a:ext cx="54864" cy="54864"/>
          </a:xfrm>
          <a:prstGeom prst="ellipse">
            <a:avLst/>
          </a:prstGeom>
          <a:solidFill>
            <a:srgbClr val="8B98AC">
              <a:alpha val="60000"/>
            </a:srgbClr>
          </a:solidFill>
          <a:ln/>
        </p:spPr>
      </p:sp>
      <p:sp>
        <p:nvSpPr>
          <p:cNvPr id="7" name="Shape 5"/>
          <p:cNvSpPr/>
          <p:nvPr/>
        </p:nvSpPr>
        <p:spPr>
          <a:xfrm>
            <a:off x="795528" y="1527048"/>
            <a:ext cx="54864" cy="54864"/>
          </a:xfrm>
          <a:prstGeom prst="ellipse">
            <a:avLst/>
          </a:prstGeom>
          <a:solidFill>
            <a:srgbClr val="8B98AC">
              <a:alpha val="60000"/>
            </a:srgbClr>
          </a:solidFill>
          <a:ln/>
        </p:spPr>
      </p:sp>
      <p:sp>
        <p:nvSpPr>
          <p:cNvPr id="8" name="Shape 6"/>
          <p:cNvSpPr/>
          <p:nvPr/>
        </p:nvSpPr>
        <p:spPr>
          <a:xfrm>
            <a:off x="1709928" y="1252728"/>
            <a:ext cx="54864" cy="54864"/>
          </a:xfrm>
          <a:prstGeom prst="ellipse">
            <a:avLst/>
          </a:prstGeom>
          <a:solidFill>
            <a:srgbClr val="8B98AC">
              <a:alpha val="60000"/>
            </a:srgbClr>
          </a:solidFill>
          <a:ln/>
        </p:spPr>
      </p:sp>
      <p:sp>
        <p:nvSpPr>
          <p:cNvPr id="9" name="Shape 7"/>
          <p:cNvSpPr/>
          <p:nvPr/>
        </p:nvSpPr>
        <p:spPr>
          <a:xfrm flipV="1">
            <a:off x="10789920" y="5486400"/>
            <a:ext cx="731520" cy="548640"/>
          </a:xfrm>
          <a:prstGeom prst="line">
            <a:avLst/>
          </a:prstGeom>
          <a:noFill/>
          <a:ln w="9525">
            <a:solidFill>
              <a:srgbClr val="5B6478">
                <a:alpha val="30000"/>
              </a:srgbClr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 flipV="1">
            <a:off x="11155680" y="4754880"/>
            <a:ext cx="365760" cy="731520"/>
          </a:xfrm>
          <a:prstGeom prst="line">
            <a:avLst/>
          </a:prstGeom>
          <a:noFill/>
          <a:ln w="9525">
            <a:solidFill>
              <a:srgbClr val="5B6478">
                <a:alpha val="30000"/>
              </a:srgbClr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11155680" y="4754880"/>
            <a:ext cx="731520" cy="365760"/>
          </a:xfrm>
          <a:prstGeom prst="line">
            <a:avLst/>
          </a:prstGeom>
          <a:noFill/>
          <a:ln w="9525">
            <a:solidFill>
              <a:srgbClr val="5B6478">
                <a:alpha val="30000"/>
              </a:srgbClr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10762488" y="6007608"/>
            <a:ext cx="54864" cy="54864"/>
          </a:xfrm>
          <a:prstGeom prst="ellipse">
            <a:avLst/>
          </a:prstGeom>
          <a:solidFill>
            <a:srgbClr val="8B98AC">
              <a:alpha val="60000"/>
            </a:srgbClr>
          </a:solidFill>
          <a:ln/>
        </p:spPr>
      </p:sp>
      <p:sp>
        <p:nvSpPr>
          <p:cNvPr id="13" name="Shape 11"/>
          <p:cNvSpPr/>
          <p:nvPr/>
        </p:nvSpPr>
        <p:spPr>
          <a:xfrm>
            <a:off x="11494008" y="5458968"/>
            <a:ext cx="54864" cy="54864"/>
          </a:xfrm>
          <a:prstGeom prst="ellipse">
            <a:avLst/>
          </a:prstGeom>
          <a:solidFill>
            <a:srgbClr val="8B98AC">
              <a:alpha val="60000"/>
            </a:srgbClr>
          </a:solidFill>
          <a:ln/>
        </p:spPr>
      </p:sp>
      <p:sp>
        <p:nvSpPr>
          <p:cNvPr id="14" name="Shape 12"/>
          <p:cNvSpPr/>
          <p:nvPr/>
        </p:nvSpPr>
        <p:spPr>
          <a:xfrm>
            <a:off x="11128248" y="4727448"/>
            <a:ext cx="54864" cy="54864"/>
          </a:xfrm>
          <a:prstGeom prst="ellipse">
            <a:avLst/>
          </a:prstGeom>
          <a:solidFill>
            <a:srgbClr val="8B98AC">
              <a:alpha val="60000"/>
            </a:srgbClr>
          </a:solidFill>
          <a:ln/>
        </p:spPr>
      </p:sp>
      <p:sp>
        <p:nvSpPr>
          <p:cNvPr id="15" name="Shape 13"/>
          <p:cNvSpPr/>
          <p:nvPr/>
        </p:nvSpPr>
        <p:spPr>
          <a:xfrm>
            <a:off x="11859768" y="5093208"/>
            <a:ext cx="54864" cy="54864"/>
          </a:xfrm>
          <a:prstGeom prst="ellipse">
            <a:avLst/>
          </a:prstGeom>
          <a:solidFill>
            <a:srgbClr val="8B98AC">
              <a:alpha val="60000"/>
            </a:srgbClr>
          </a:solidFill>
          <a:ln/>
        </p:spPr>
      </p:sp>
      <p:sp>
        <p:nvSpPr>
          <p:cNvPr id="16" name="Text 14"/>
          <p:cNvSpPr/>
          <p:nvPr/>
        </p:nvSpPr>
        <p:spPr>
          <a:xfrm>
            <a:off x="457200" y="635508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80" dirty="0">
                <a:solidFill>
                  <a:srgbClr val="5B64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PromptToApps</a:t>
            </a:r>
            <a:endParaRPr lang="en-US" sz="1080" dirty="0"/>
          </a:p>
        </p:txBody>
      </p:sp>
      <p:sp>
        <p:nvSpPr>
          <p:cNvPr id="17" name="Text 15"/>
          <p:cNvSpPr/>
          <p:nvPr/>
        </p:nvSpPr>
        <p:spPr>
          <a:xfrm>
            <a:off x="11247120" y="635508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80" dirty="0">
                <a:solidFill>
                  <a:srgbClr val="5B64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 / 10</a:t>
            </a:r>
            <a:endParaRPr lang="en-US" sz="1080" dirty="0"/>
          </a:p>
        </p:txBody>
      </p:sp>
      <p:sp>
        <p:nvSpPr>
          <p:cNvPr id="18" name="Text 16"/>
          <p:cNvSpPr/>
          <p:nvPr/>
        </p:nvSpPr>
        <p:spPr>
          <a:xfrm>
            <a:off x="640080" y="16459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40" spc="200" kern="0" dirty="0">
                <a:solidFill>
                  <a:srgbClr val="5FE0C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WHY THIS STACK</a:t>
            </a:r>
            <a:endParaRPr lang="en-US" sz="1440" dirty="0"/>
          </a:p>
        </p:txBody>
      </p:sp>
      <p:sp>
        <p:nvSpPr>
          <p:cNvPr id="19" name="Text 17"/>
          <p:cNvSpPr/>
          <p:nvPr/>
        </p:nvSpPr>
        <p:spPr>
          <a:xfrm>
            <a:off x="640080" y="457200"/>
            <a:ext cx="10881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360" b="1" dirty="0">
                <a:solidFill>
                  <a:srgbClr val="F2A93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Why Spring AI?</a:t>
            </a:r>
            <a:endParaRPr lang="en-US" sz="3360" dirty="0"/>
          </a:p>
        </p:txBody>
      </p:sp>
      <p:sp>
        <p:nvSpPr>
          <p:cNvPr id="20" name="Text 18"/>
          <p:cNvSpPr/>
          <p:nvPr/>
        </p:nvSpPr>
        <p:spPr>
          <a:xfrm>
            <a:off x="640080" y="1371600"/>
            <a:ext cx="10881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20" dirty="0">
                <a:solidFill>
                  <a:srgbClr val="B8C0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 could call the model's HTTP API by hand. Spring AI gives you a lot more for free.</a:t>
            </a:r>
            <a:endParaRPr lang="en-US" sz="1920" dirty="0"/>
          </a:p>
        </p:txBody>
      </p:sp>
      <p:sp>
        <p:nvSpPr>
          <p:cNvPr id="21" name="Shape 19"/>
          <p:cNvSpPr/>
          <p:nvPr/>
        </p:nvSpPr>
        <p:spPr>
          <a:xfrm>
            <a:off x="640080" y="2011680"/>
            <a:ext cx="5257800" cy="1737360"/>
          </a:xfrm>
          <a:prstGeom prst="roundRect">
            <a:avLst>
              <a:gd name="adj" fmla="val 6316"/>
            </a:avLst>
          </a:prstGeom>
          <a:solidFill>
            <a:srgbClr val="121A2E"/>
          </a:solidFill>
          <a:ln w="15875">
            <a:solidFill>
              <a:srgbClr val="F2A93B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25000"/>
              </a:srgbClr>
            </a:outerShdw>
          </a:effectLst>
        </p:spPr>
      </p:sp>
      <p:sp>
        <p:nvSpPr>
          <p:cNvPr id="22" name="Text 20"/>
          <p:cNvSpPr/>
          <p:nvPr/>
        </p:nvSpPr>
        <p:spPr>
          <a:xfrm>
            <a:off x="914400" y="2212848"/>
            <a:ext cx="47091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40" b="1" dirty="0">
                <a:solidFill>
                  <a:srgbClr val="F2A93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Provider-agnostic</a:t>
            </a:r>
            <a:endParaRPr lang="en-US" sz="2040" dirty="0"/>
          </a:p>
        </p:txBody>
      </p:sp>
      <p:sp>
        <p:nvSpPr>
          <p:cNvPr id="23" name="Text 21"/>
          <p:cNvSpPr/>
          <p:nvPr/>
        </p:nvSpPr>
        <p:spPr>
          <a:xfrm>
            <a:off x="914400" y="2670048"/>
            <a:ext cx="47091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560" dirty="0">
                <a:solidFill>
                  <a:srgbClr val="E5E9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ChatClient API — swap Ollama, OpenAI, Anthropic</a:t>
            </a:r>
            <a:endParaRPr lang="en-US" sz="1560" dirty="0"/>
          </a:p>
          <a:p>
            <a:pPr indent="0" marL="0">
              <a:lnSpc>
                <a:spcPct val="110000"/>
              </a:lnSpc>
              <a:buNone/>
            </a:pPr>
            <a:r>
              <a:rPr lang="en-US" sz="1560" dirty="0">
                <a:solidFill>
                  <a:srgbClr val="E5E9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with a config change, not a rewrite.</a:t>
            </a:r>
            <a:endParaRPr lang="en-US" sz="1560" dirty="0"/>
          </a:p>
        </p:txBody>
      </p:sp>
      <p:sp>
        <p:nvSpPr>
          <p:cNvPr id="24" name="Shape 22"/>
          <p:cNvSpPr/>
          <p:nvPr/>
        </p:nvSpPr>
        <p:spPr>
          <a:xfrm>
            <a:off x="6263640" y="2011680"/>
            <a:ext cx="5257800" cy="1737360"/>
          </a:xfrm>
          <a:prstGeom prst="roundRect">
            <a:avLst>
              <a:gd name="adj" fmla="val 6316"/>
            </a:avLst>
          </a:prstGeom>
          <a:solidFill>
            <a:srgbClr val="121A2E"/>
          </a:solidFill>
          <a:ln w="15875">
            <a:solidFill>
              <a:srgbClr val="5FE0C5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25000"/>
              </a:srgbClr>
            </a:outerShdw>
          </a:effectLst>
        </p:spPr>
      </p:sp>
      <p:sp>
        <p:nvSpPr>
          <p:cNvPr id="25" name="Text 23"/>
          <p:cNvSpPr/>
          <p:nvPr/>
        </p:nvSpPr>
        <p:spPr>
          <a:xfrm>
            <a:off x="6537960" y="2212848"/>
            <a:ext cx="47091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40" b="1" dirty="0">
                <a:solidFill>
                  <a:srgbClr val="5FE0C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Spring-native</a:t>
            </a:r>
            <a:endParaRPr lang="en-US" sz="2040" dirty="0"/>
          </a:p>
        </p:txBody>
      </p:sp>
      <p:sp>
        <p:nvSpPr>
          <p:cNvPr id="26" name="Text 24"/>
          <p:cNvSpPr/>
          <p:nvPr/>
        </p:nvSpPr>
        <p:spPr>
          <a:xfrm>
            <a:off x="6537960" y="2670048"/>
            <a:ext cx="47091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560" dirty="0">
                <a:solidFill>
                  <a:srgbClr val="E5E9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Auto-configuration, dependency injection, and</a:t>
            </a:r>
            <a:endParaRPr lang="en-US" sz="1560" dirty="0"/>
          </a:p>
          <a:p>
            <a:pPr indent="0" marL="0">
              <a:lnSpc>
                <a:spcPct val="110000"/>
              </a:lnSpc>
              <a:buNone/>
            </a:pPr>
            <a:r>
              <a:rPr lang="en-US" sz="1560" dirty="0">
                <a:solidFill>
                  <a:srgbClr val="E5E9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WebMVC just like the rest of your app.</a:t>
            </a:r>
            <a:endParaRPr lang="en-US" sz="1560" dirty="0"/>
          </a:p>
        </p:txBody>
      </p:sp>
      <p:sp>
        <p:nvSpPr>
          <p:cNvPr id="27" name="Shape 25"/>
          <p:cNvSpPr/>
          <p:nvPr/>
        </p:nvSpPr>
        <p:spPr>
          <a:xfrm>
            <a:off x="640080" y="4069080"/>
            <a:ext cx="5257800" cy="1737360"/>
          </a:xfrm>
          <a:prstGeom prst="roundRect">
            <a:avLst>
              <a:gd name="adj" fmla="val 6316"/>
            </a:avLst>
          </a:prstGeom>
          <a:solidFill>
            <a:srgbClr val="121A2E"/>
          </a:solidFill>
          <a:ln w="15875">
            <a:solidFill>
              <a:srgbClr val="8B98AC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25000"/>
              </a:srgbClr>
            </a:outerShdw>
          </a:effectLst>
        </p:spPr>
      </p:sp>
      <p:sp>
        <p:nvSpPr>
          <p:cNvPr id="28" name="Text 26"/>
          <p:cNvSpPr/>
          <p:nvPr/>
        </p:nvSpPr>
        <p:spPr>
          <a:xfrm>
            <a:off x="914400" y="4270248"/>
            <a:ext cx="47091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40" b="1" dirty="0">
                <a:solidFill>
                  <a:srgbClr val="8B98A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Batteries included</a:t>
            </a:r>
            <a:endParaRPr lang="en-US" sz="2040" dirty="0"/>
          </a:p>
        </p:txBody>
      </p:sp>
      <p:sp>
        <p:nvSpPr>
          <p:cNvPr id="29" name="Text 27"/>
          <p:cNvSpPr/>
          <p:nvPr/>
        </p:nvSpPr>
        <p:spPr>
          <a:xfrm>
            <a:off x="914400" y="4727448"/>
            <a:ext cx="47091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560" dirty="0">
                <a:solidFill>
                  <a:srgbClr val="E5E9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Prompt templates, structured output, chat memory,</a:t>
            </a:r>
            <a:endParaRPr lang="en-US" sz="1560" dirty="0"/>
          </a:p>
          <a:p>
            <a:pPr indent="0" marL="0">
              <a:lnSpc>
                <a:spcPct val="110000"/>
              </a:lnSpc>
              <a:buNone/>
            </a:pPr>
            <a:r>
              <a:rPr lang="en-US" sz="1560" dirty="0">
                <a:solidFill>
                  <a:srgbClr val="E5E9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RAG, and tool calling — built in.</a:t>
            </a:r>
            <a:endParaRPr lang="en-US" sz="1560" dirty="0"/>
          </a:p>
        </p:txBody>
      </p:sp>
      <p:sp>
        <p:nvSpPr>
          <p:cNvPr id="30" name="Shape 28"/>
          <p:cNvSpPr/>
          <p:nvPr/>
        </p:nvSpPr>
        <p:spPr>
          <a:xfrm>
            <a:off x="6263640" y="4069080"/>
            <a:ext cx="5257800" cy="1737360"/>
          </a:xfrm>
          <a:prstGeom prst="roundRect">
            <a:avLst>
              <a:gd name="adj" fmla="val 6316"/>
            </a:avLst>
          </a:prstGeom>
          <a:solidFill>
            <a:srgbClr val="121A2E"/>
          </a:solidFill>
          <a:ln w="15875">
            <a:solidFill>
              <a:srgbClr val="F2A93B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25000"/>
              </a:srgbClr>
            </a:outerShdw>
          </a:effectLst>
        </p:spPr>
      </p:sp>
      <p:sp>
        <p:nvSpPr>
          <p:cNvPr id="31" name="Text 29"/>
          <p:cNvSpPr/>
          <p:nvPr/>
        </p:nvSpPr>
        <p:spPr>
          <a:xfrm>
            <a:off x="6537960" y="4270248"/>
            <a:ext cx="47091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40" b="1" dirty="0">
                <a:solidFill>
                  <a:srgbClr val="F2A93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Portable &amp; local</a:t>
            </a:r>
            <a:endParaRPr lang="en-US" sz="2040" dirty="0"/>
          </a:p>
        </p:txBody>
      </p:sp>
      <p:sp>
        <p:nvSpPr>
          <p:cNvPr id="32" name="Text 30"/>
          <p:cNvSpPr/>
          <p:nvPr/>
        </p:nvSpPr>
        <p:spPr>
          <a:xfrm>
            <a:off x="6537960" y="4727448"/>
            <a:ext cx="47091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560" dirty="0">
                <a:solidFill>
                  <a:srgbClr val="E5E9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Same code runs against a local Llama or a cloud</a:t>
            </a:r>
            <a:endParaRPr lang="en-US" sz="1560" dirty="0"/>
          </a:p>
          <a:p>
            <a:pPr indent="0" marL="0">
              <a:lnSpc>
                <a:spcPct val="110000"/>
              </a:lnSpc>
              <a:buNone/>
            </a:pPr>
            <a:r>
              <a:rPr lang="en-US" sz="1560" dirty="0">
                <a:solidFill>
                  <a:srgbClr val="E5E9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 — no vendor lock-in, no API keys to start.</a:t>
            </a:r>
            <a:endParaRPr lang="en-US" sz="156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A0F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65760"/>
            <a:ext cx="731520" cy="457200"/>
          </a:xfrm>
          <a:prstGeom prst="line">
            <a:avLst/>
          </a:prstGeom>
          <a:noFill/>
          <a:ln w="9525">
            <a:solidFill>
              <a:srgbClr val="5B6478">
                <a:alpha val="3000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822960" y="822960"/>
            <a:ext cx="365760" cy="731520"/>
          </a:xfrm>
          <a:prstGeom prst="line">
            <a:avLst/>
          </a:prstGeom>
          <a:noFill/>
          <a:ln w="9525">
            <a:solidFill>
              <a:srgbClr val="5B6478">
                <a:alpha val="3000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 flipV="1">
            <a:off x="822960" y="1280160"/>
            <a:ext cx="914400" cy="274320"/>
          </a:xfrm>
          <a:prstGeom prst="line">
            <a:avLst/>
          </a:prstGeom>
          <a:noFill/>
          <a:ln w="9525">
            <a:solidFill>
              <a:srgbClr val="5B6478">
                <a:alpha val="3000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429768" y="338328"/>
            <a:ext cx="54864" cy="54864"/>
          </a:xfrm>
          <a:prstGeom prst="ellipse">
            <a:avLst/>
          </a:prstGeom>
          <a:solidFill>
            <a:srgbClr val="8B98AC">
              <a:alpha val="60000"/>
            </a:srgbClr>
          </a:solidFill>
          <a:ln/>
        </p:spPr>
      </p:sp>
      <p:sp>
        <p:nvSpPr>
          <p:cNvPr id="6" name="Shape 4"/>
          <p:cNvSpPr/>
          <p:nvPr/>
        </p:nvSpPr>
        <p:spPr>
          <a:xfrm>
            <a:off x="1161288" y="795528"/>
            <a:ext cx="54864" cy="54864"/>
          </a:xfrm>
          <a:prstGeom prst="ellipse">
            <a:avLst/>
          </a:prstGeom>
          <a:solidFill>
            <a:srgbClr val="8B98AC">
              <a:alpha val="60000"/>
            </a:srgbClr>
          </a:solidFill>
          <a:ln/>
        </p:spPr>
      </p:sp>
      <p:sp>
        <p:nvSpPr>
          <p:cNvPr id="7" name="Shape 5"/>
          <p:cNvSpPr/>
          <p:nvPr/>
        </p:nvSpPr>
        <p:spPr>
          <a:xfrm>
            <a:off x="795528" y="1527048"/>
            <a:ext cx="54864" cy="54864"/>
          </a:xfrm>
          <a:prstGeom prst="ellipse">
            <a:avLst/>
          </a:prstGeom>
          <a:solidFill>
            <a:srgbClr val="8B98AC">
              <a:alpha val="60000"/>
            </a:srgbClr>
          </a:solidFill>
          <a:ln/>
        </p:spPr>
      </p:sp>
      <p:sp>
        <p:nvSpPr>
          <p:cNvPr id="8" name="Shape 6"/>
          <p:cNvSpPr/>
          <p:nvPr/>
        </p:nvSpPr>
        <p:spPr>
          <a:xfrm>
            <a:off x="1709928" y="1252728"/>
            <a:ext cx="54864" cy="54864"/>
          </a:xfrm>
          <a:prstGeom prst="ellipse">
            <a:avLst/>
          </a:prstGeom>
          <a:solidFill>
            <a:srgbClr val="8B98AC">
              <a:alpha val="60000"/>
            </a:srgbClr>
          </a:solidFill>
          <a:ln/>
        </p:spPr>
      </p:sp>
      <p:sp>
        <p:nvSpPr>
          <p:cNvPr id="9" name="Shape 7"/>
          <p:cNvSpPr/>
          <p:nvPr/>
        </p:nvSpPr>
        <p:spPr>
          <a:xfrm flipV="1">
            <a:off x="10789920" y="5486400"/>
            <a:ext cx="731520" cy="548640"/>
          </a:xfrm>
          <a:prstGeom prst="line">
            <a:avLst/>
          </a:prstGeom>
          <a:noFill/>
          <a:ln w="9525">
            <a:solidFill>
              <a:srgbClr val="5B6478">
                <a:alpha val="30000"/>
              </a:srgbClr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 flipV="1">
            <a:off x="11155680" y="4754880"/>
            <a:ext cx="365760" cy="731520"/>
          </a:xfrm>
          <a:prstGeom prst="line">
            <a:avLst/>
          </a:prstGeom>
          <a:noFill/>
          <a:ln w="9525">
            <a:solidFill>
              <a:srgbClr val="5B6478">
                <a:alpha val="30000"/>
              </a:srgbClr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11155680" y="4754880"/>
            <a:ext cx="731520" cy="365760"/>
          </a:xfrm>
          <a:prstGeom prst="line">
            <a:avLst/>
          </a:prstGeom>
          <a:noFill/>
          <a:ln w="9525">
            <a:solidFill>
              <a:srgbClr val="5B6478">
                <a:alpha val="30000"/>
              </a:srgbClr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10762488" y="6007608"/>
            <a:ext cx="54864" cy="54864"/>
          </a:xfrm>
          <a:prstGeom prst="ellipse">
            <a:avLst/>
          </a:prstGeom>
          <a:solidFill>
            <a:srgbClr val="8B98AC">
              <a:alpha val="60000"/>
            </a:srgbClr>
          </a:solidFill>
          <a:ln/>
        </p:spPr>
      </p:sp>
      <p:sp>
        <p:nvSpPr>
          <p:cNvPr id="13" name="Shape 11"/>
          <p:cNvSpPr/>
          <p:nvPr/>
        </p:nvSpPr>
        <p:spPr>
          <a:xfrm>
            <a:off x="11494008" y="5458968"/>
            <a:ext cx="54864" cy="54864"/>
          </a:xfrm>
          <a:prstGeom prst="ellipse">
            <a:avLst/>
          </a:prstGeom>
          <a:solidFill>
            <a:srgbClr val="8B98AC">
              <a:alpha val="60000"/>
            </a:srgbClr>
          </a:solidFill>
          <a:ln/>
        </p:spPr>
      </p:sp>
      <p:sp>
        <p:nvSpPr>
          <p:cNvPr id="14" name="Shape 12"/>
          <p:cNvSpPr/>
          <p:nvPr/>
        </p:nvSpPr>
        <p:spPr>
          <a:xfrm>
            <a:off x="11128248" y="4727448"/>
            <a:ext cx="54864" cy="54864"/>
          </a:xfrm>
          <a:prstGeom prst="ellipse">
            <a:avLst/>
          </a:prstGeom>
          <a:solidFill>
            <a:srgbClr val="8B98AC">
              <a:alpha val="60000"/>
            </a:srgbClr>
          </a:solidFill>
          <a:ln/>
        </p:spPr>
      </p:sp>
      <p:sp>
        <p:nvSpPr>
          <p:cNvPr id="15" name="Shape 13"/>
          <p:cNvSpPr/>
          <p:nvPr/>
        </p:nvSpPr>
        <p:spPr>
          <a:xfrm>
            <a:off x="11859768" y="5093208"/>
            <a:ext cx="54864" cy="54864"/>
          </a:xfrm>
          <a:prstGeom prst="ellipse">
            <a:avLst/>
          </a:prstGeom>
          <a:solidFill>
            <a:srgbClr val="8B98AC">
              <a:alpha val="60000"/>
            </a:srgbClr>
          </a:solidFill>
          <a:ln/>
        </p:spPr>
      </p:sp>
      <p:sp>
        <p:nvSpPr>
          <p:cNvPr id="16" name="Text 14"/>
          <p:cNvSpPr/>
          <p:nvPr/>
        </p:nvSpPr>
        <p:spPr>
          <a:xfrm>
            <a:off x="457200" y="635508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80" dirty="0">
                <a:solidFill>
                  <a:srgbClr val="5B64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PromptToApps</a:t>
            </a:r>
            <a:endParaRPr lang="en-US" sz="1080" dirty="0"/>
          </a:p>
        </p:txBody>
      </p:sp>
      <p:sp>
        <p:nvSpPr>
          <p:cNvPr id="17" name="Text 15"/>
          <p:cNvSpPr/>
          <p:nvPr/>
        </p:nvSpPr>
        <p:spPr>
          <a:xfrm>
            <a:off x="11247120" y="635508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80" dirty="0">
                <a:solidFill>
                  <a:srgbClr val="5B64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4 / 10</a:t>
            </a:r>
            <a:endParaRPr lang="en-US" sz="1080" dirty="0"/>
          </a:p>
        </p:txBody>
      </p:sp>
      <p:sp>
        <p:nvSpPr>
          <p:cNvPr id="18" name="Text 16"/>
          <p:cNvSpPr/>
          <p:nvPr/>
        </p:nvSpPr>
        <p:spPr>
          <a:xfrm>
            <a:off x="640080" y="16459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40" spc="200" kern="0" dirty="0">
                <a:solidFill>
                  <a:srgbClr val="5FE0C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CORE CONCEPT</a:t>
            </a:r>
            <a:endParaRPr lang="en-US" sz="1440" dirty="0"/>
          </a:p>
        </p:txBody>
      </p:sp>
      <p:sp>
        <p:nvSpPr>
          <p:cNvPr id="19" name="Text 17"/>
          <p:cNvSpPr/>
          <p:nvPr/>
        </p:nvSpPr>
        <p:spPr>
          <a:xfrm>
            <a:off x="640080" y="457200"/>
            <a:ext cx="10881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360" b="1" dirty="0">
                <a:solidFill>
                  <a:srgbClr val="F2A93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ChatClient — one API for any model</a:t>
            </a:r>
            <a:endParaRPr lang="en-US" sz="3360" dirty="0"/>
          </a:p>
        </p:txBody>
      </p:sp>
      <p:sp>
        <p:nvSpPr>
          <p:cNvPr id="20" name="Text 18"/>
          <p:cNvSpPr/>
          <p:nvPr/>
        </p:nvSpPr>
        <p:spPr>
          <a:xfrm>
            <a:off x="640080" y="1463040"/>
            <a:ext cx="1088136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2160" b="1" dirty="0">
                <a:solidFill>
                  <a:srgbClr val="5FE0C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ChatClient</a:t>
            </a:r>
            <a:pPr indent="0" marL="0">
              <a:lnSpc>
                <a:spcPct val="130000"/>
              </a:lnSpc>
              <a:buNone/>
            </a:pPr>
            <a:r>
              <a:rPr lang="en-US" sz="2160" dirty="0">
                <a:solidFill>
                  <a:srgbClr val="E5E9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is Spring AI's single fluent API for talking to an LLM — build it once with </a:t>
            </a:r>
            <a:pPr indent="0" marL="0">
              <a:lnSpc>
                <a:spcPct val="130000"/>
              </a:lnSpc>
              <a:buNone/>
            </a:pPr>
            <a:r>
              <a:rPr lang="en-US" sz="2160" dirty="0">
                <a:solidFill>
                  <a:srgbClr val="F2A93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.prompt().user(...).call()</a:t>
            </a:r>
            <a:pPr indent="0" marL="0">
              <a:lnSpc>
                <a:spcPct val="130000"/>
              </a:lnSpc>
              <a:buNone/>
            </a:pPr>
            <a:r>
              <a:rPr lang="en-US" sz="2160" dirty="0">
                <a:solidFill>
                  <a:srgbClr val="E5E9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, and the model behind it can change without touching your code.</a:t>
            </a:r>
            <a:endParaRPr lang="en-US" sz="2160" dirty="0"/>
          </a:p>
        </p:txBody>
      </p:sp>
      <p:sp>
        <p:nvSpPr>
          <p:cNvPr id="21" name="Shape 19"/>
          <p:cNvSpPr/>
          <p:nvPr/>
        </p:nvSpPr>
        <p:spPr>
          <a:xfrm>
            <a:off x="640080" y="2926080"/>
            <a:ext cx="320040" cy="320040"/>
          </a:xfrm>
          <a:prstGeom prst="ellipse">
            <a:avLst/>
          </a:prstGeom>
          <a:solidFill>
            <a:srgbClr val="0A0F1C"/>
          </a:solidFill>
          <a:ln w="22225">
            <a:solidFill>
              <a:srgbClr val="F2A93B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640080" y="2926080"/>
            <a:ext cx="320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60" b="1" dirty="0">
                <a:solidFill>
                  <a:srgbClr val="F2A93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endParaRPr lang="en-US" sz="1560" dirty="0"/>
          </a:p>
        </p:txBody>
      </p:sp>
      <p:sp>
        <p:nvSpPr>
          <p:cNvPr id="23" name="Text 21"/>
          <p:cNvSpPr/>
          <p:nvPr/>
        </p:nvSpPr>
        <p:spPr>
          <a:xfrm>
            <a:off x="1143000" y="2880360"/>
            <a:ext cx="100584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20" b="1" dirty="0">
                <a:solidFill>
                  <a:srgbClr val="E5E9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Builder pattern</a:t>
            </a:r>
            <a:endParaRPr lang="en-US" sz="1920" dirty="0"/>
          </a:p>
          <a:p>
            <a:pPr indent="0" marL="0">
              <a:buNone/>
            </a:pPr>
            <a:r>
              <a:rPr lang="en-US" sz="1620" dirty="0">
                <a:solidFill>
                  <a:srgbClr val="B8C0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ChatClient.builder(chatModel).build() — configure once, reuse everywhere</a:t>
            </a:r>
            <a:endParaRPr lang="en-US" sz="1920" dirty="0"/>
          </a:p>
        </p:txBody>
      </p:sp>
      <p:sp>
        <p:nvSpPr>
          <p:cNvPr id="24" name="Shape 22"/>
          <p:cNvSpPr/>
          <p:nvPr/>
        </p:nvSpPr>
        <p:spPr>
          <a:xfrm>
            <a:off x="640080" y="3886200"/>
            <a:ext cx="320040" cy="320040"/>
          </a:xfrm>
          <a:prstGeom prst="ellipse">
            <a:avLst/>
          </a:prstGeom>
          <a:solidFill>
            <a:srgbClr val="0A0F1C"/>
          </a:solidFill>
          <a:ln w="22225">
            <a:solidFill>
              <a:srgbClr val="8B98AC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640080" y="3886200"/>
            <a:ext cx="320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60" b="1" dirty="0">
                <a:solidFill>
                  <a:srgbClr val="8B98A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</a:t>
            </a:r>
            <a:endParaRPr lang="en-US" sz="1560" dirty="0"/>
          </a:p>
        </p:txBody>
      </p:sp>
      <p:sp>
        <p:nvSpPr>
          <p:cNvPr id="26" name="Text 24"/>
          <p:cNvSpPr/>
          <p:nvPr/>
        </p:nvSpPr>
        <p:spPr>
          <a:xfrm>
            <a:off x="1143000" y="3840480"/>
            <a:ext cx="100584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20" b="1" dirty="0">
                <a:solidFill>
                  <a:srgbClr val="E5E9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Provider-agnostic</a:t>
            </a:r>
            <a:endParaRPr lang="en-US" sz="1920" dirty="0"/>
          </a:p>
          <a:p>
            <a:pPr indent="0" marL="0">
              <a:buNone/>
            </a:pPr>
            <a:r>
              <a:rPr lang="en-US" sz="1620" dirty="0">
                <a:solidFill>
                  <a:srgbClr val="B8C0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Today it's Ollama + llama3.2. Swap to another provider, same calling code</a:t>
            </a:r>
            <a:endParaRPr lang="en-US" sz="1920" dirty="0"/>
          </a:p>
        </p:txBody>
      </p:sp>
      <p:sp>
        <p:nvSpPr>
          <p:cNvPr id="27" name="Shape 25"/>
          <p:cNvSpPr/>
          <p:nvPr/>
        </p:nvSpPr>
        <p:spPr>
          <a:xfrm>
            <a:off x="640080" y="4846320"/>
            <a:ext cx="320040" cy="320040"/>
          </a:xfrm>
          <a:prstGeom prst="ellipse">
            <a:avLst/>
          </a:prstGeom>
          <a:solidFill>
            <a:srgbClr val="0A0F1C"/>
          </a:solidFill>
          <a:ln w="22225">
            <a:solidFill>
              <a:srgbClr val="5FE0C5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640080" y="4846320"/>
            <a:ext cx="320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60" b="1" dirty="0">
                <a:solidFill>
                  <a:srgbClr val="5FE0C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</a:t>
            </a:r>
            <a:endParaRPr lang="en-US" sz="1560" dirty="0"/>
          </a:p>
        </p:txBody>
      </p:sp>
      <p:sp>
        <p:nvSpPr>
          <p:cNvPr id="29" name="Text 27"/>
          <p:cNvSpPr/>
          <p:nvPr/>
        </p:nvSpPr>
        <p:spPr>
          <a:xfrm>
            <a:off x="1143000" y="4800600"/>
            <a:ext cx="100584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20" b="1" dirty="0">
                <a:solidFill>
                  <a:srgbClr val="E5E9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Fluent calls</a:t>
            </a:r>
            <a:endParaRPr lang="en-US" sz="1920" dirty="0"/>
          </a:p>
          <a:p>
            <a:pPr indent="0" marL="0">
              <a:buNone/>
            </a:pPr>
            <a:r>
              <a:rPr lang="en-US" sz="1620" dirty="0">
                <a:solidFill>
                  <a:srgbClr val="B8C0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prompt().user(question).call().content() reads like plain English</a:t>
            </a:r>
            <a:endParaRPr lang="en-US" sz="192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A0F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65760"/>
            <a:ext cx="731520" cy="457200"/>
          </a:xfrm>
          <a:prstGeom prst="line">
            <a:avLst/>
          </a:prstGeom>
          <a:noFill/>
          <a:ln w="9525">
            <a:solidFill>
              <a:srgbClr val="5B6478">
                <a:alpha val="3000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822960" y="822960"/>
            <a:ext cx="365760" cy="731520"/>
          </a:xfrm>
          <a:prstGeom prst="line">
            <a:avLst/>
          </a:prstGeom>
          <a:noFill/>
          <a:ln w="9525">
            <a:solidFill>
              <a:srgbClr val="5B6478">
                <a:alpha val="3000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 flipV="1">
            <a:off x="822960" y="1280160"/>
            <a:ext cx="914400" cy="274320"/>
          </a:xfrm>
          <a:prstGeom prst="line">
            <a:avLst/>
          </a:prstGeom>
          <a:noFill/>
          <a:ln w="9525">
            <a:solidFill>
              <a:srgbClr val="5B6478">
                <a:alpha val="3000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429768" y="338328"/>
            <a:ext cx="54864" cy="54864"/>
          </a:xfrm>
          <a:prstGeom prst="ellipse">
            <a:avLst/>
          </a:prstGeom>
          <a:solidFill>
            <a:srgbClr val="8B98AC">
              <a:alpha val="60000"/>
            </a:srgbClr>
          </a:solidFill>
          <a:ln/>
        </p:spPr>
      </p:sp>
      <p:sp>
        <p:nvSpPr>
          <p:cNvPr id="6" name="Shape 4"/>
          <p:cNvSpPr/>
          <p:nvPr/>
        </p:nvSpPr>
        <p:spPr>
          <a:xfrm>
            <a:off x="1161288" y="795528"/>
            <a:ext cx="54864" cy="54864"/>
          </a:xfrm>
          <a:prstGeom prst="ellipse">
            <a:avLst/>
          </a:prstGeom>
          <a:solidFill>
            <a:srgbClr val="8B98AC">
              <a:alpha val="60000"/>
            </a:srgbClr>
          </a:solidFill>
          <a:ln/>
        </p:spPr>
      </p:sp>
      <p:sp>
        <p:nvSpPr>
          <p:cNvPr id="7" name="Shape 5"/>
          <p:cNvSpPr/>
          <p:nvPr/>
        </p:nvSpPr>
        <p:spPr>
          <a:xfrm>
            <a:off x="795528" y="1527048"/>
            <a:ext cx="54864" cy="54864"/>
          </a:xfrm>
          <a:prstGeom prst="ellipse">
            <a:avLst/>
          </a:prstGeom>
          <a:solidFill>
            <a:srgbClr val="8B98AC">
              <a:alpha val="60000"/>
            </a:srgbClr>
          </a:solidFill>
          <a:ln/>
        </p:spPr>
      </p:sp>
      <p:sp>
        <p:nvSpPr>
          <p:cNvPr id="8" name="Shape 6"/>
          <p:cNvSpPr/>
          <p:nvPr/>
        </p:nvSpPr>
        <p:spPr>
          <a:xfrm>
            <a:off x="1709928" y="1252728"/>
            <a:ext cx="54864" cy="54864"/>
          </a:xfrm>
          <a:prstGeom prst="ellipse">
            <a:avLst/>
          </a:prstGeom>
          <a:solidFill>
            <a:srgbClr val="8B98AC">
              <a:alpha val="60000"/>
            </a:srgbClr>
          </a:solidFill>
          <a:ln/>
        </p:spPr>
      </p:sp>
      <p:sp>
        <p:nvSpPr>
          <p:cNvPr id="9" name="Shape 7"/>
          <p:cNvSpPr/>
          <p:nvPr/>
        </p:nvSpPr>
        <p:spPr>
          <a:xfrm flipV="1">
            <a:off x="10789920" y="5486400"/>
            <a:ext cx="731520" cy="548640"/>
          </a:xfrm>
          <a:prstGeom prst="line">
            <a:avLst/>
          </a:prstGeom>
          <a:noFill/>
          <a:ln w="9525">
            <a:solidFill>
              <a:srgbClr val="5B6478">
                <a:alpha val="30000"/>
              </a:srgbClr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 flipV="1">
            <a:off x="11155680" y="4754880"/>
            <a:ext cx="365760" cy="731520"/>
          </a:xfrm>
          <a:prstGeom prst="line">
            <a:avLst/>
          </a:prstGeom>
          <a:noFill/>
          <a:ln w="9525">
            <a:solidFill>
              <a:srgbClr val="5B6478">
                <a:alpha val="30000"/>
              </a:srgbClr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11155680" y="4754880"/>
            <a:ext cx="731520" cy="365760"/>
          </a:xfrm>
          <a:prstGeom prst="line">
            <a:avLst/>
          </a:prstGeom>
          <a:noFill/>
          <a:ln w="9525">
            <a:solidFill>
              <a:srgbClr val="5B6478">
                <a:alpha val="30000"/>
              </a:srgbClr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10762488" y="6007608"/>
            <a:ext cx="54864" cy="54864"/>
          </a:xfrm>
          <a:prstGeom prst="ellipse">
            <a:avLst/>
          </a:prstGeom>
          <a:solidFill>
            <a:srgbClr val="8B98AC">
              <a:alpha val="60000"/>
            </a:srgbClr>
          </a:solidFill>
          <a:ln/>
        </p:spPr>
      </p:sp>
      <p:sp>
        <p:nvSpPr>
          <p:cNvPr id="13" name="Shape 11"/>
          <p:cNvSpPr/>
          <p:nvPr/>
        </p:nvSpPr>
        <p:spPr>
          <a:xfrm>
            <a:off x="11494008" y="5458968"/>
            <a:ext cx="54864" cy="54864"/>
          </a:xfrm>
          <a:prstGeom prst="ellipse">
            <a:avLst/>
          </a:prstGeom>
          <a:solidFill>
            <a:srgbClr val="8B98AC">
              <a:alpha val="60000"/>
            </a:srgbClr>
          </a:solidFill>
          <a:ln/>
        </p:spPr>
      </p:sp>
      <p:sp>
        <p:nvSpPr>
          <p:cNvPr id="14" name="Shape 12"/>
          <p:cNvSpPr/>
          <p:nvPr/>
        </p:nvSpPr>
        <p:spPr>
          <a:xfrm>
            <a:off x="11128248" y="4727448"/>
            <a:ext cx="54864" cy="54864"/>
          </a:xfrm>
          <a:prstGeom prst="ellipse">
            <a:avLst/>
          </a:prstGeom>
          <a:solidFill>
            <a:srgbClr val="8B98AC">
              <a:alpha val="60000"/>
            </a:srgbClr>
          </a:solidFill>
          <a:ln/>
        </p:spPr>
      </p:sp>
      <p:sp>
        <p:nvSpPr>
          <p:cNvPr id="15" name="Shape 13"/>
          <p:cNvSpPr/>
          <p:nvPr/>
        </p:nvSpPr>
        <p:spPr>
          <a:xfrm>
            <a:off x="11859768" y="5093208"/>
            <a:ext cx="54864" cy="54864"/>
          </a:xfrm>
          <a:prstGeom prst="ellipse">
            <a:avLst/>
          </a:prstGeom>
          <a:solidFill>
            <a:srgbClr val="8B98AC">
              <a:alpha val="60000"/>
            </a:srgbClr>
          </a:solidFill>
          <a:ln/>
        </p:spPr>
      </p:sp>
      <p:sp>
        <p:nvSpPr>
          <p:cNvPr id="16" name="Text 14"/>
          <p:cNvSpPr/>
          <p:nvPr/>
        </p:nvSpPr>
        <p:spPr>
          <a:xfrm>
            <a:off x="457200" y="635508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80" dirty="0">
                <a:solidFill>
                  <a:srgbClr val="5B64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PromptToApps</a:t>
            </a:r>
            <a:endParaRPr lang="en-US" sz="1080" dirty="0"/>
          </a:p>
        </p:txBody>
      </p:sp>
      <p:sp>
        <p:nvSpPr>
          <p:cNvPr id="17" name="Text 15"/>
          <p:cNvSpPr/>
          <p:nvPr/>
        </p:nvSpPr>
        <p:spPr>
          <a:xfrm>
            <a:off x="11247120" y="635508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80" dirty="0">
                <a:solidFill>
                  <a:srgbClr val="5B64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5 / 10</a:t>
            </a:r>
            <a:endParaRPr lang="en-US" sz="1080" dirty="0"/>
          </a:p>
        </p:txBody>
      </p:sp>
      <p:sp>
        <p:nvSpPr>
          <p:cNvPr id="18" name="Text 16"/>
          <p:cNvSpPr/>
          <p:nvPr/>
        </p:nvSpPr>
        <p:spPr>
          <a:xfrm>
            <a:off x="640080" y="16459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40" spc="200" kern="0" dirty="0">
                <a:solidFill>
                  <a:srgbClr val="5FE0C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ARCHITECTURE</a:t>
            </a:r>
            <a:endParaRPr lang="en-US" sz="1440" dirty="0"/>
          </a:p>
        </p:txBody>
      </p:sp>
      <p:sp>
        <p:nvSpPr>
          <p:cNvPr id="19" name="Text 17"/>
          <p:cNvSpPr/>
          <p:nvPr/>
        </p:nvSpPr>
        <p:spPr>
          <a:xfrm>
            <a:off x="640080" y="457200"/>
            <a:ext cx="10881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360" b="1" dirty="0">
                <a:solidFill>
                  <a:srgbClr val="F2A93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How a question becomes an answer</a:t>
            </a:r>
            <a:endParaRPr lang="en-US" sz="3360" dirty="0"/>
          </a:p>
        </p:txBody>
      </p:sp>
      <p:sp>
        <p:nvSpPr>
          <p:cNvPr id="20" name="Shape 18"/>
          <p:cNvSpPr/>
          <p:nvPr/>
        </p:nvSpPr>
        <p:spPr>
          <a:xfrm>
            <a:off x="640080" y="2468880"/>
            <a:ext cx="2377440" cy="1371600"/>
          </a:xfrm>
          <a:prstGeom prst="roundRect">
            <a:avLst>
              <a:gd name="adj" fmla="val 8000"/>
            </a:avLst>
          </a:prstGeom>
          <a:solidFill>
            <a:srgbClr val="121A2E"/>
          </a:solidFill>
          <a:ln w="19050">
            <a:solidFill>
              <a:srgbClr val="8B98AC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25000"/>
              </a:srgbClr>
            </a:outerShdw>
          </a:effectLst>
        </p:spPr>
      </p:sp>
      <p:sp>
        <p:nvSpPr>
          <p:cNvPr id="21" name="Text 19"/>
          <p:cNvSpPr/>
          <p:nvPr/>
        </p:nvSpPr>
        <p:spPr>
          <a:xfrm>
            <a:off x="822960" y="2743200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20" b="1" dirty="0">
                <a:solidFill>
                  <a:srgbClr val="E5E9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curl / Browser</a:t>
            </a:r>
            <a:endParaRPr lang="en-US" sz="1920" dirty="0"/>
          </a:p>
        </p:txBody>
      </p:sp>
      <p:sp>
        <p:nvSpPr>
          <p:cNvPr id="22" name="Text 20"/>
          <p:cNvSpPr/>
          <p:nvPr/>
        </p:nvSpPr>
        <p:spPr>
          <a:xfrm>
            <a:off x="822960" y="3246120"/>
            <a:ext cx="2011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60" dirty="0">
                <a:solidFill>
                  <a:srgbClr val="8B98A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POST /hr/ask</a:t>
            </a:r>
            <a:endParaRPr lang="en-US" sz="1560" dirty="0"/>
          </a:p>
        </p:txBody>
      </p:sp>
      <p:sp>
        <p:nvSpPr>
          <p:cNvPr id="23" name="Shape 21"/>
          <p:cNvSpPr/>
          <p:nvPr/>
        </p:nvSpPr>
        <p:spPr>
          <a:xfrm>
            <a:off x="3977640" y="2468880"/>
            <a:ext cx="2743200" cy="1371600"/>
          </a:xfrm>
          <a:prstGeom prst="roundRect">
            <a:avLst>
              <a:gd name="adj" fmla="val 8000"/>
            </a:avLst>
          </a:prstGeom>
          <a:solidFill>
            <a:srgbClr val="121A2E"/>
          </a:solidFill>
          <a:ln w="19050">
            <a:solidFill>
              <a:srgbClr val="F2A93B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25000"/>
              </a:srgbClr>
            </a:outerShdw>
          </a:effectLst>
        </p:spPr>
      </p:sp>
      <p:sp>
        <p:nvSpPr>
          <p:cNvPr id="24" name="Text 22"/>
          <p:cNvSpPr/>
          <p:nvPr/>
        </p:nvSpPr>
        <p:spPr>
          <a:xfrm>
            <a:off x="4160520" y="2743200"/>
            <a:ext cx="2377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20" b="1" dirty="0">
                <a:solidFill>
                  <a:srgbClr val="E5E9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Spring Boot App</a:t>
            </a:r>
            <a:endParaRPr lang="en-US" sz="1920" dirty="0"/>
          </a:p>
        </p:txBody>
      </p:sp>
      <p:sp>
        <p:nvSpPr>
          <p:cNvPr id="25" name="Text 23"/>
          <p:cNvSpPr/>
          <p:nvPr/>
        </p:nvSpPr>
        <p:spPr>
          <a:xfrm>
            <a:off x="4160520" y="3246120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60" dirty="0">
                <a:solidFill>
                  <a:srgbClr val="F2A93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ChatClient</a:t>
            </a:r>
            <a:endParaRPr lang="en-US" sz="1560" dirty="0"/>
          </a:p>
        </p:txBody>
      </p:sp>
      <p:sp>
        <p:nvSpPr>
          <p:cNvPr id="26" name="Shape 24"/>
          <p:cNvSpPr/>
          <p:nvPr/>
        </p:nvSpPr>
        <p:spPr>
          <a:xfrm>
            <a:off x="7726680" y="2468880"/>
            <a:ext cx="2743200" cy="1371600"/>
          </a:xfrm>
          <a:prstGeom prst="roundRect">
            <a:avLst>
              <a:gd name="adj" fmla="val 8000"/>
            </a:avLst>
          </a:prstGeom>
          <a:solidFill>
            <a:srgbClr val="121A2E"/>
          </a:solidFill>
          <a:ln w="19050">
            <a:solidFill>
              <a:srgbClr val="5FE0C5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25000"/>
              </a:srgbClr>
            </a:outerShdw>
          </a:effectLst>
        </p:spPr>
      </p:sp>
      <p:sp>
        <p:nvSpPr>
          <p:cNvPr id="27" name="Text 25"/>
          <p:cNvSpPr/>
          <p:nvPr/>
        </p:nvSpPr>
        <p:spPr>
          <a:xfrm>
            <a:off x="7909560" y="2743200"/>
            <a:ext cx="2377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20" b="1" dirty="0">
                <a:solidFill>
                  <a:srgbClr val="E5E9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Ollama</a:t>
            </a:r>
            <a:endParaRPr lang="en-US" sz="1920" dirty="0"/>
          </a:p>
        </p:txBody>
      </p:sp>
      <p:sp>
        <p:nvSpPr>
          <p:cNvPr id="28" name="Text 26"/>
          <p:cNvSpPr/>
          <p:nvPr/>
        </p:nvSpPr>
        <p:spPr>
          <a:xfrm>
            <a:off x="7909560" y="3246120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60" dirty="0">
                <a:solidFill>
                  <a:srgbClr val="5FE0C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llama3.2 model</a:t>
            </a:r>
            <a:endParaRPr lang="en-US" sz="1560" dirty="0"/>
          </a:p>
        </p:txBody>
      </p:sp>
      <p:sp>
        <p:nvSpPr>
          <p:cNvPr id="29" name="Shape 27"/>
          <p:cNvSpPr/>
          <p:nvPr/>
        </p:nvSpPr>
        <p:spPr>
          <a:xfrm>
            <a:off x="3017520" y="2880360"/>
            <a:ext cx="960120" cy="0"/>
          </a:xfrm>
          <a:prstGeom prst="line">
            <a:avLst/>
          </a:prstGeom>
          <a:noFill/>
          <a:ln w="25400">
            <a:solidFill>
              <a:srgbClr val="8B98AC"/>
            </a:solidFill>
            <a:prstDash val="solid"/>
            <a:tailEnd type="triangle"/>
          </a:ln>
        </p:spPr>
      </p:sp>
      <p:sp>
        <p:nvSpPr>
          <p:cNvPr id="30" name="Text 28"/>
          <p:cNvSpPr/>
          <p:nvPr/>
        </p:nvSpPr>
        <p:spPr>
          <a:xfrm>
            <a:off x="2788920" y="2423160"/>
            <a:ext cx="1463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60" dirty="0">
                <a:solidFill>
                  <a:srgbClr val="8B98A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question</a:t>
            </a:r>
            <a:endParaRPr lang="en-US" sz="1260" dirty="0"/>
          </a:p>
        </p:txBody>
      </p:sp>
      <p:sp>
        <p:nvSpPr>
          <p:cNvPr id="31" name="Shape 29"/>
          <p:cNvSpPr/>
          <p:nvPr/>
        </p:nvSpPr>
        <p:spPr>
          <a:xfrm>
            <a:off x="3017520" y="3429000"/>
            <a:ext cx="960120" cy="0"/>
          </a:xfrm>
          <a:prstGeom prst="line">
            <a:avLst/>
          </a:prstGeom>
          <a:noFill/>
          <a:ln w="25400">
            <a:solidFill>
              <a:srgbClr val="F2A93B"/>
            </a:solidFill>
            <a:prstDash val="solid"/>
            <a:headEnd type="triangle"/>
          </a:ln>
        </p:spPr>
      </p:sp>
      <p:sp>
        <p:nvSpPr>
          <p:cNvPr id="32" name="Text 30"/>
          <p:cNvSpPr/>
          <p:nvPr/>
        </p:nvSpPr>
        <p:spPr>
          <a:xfrm>
            <a:off x="2788920" y="3520440"/>
            <a:ext cx="1463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60" dirty="0">
                <a:solidFill>
                  <a:srgbClr val="F2A93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answer</a:t>
            </a:r>
            <a:endParaRPr lang="en-US" sz="1260" dirty="0"/>
          </a:p>
        </p:txBody>
      </p:sp>
      <p:sp>
        <p:nvSpPr>
          <p:cNvPr id="33" name="Shape 31"/>
          <p:cNvSpPr/>
          <p:nvPr/>
        </p:nvSpPr>
        <p:spPr>
          <a:xfrm>
            <a:off x="6720840" y="2880360"/>
            <a:ext cx="1005840" cy="0"/>
          </a:xfrm>
          <a:prstGeom prst="line">
            <a:avLst/>
          </a:prstGeom>
          <a:noFill/>
          <a:ln w="25400">
            <a:solidFill>
              <a:srgbClr val="F2A93B"/>
            </a:solidFill>
            <a:prstDash val="solid"/>
            <a:tailEnd type="triangle"/>
          </a:ln>
        </p:spPr>
      </p:sp>
      <p:sp>
        <p:nvSpPr>
          <p:cNvPr id="34" name="Text 32"/>
          <p:cNvSpPr/>
          <p:nvPr/>
        </p:nvSpPr>
        <p:spPr>
          <a:xfrm>
            <a:off x="6492240" y="2423160"/>
            <a:ext cx="1463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60" dirty="0">
                <a:solidFill>
                  <a:srgbClr val="F2A93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prompt</a:t>
            </a:r>
            <a:endParaRPr lang="en-US" sz="1260" dirty="0"/>
          </a:p>
        </p:txBody>
      </p:sp>
      <p:sp>
        <p:nvSpPr>
          <p:cNvPr id="35" name="Shape 33"/>
          <p:cNvSpPr/>
          <p:nvPr/>
        </p:nvSpPr>
        <p:spPr>
          <a:xfrm>
            <a:off x="6720840" y="3429000"/>
            <a:ext cx="1005840" cy="0"/>
          </a:xfrm>
          <a:prstGeom prst="line">
            <a:avLst/>
          </a:prstGeom>
          <a:noFill/>
          <a:ln w="25400">
            <a:solidFill>
              <a:srgbClr val="5FE0C5"/>
            </a:solidFill>
            <a:prstDash val="solid"/>
            <a:headEnd type="triangle"/>
          </a:ln>
        </p:spPr>
      </p:sp>
      <p:sp>
        <p:nvSpPr>
          <p:cNvPr id="36" name="Text 34"/>
          <p:cNvSpPr/>
          <p:nvPr/>
        </p:nvSpPr>
        <p:spPr>
          <a:xfrm>
            <a:off x="6492240" y="3520440"/>
            <a:ext cx="1463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60" dirty="0">
                <a:solidFill>
                  <a:srgbClr val="5FE0C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completion</a:t>
            </a:r>
            <a:endParaRPr lang="en-US" sz="1260" dirty="0"/>
          </a:p>
        </p:txBody>
      </p:sp>
      <p:sp>
        <p:nvSpPr>
          <p:cNvPr id="37" name="Text 35"/>
          <p:cNvSpPr/>
          <p:nvPr/>
        </p:nvSpPr>
        <p:spPr>
          <a:xfrm>
            <a:off x="3977640" y="397764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20" dirty="0">
                <a:solidFill>
                  <a:srgbClr val="5B64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localhost:8080</a:t>
            </a:r>
            <a:endParaRPr lang="en-US" sz="1320" dirty="0"/>
          </a:p>
        </p:txBody>
      </p:sp>
      <p:sp>
        <p:nvSpPr>
          <p:cNvPr id="38" name="Text 36"/>
          <p:cNvSpPr/>
          <p:nvPr/>
        </p:nvSpPr>
        <p:spPr>
          <a:xfrm>
            <a:off x="7726680" y="397764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20" dirty="0">
                <a:solidFill>
                  <a:srgbClr val="5B64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localhost:11434</a:t>
            </a:r>
            <a:endParaRPr lang="en-US" sz="132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A0F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65760"/>
            <a:ext cx="731520" cy="457200"/>
          </a:xfrm>
          <a:prstGeom prst="line">
            <a:avLst/>
          </a:prstGeom>
          <a:noFill/>
          <a:ln w="9525">
            <a:solidFill>
              <a:srgbClr val="5B6478">
                <a:alpha val="3000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822960" y="822960"/>
            <a:ext cx="365760" cy="731520"/>
          </a:xfrm>
          <a:prstGeom prst="line">
            <a:avLst/>
          </a:prstGeom>
          <a:noFill/>
          <a:ln w="9525">
            <a:solidFill>
              <a:srgbClr val="5B6478">
                <a:alpha val="3000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 flipV="1">
            <a:off x="822960" y="1280160"/>
            <a:ext cx="914400" cy="274320"/>
          </a:xfrm>
          <a:prstGeom prst="line">
            <a:avLst/>
          </a:prstGeom>
          <a:noFill/>
          <a:ln w="9525">
            <a:solidFill>
              <a:srgbClr val="5B6478">
                <a:alpha val="3000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429768" y="338328"/>
            <a:ext cx="54864" cy="54864"/>
          </a:xfrm>
          <a:prstGeom prst="ellipse">
            <a:avLst/>
          </a:prstGeom>
          <a:solidFill>
            <a:srgbClr val="8B98AC">
              <a:alpha val="60000"/>
            </a:srgbClr>
          </a:solidFill>
          <a:ln/>
        </p:spPr>
      </p:sp>
      <p:sp>
        <p:nvSpPr>
          <p:cNvPr id="6" name="Shape 4"/>
          <p:cNvSpPr/>
          <p:nvPr/>
        </p:nvSpPr>
        <p:spPr>
          <a:xfrm>
            <a:off x="1161288" y="795528"/>
            <a:ext cx="54864" cy="54864"/>
          </a:xfrm>
          <a:prstGeom prst="ellipse">
            <a:avLst/>
          </a:prstGeom>
          <a:solidFill>
            <a:srgbClr val="8B98AC">
              <a:alpha val="60000"/>
            </a:srgbClr>
          </a:solidFill>
          <a:ln/>
        </p:spPr>
      </p:sp>
      <p:sp>
        <p:nvSpPr>
          <p:cNvPr id="7" name="Shape 5"/>
          <p:cNvSpPr/>
          <p:nvPr/>
        </p:nvSpPr>
        <p:spPr>
          <a:xfrm>
            <a:off x="795528" y="1527048"/>
            <a:ext cx="54864" cy="54864"/>
          </a:xfrm>
          <a:prstGeom prst="ellipse">
            <a:avLst/>
          </a:prstGeom>
          <a:solidFill>
            <a:srgbClr val="8B98AC">
              <a:alpha val="60000"/>
            </a:srgbClr>
          </a:solidFill>
          <a:ln/>
        </p:spPr>
      </p:sp>
      <p:sp>
        <p:nvSpPr>
          <p:cNvPr id="8" name="Shape 6"/>
          <p:cNvSpPr/>
          <p:nvPr/>
        </p:nvSpPr>
        <p:spPr>
          <a:xfrm>
            <a:off x="1709928" y="1252728"/>
            <a:ext cx="54864" cy="54864"/>
          </a:xfrm>
          <a:prstGeom prst="ellipse">
            <a:avLst/>
          </a:prstGeom>
          <a:solidFill>
            <a:srgbClr val="8B98AC">
              <a:alpha val="60000"/>
            </a:srgbClr>
          </a:solidFill>
          <a:ln/>
        </p:spPr>
      </p:sp>
      <p:sp>
        <p:nvSpPr>
          <p:cNvPr id="9" name="Shape 7"/>
          <p:cNvSpPr/>
          <p:nvPr/>
        </p:nvSpPr>
        <p:spPr>
          <a:xfrm flipV="1">
            <a:off x="10789920" y="5486400"/>
            <a:ext cx="731520" cy="548640"/>
          </a:xfrm>
          <a:prstGeom prst="line">
            <a:avLst/>
          </a:prstGeom>
          <a:noFill/>
          <a:ln w="9525">
            <a:solidFill>
              <a:srgbClr val="5B6478">
                <a:alpha val="30000"/>
              </a:srgbClr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 flipV="1">
            <a:off x="11155680" y="4754880"/>
            <a:ext cx="365760" cy="731520"/>
          </a:xfrm>
          <a:prstGeom prst="line">
            <a:avLst/>
          </a:prstGeom>
          <a:noFill/>
          <a:ln w="9525">
            <a:solidFill>
              <a:srgbClr val="5B6478">
                <a:alpha val="30000"/>
              </a:srgbClr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11155680" y="4754880"/>
            <a:ext cx="731520" cy="365760"/>
          </a:xfrm>
          <a:prstGeom prst="line">
            <a:avLst/>
          </a:prstGeom>
          <a:noFill/>
          <a:ln w="9525">
            <a:solidFill>
              <a:srgbClr val="5B6478">
                <a:alpha val="30000"/>
              </a:srgbClr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10762488" y="6007608"/>
            <a:ext cx="54864" cy="54864"/>
          </a:xfrm>
          <a:prstGeom prst="ellipse">
            <a:avLst/>
          </a:prstGeom>
          <a:solidFill>
            <a:srgbClr val="8B98AC">
              <a:alpha val="60000"/>
            </a:srgbClr>
          </a:solidFill>
          <a:ln/>
        </p:spPr>
      </p:sp>
      <p:sp>
        <p:nvSpPr>
          <p:cNvPr id="13" name="Shape 11"/>
          <p:cNvSpPr/>
          <p:nvPr/>
        </p:nvSpPr>
        <p:spPr>
          <a:xfrm>
            <a:off x="11494008" y="5458968"/>
            <a:ext cx="54864" cy="54864"/>
          </a:xfrm>
          <a:prstGeom prst="ellipse">
            <a:avLst/>
          </a:prstGeom>
          <a:solidFill>
            <a:srgbClr val="8B98AC">
              <a:alpha val="60000"/>
            </a:srgbClr>
          </a:solidFill>
          <a:ln/>
        </p:spPr>
      </p:sp>
      <p:sp>
        <p:nvSpPr>
          <p:cNvPr id="14" name="Shape 12"/>
          <p:cNvSpPr/>
          <p:nvPr/>
        </p:nvSpPr>
        <p:spPr>
          <a:xfrm>
            <a:off x="11128248" y="4727448"/>
            <a:ext cx="54864" cy="54864"/>
          </a:xfrm>
          <a:prstGeom prst="ellipse">
            <a:avLst/>
          </a:prstGeom>
          <a:solidFill>
            <a:srgbClr val="8B98AC">
              <a:alpha val="60000"/>
            </a:srgbClr>
          </a:solidFill>
          <a:ln/>
        </p:spPr>
      </p:sp>
      <p:sp>
        <p:nvSpPr>
          <p:cNvPr id="15" name="Shape 13"/>
          <p:cNvSpPr/>
          <p:nvPr/>
        </p:nvSpPr>
        <p:spPr>
          <a:xfrm>
            <a:off x="11859768" y="5093208"/>
            <a:ext cx="54864" cy="54864"/>
          </a:xfrm>
          <a:prstGeom prst="ellipse">
            <a:avLst/>
          </a:prstGeom>
          <a:solidFill>
            <a:srgbClr val="8B98AC">
              <a:alpha val="60000"/>
            </a:srgbClr>
          </a:solidFill>
          <a:ln/>
        </p:spPr>
      </p:sp>
      <p:sp>
        <p:nvSpPr>
          <p:cNvPr id="16" name="Text 14"/>
          <p:cNvSpPr/>
          <p:nvPr/>
        </p:nvSpPr>
        <p:spPr>
          <a:xfrm>
            <a:off x="457200" y="635508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80" dirty="0">
                <a:solidFill>
                  <a:srgbClr val="5B64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PromptToApps</a:t>
            </a:r>
            <a:endParaRPr lang="en-US" sz="1080" dirty="0"/>
          </a:p>
        </p:txBody>
      </p:sp>
      <p:sp>
        <p:nvSpPr>
          <p:cNvPr id="17" name="Text 15"/>
          <p:cNvSpPr/>
          <p:nvPr/>
        </p:nvSpPr>
        <p:spPr>
          <a:xfrm>
            <a:off x="11247120" y="635508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80" dirty="0">
                <a:solidFill>
                  <a:srgbClr val="5B64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6 / 10</a:t>
            </a:r>
            <a:endParaRPr lang="en-US" sz="1080" dirty="0"/>
          </a:p>
        </p:txBody>
      </p:sp>
      <p:sp>
        <p:nvSpPr>
          <p:cNvPr id="18" name="Text 16"/>
          <p:cNvSpPr/>
          <p:nvPr/>
        </p:nvSpPr>
        <p:spPr>
          <a:xfrm>
            <a:off x="640080" y="16459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40" spc="200" kern="0" dirty="0">
                <a:solidFill>
                  <a:srgbClr val="5FE0C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CODE SNIPPET</a:t>
            </a:r>
            <a:endParaRPr lang="en-US" sz="1440" dirty="0"/>
          </a:p>
        </p:txBody>
      </p:sp>
      <p:sp>
        <p:nvSpPr>
          <p:cNvPr id="19" name="Text 17"/>
          <p:cNvSpPr/>
          <p:nvPr/>
        </p:nvSpPr>
        <p:spPr>
          <a:xfrm>
            <a:off x="640080" y="457200"/>
            <a:ext cx="10881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360" b="1" dirty="0">
                <a:solidFill>
                  <a:srgbClr val="F2A93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The Controller</a:t>
            </a:r>
            <a:endParaRPr lang="en-US" sz="3360" dirty="0"/>
          </a:p>
        </p:txBody>
      </p:sp>
      <p:sp>
        <p:nvSpPr>
          <p:cNvPr id="20" name="Shape 18"/>
          <p:cNvSpPr/>
          <p:nvPr/>
        </p:nvSpPr>
        <p:spPr>
          <a:xfrm>
            <a:off x="640080" y="1234440"/>
            <a:ext cx="10881360" cy="5029200"/>
          </a:xfrm>
          <a:prstGeom prst="roundRect">
            <a:avLst>
              <a:gd name="adj" fmla="val 1455"/>
            </a:avLst>
          </a:prstGeom>
          <a:solidFill>
            <a:srgbClr val="121A2E"/>
          </a:solidFill>
          <a:ln w="9525">
            <a:solidFill>
              <a:srgbClr val="5B6478"/>
            </a:solidFill>
            <a:prstDash val="solid"/>
          </a:ln>
          <a:effectLst>
            <a:outerShdw sx="100000" sy="100000" kx="0" ky="0" algn="bl" rotWithShape="0" blurRad="127000" dist="50800" dir="5400000">
              <a:srgbClr val="000000">
                <a:alpha val="30000"/>
              </a:srgbClr>
            </a:outerShdw>
          </a:effectLst>
        </p:spPr>
      </p:sp>
      <p:sp>
        <p:nvSpPr>
          <p:cNvPr id="21" name="Shape 19"/>
          <p:cNvSpPr/>
          <p:nvPr/>
        </p:nvSpPr>
        <p:spPr>
          <a:xfrm>
            <a:off x="841248" y="1399032"/>
            <a:ext cx="91440" cy="91440"/>
          </a:xfrm>
          <a:prstGeom prst="ellipse">
            <a:avLst/>
          </a:prstGeom>
          <a:solidFill>
            <a:srgbClr val="F2A93B"/>
          </a:solidFill>
          <a:ln/>
        </p:spPr>
      </p:sp>
      <p:sp>
        <p:nvSpPr>
          <p:cNvPr id="22" name="Shape 20"/>
          <p:cNvSpPr/>
          <p:nvPr/>
        </p:nvSpPr>
        <p:spPr>
          <a:xfrm>
            <a:off x="1042416" y="1399032"/>
            <a:ext cx="91440" cy="91440"/>
          </a:xfrm>
          <a:prstGeom prst="ellipse">
            <a:avLst/>
          </a:prstGeom>
          <a:solidFill>
            <a:srgbClr val="8B98AC"/>
          </a:solidFill>
          <a:ln/>
        </p:spPr>
      </p:sp>
      <p:sp>
        <p:nvSpPr>
          <p:cNvPr id="23" name="Shape 21"/>
          <p:cNvSpPr/>
          <p:nvPr/>
        </p:nvSpPr>
        <p:spPr>
          <a:xfrm>
            <a:off x="1243584" y="1399032"/>
            <a:ext cx="91440" cy="91440"/>
          </a:xfrm>
          <a:prstGeom prst="ellipse">
            <a:avLst/>
          </a:prstGeom>
          <a:solidFill>
            <a:srgbClr val="5FE0C5"/>
          </a:solidFill>
          <a:ln/>
        </p:spPr>
      </p:sp>
      <p:sp>
        <p:nvSpPr>
          <p:cNvPr id="24" name="Text 22"/>
          <p:cNvSpPr/>
          <p:nvPr/>
        </p:nvSpPr>
        <p:spPr>
          <a:xfrm>
            <a:off x="9509760" y="132588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8B98A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HrController.java</a:t>
            </a:r>
            <a:endParaRPr lang="en-US" sz="1200" dirty="0"/>
          </a:p>
        </p:txBody>
      </p:sp>
      <p:sp>
        <p:nvSpPr>
          <p:cNvPr id="25" name="Text 23"/>
          <p:cNvSpPr/>
          <p:nvPr/>
        </p:nvSpPr>
        <p:spPr>
          <a:xfrm>
            <a:off x="960120" y="1691640"/>
            <a:ext cx="10332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F2A93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@RestController</a:t>
            </a:r>
            <a:endParaRPr lang="en-US" sz="1500" dirty="0"/>
          </a:p>
        </p:txBody>
      </p:sp>
      <p:sp>
        <p:nvSpPr>
          <p:cNvPr id="26" name="Text 24"/>
          <p:cNvSpPr/>
          <p:nvPr/>
        </p:nvSpPr>
        <p:spPr>
          <a:xfrm>
            <a:off x="960120" y="1965960"/>
            <a:ext cx="10332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F2A93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@RequestMapping</a:t>
            </a:r>
            <a:pPr indent="0" marL="0">
              <a:buNone/>
            </a:pPr>
            <a:r>
              <a:rPr lang="en-US" sz="1500" dirty="0">
                <a:solidFill>
                  <a:srgbClr val="5FE0C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("/hr")</a:t>
            </a:r>
            <a:endParaRPr lang="en-US" sz="1500" dirty="0"/>
          </a:p>
        </p:txBody>
      </p:sp>
      <p:sp>
        <p:nvSpPr>
          <p:cNvPr id="27" name="Text 25"/>
          <p:cNvSpPr/>
          <p:nvPr/>
        </p:nvSpPr>
        <p:spPr>
          <a:xfrm>
            <a:off x="960120" y="2240280"/>
            <a:ext cx="10332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F2A93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public class </a:t>
            </a:r>
            <a:pPr indent="0" marL="0">
              <a:buNone/>
            </a:pPr>
            <a:r>
              <a:rPr lang="en-US" sz="1500" dirty="0">
                <a:solidFill>
                  <a:srgbClr val="E5E9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HrController</a:t>
            </a:r>
            <a:pPr indent="0" marL="0">
              <a:buNone/>
            </a:pPr>
            <a:r>
              <a:rPr lang="en-US" sz="1500" dirty="0">
                <a:solidFill>
                  <a:srgbClr val="E5E9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{</a:t>
            </a:r>
            <a:endParaRPr lang="en-US" sz="1500" dirty="0"/>
          </a:p>
        </p:txBody>
      </p:sp>
      <p:sp>
        <p:nvSpPr>
          <p:cNvPr id="28" name="Text 26"/>
          <p:cNvSpPr/>
          <p:nvPr/>
        </p:nvSpPr>
        <p:spPr>
          <a:xfrm>
            <a:off x="960120" y="2514600"/>
            <a:ext cx="10332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F2A93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private final </a:t>
            </a:r>
            <a:pPr indent="0" marL="0">
              <a:buNone/>
            </a:pPr>
            <a:r>
              <a:rPr lang="en-US" sz="1500" dirty="0">
                <a:solidFill>
                  <a:srgbClr val="5FE0C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ChatClient</a:t>
            </a:r>
            <a:pPr indent="0" marL="0">
              <a:buNone/>
            </a:pPr>
            <a:r>
              <a:rPr lang="en-US" sz="1500" dirty="0">
                <a:solidFill>
                  <a:srgbClr val="E5E9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chatClient;</a:t>
            </a:r>
            <a:endParaRPr lang="en-US" sz="1500" dirty="0"/>
          </a:p>
        </p:txBody>
      </p:sp>
      <p:sp>
        <p:nvSpPr>
          <p:cNvPr id="29" name="Text 27"/>
          <p:cNvSpPr/>
          <p:nvPr/>
        </p:nvSpPr>
        <p:spPr>
          <a:xfrm>
            <a:off x="960120" y="2788920"/>
            <a:ext cx="10332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F2A93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public </a:t>
            </a:r>
            <a:pPr indent="0" marL="0">
              <a:buNone/>
            </a:pPr>
            <a:r>
              <a:rPr lang="en-US" sz="1500" dirty="0">
                <a:solidFill>
                  <a:srgbClr val="E5E9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HrController</a:t>
            </a:r>
            <a:pPr indent="0" marL="0">
              <a:buNone/>
            </a:pPr>
            <a:r>
              <a:rPr lang="en-US" sz="1500" dirty="0">
                <a:solidFill>
                  <a:srgbClr val="E5E9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(ChatClient.Builder builder) {</a:t>
            </a:r>
            <a:endParaRPr lang="en-US" sz="1500" dirty="0"/>
          </a:p>
        </p:txBody>
      </p:sp>
      <p:sp>
        <p:nvSpPr>
          <p:cNvPr id="30" name="Text 28"/>
          <p:cNvSpPr/>
          <p:nvPr/>
        </p:nvSpPr>
        <p:spPr>
          <a:xfrm>
            <a:off x="960120" y="3063240"/>
            <a:ext cx="10332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E5E9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this.chatClient = builder.build();</a:t>
            </a:r>
            <a:endParaRPr lang="en-US" sz="1500" dirty="0"/>
          </a:p>
        </p:txBody>
      </p:sp>
      <p:sp>
        <p:nvSpPr>
          <p:cNvPr id="31" name="Text 29"/>
          <p:cNvSpPr/>
          <p:nvPr/>
        </p:nvSpPr>
        <p:spPr>
          <a:xfrm>
            <a:off x="960120" y="3337560"/>
            <a:ext cx="10332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E5E9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}</a:t>
            </a:r>
            <a:endParaRPr lang="en-US" sz="1500" dirty="0"/>
          </a:p>
        </p:txBody>
      </p:sp>
      <p:sp>
        <p:nvSpPr>
          <p:cNvPr id="32" name="Text 30"/>
          <p:cNvSpPr/>
          <p:nvPr/>
        </p:nvSpPr>
        <p:spPr>
          <a:xfrm>
            <a:off x="960120" y="3611880"/>
            <a:ext cx="10332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F2A93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@PostMapping</a:t>
            </a:r>
            <a:pPr indent="0" marL="0">
              <a:buNone/>
            </a:pPr>
            <a:r>
              <a:rPr lang="en-US" sz="1500" dirty="0">
                <a:solidFill>
                  <a:srgbClr val="5FE0C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("/ask")</a:t>
            </a:r>
            <a:endParaRPr lang="en-US" sz="1500" dirty="0"/>
          </a:p>
        </p:txBody>
      </p:sp>
      <p:sp>
        <p:nvSpPr>
          <p:cNvPr id="33" name="Text 31"/>
          <p:cNvSpPr/>
          <p:nvPr/>
        </p:nvSpPr>
        <p:spPr>
          <a:xfrm>
            <a:off x="960120" y="3886200"/>
            <a:ext cx="10332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F2A93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public </a:t>
            </a:r>
            <a:pPr indent="0" marL="0">
              <a:buNone/>
            </a:pPr>
            <a:r>
              <a:rPr lang="en-US" sz="1500" dirty="0">
                <a:solidFill>
                  <a:srgbClr val="5FE0C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HrResponse</a:t>
            </a:r>
            <a:pPr indent="0" marL="0">
              <a:buNone/>
            </a:pPr>
            <a:r>
              <a:rPr lang="en-US" sz="1500" dirty="0">
                <a:solidFill>
                  <a:srgbClr val="E5E9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ask(@RequestBody HrRequest request) {</a:t>
            </a:r>
            <a:endParaRPr lang="en-US" sz="1500" dirty="0"/>
          </a:p>
        </p:txBody>
      </p:sp>
      <p:sp>
        <p:nvSpPr>
          <p:cNvPr id="34" name="Text 32"/>
          <p:cNvSpPr/>
          <p:nvPr/>
        </p:nvSpPr>
        <p:spPr>
          <a:xfrm>
            <a:off x="960120" y="4160520"/>
            <a:ext cx="10332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E5E9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String answer = chatClient.prompt()</a:t>
            </a:r>
            <a:endParaRPr lang="en-US" sz="1500" dirty="0"/>
          </a:p>
        </p:txBody>
      </p:sp>
      <p:sp>
        <p:nvSpPr>
          <p:cNvPr id="35" name="Text 33"/>
          <p:cNvSpPr/>
          <p:nvPr/>
        </p:nvSpPr>
        <p:spPr>
          <a:xfrm>
            <a:off x="960120" y="4434840"/>
            <a:ext cx="10332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E5E9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    .user(request.question())</a:t>
            </a:r>
            <a:endParaRPr lang="en-US" sz="1500" dirty="0"/>
          </a:p>
        </p:txBody>
      </p:sp>
      <p:sp>
        <p:nvSpPr>
          <p:cNvPr id="36" name="Text 34"/>
          <p:cNvSpPr/>
          <p:nvPr/>
        </p:nvSpPr>
        <p:spPr>
          <a:xfrm>
            <a:off x="960120" y="4709160"/>
            <a:ext cx="10332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E5E9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    .call()</a:t>
            </a:r>
            <a:endParaRPr lang="en-US" sz="1500" dirty="0"/>
          </a:p>
        </p:txBody>
      </p:sp>
      <p:sp>
        <p:nvSpPr>
          <p:cNvPr id="37" name="Text 35"/>
          <p:cNvSpPr/>
          <p:nvPr/>
        </p:nvSpPr>
        <p:spPr>
          <a:xfrm>
            <a:off x="960120" y="4983480"/>
            <a:ext cx="10332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E5E9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    .content();</a:t>
            </a:r>
            <a:endParaRPr lang="en-US" sz="1500" dirty="0"/>
          </a:p>
        </p:txBody>
      </p:sp>
      <p:sp>
        <p:nvSpPr>
          <p:cNvPr id="38" name="Text 36"/>
          <p:cNvSpPr/>
          <p:nvPr/>
        </p:nvSpPr>
        <p:spPr>
          <a:xfrm>
            <a:off x="960120" y="5257800"/>
            <a:ext cx="10332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F2A93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return new </a:t>
            </a:r>
            <a:pPr indent="0" marL="0">
              <a:buNone/>
            </a:pPr>
            <a:r>
              <a:rPr lang="en-US" sz="1500" dirty="0">
                <a:solidFill>
                  <a:srgbClr val="5FE0C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HrResponse</a:t>
            </a:r>
            <a:pPr indent="0" marL="0">
              <a:buNone/>
            </a:pPr>
            <a:r>
              <a:rPr lang="en-US" sz="1500" dirty="0">
                <a:solidFill>
                  <a:srgbClr val="E5E9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(request.question(), answer);</a:t>
            </a:r>
            <a:endParaRPr lang="en-US" sz="1500" dirty="0"/>
          </a:p>
        </p:txBody>
      </p:sp>
      <p:sp>
        <p:nvSpPr>
          <p:cNvPr id="39" name="Text 37"/>
          <p:cNvSpPr/>
          <p:nvPr/>
        </p:nvSpPr>
        <p:spPr>
          <a:xfrm>
            <a:off x="960120" y="5532120"/>
            <a:ext cx="10332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E5E9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}</a:t>
            </a:r>
            <a:endParaRPr lang="en-US" sz="1500" dirty="0"/>
          </a:p>
        </p:txBody>
      </p:sp>
      <p:sp>
        <p:nvSpPr>
          <p:cNvPr id="40" name="Text 38"/>
          <p:cNvSpPr/>
          <p:nvPr/>
        </p:nvSpPr>
        <p:spPr>
          <a:xfrm>
            <a:off x="960120" y="5806440"/>
            <a:ext cx="10332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E5E9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15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A0F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65760"/>
            <a:ext cx="731520" cy="457200"/>
          </a:xfrm>
          <a:prstGeom prst="line">
            <a:avLst/>
          </a:prstGeom>
          <a:noFill/>
          <a:ln w="9525">
            <a:solidFill>
              <a:srgbClr val="5B6478">
                <a:alpha val="3000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822960" y="822960"/>
            <a:ext cx="365760" cy="731520"/>
          </a:xfrm>
          <a:prstGeom prst="line">
            <a:avLst/>
          </a:prstGeom>
          <a:noFill/>
          <a:ln w="9525">
            <a:solidFill>
              <a:srgbClr val="5B6478">
                <a:alpha val="3000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 flipV="1">
            <a:off x="822960" y="1280160"/>
            <a:ext cx="914400" cy="274320"/>
          </a:xfrm>
          <a:prstGeom prst="line">
            <a:avLst/>
          </a:prstGeom>
          <a:noFill/>
          <a:ln w="9525">
            <a:solidFill>
              <a:srgbClr val="5B6478">
                <a:alpha val="3000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429768" y="338328"/>
            <a:ext cx="54864" cy="54864"/>
          </a:xfrm>
          <a:prstGeom prst="ellipse">
            <a:avLst/>
          </a:prstGeom>
          <a:solidFill>
            <a:srgbClr val="8B98AC">
              <a:alpha val="60000"/>
            </a:srgbClr>
          </a:solidFill>
          <a:ln/>
        </p:spPr>
      </p:sp>
      <p:sp>
        <p:nvSpPr>
          <p:cNvPr id="6" name="Shape 4"/>
          <p:cNvSpPr/>
          <p:nvPr/>
        </p:nvSpPr>
        <p:spPr>
          <a:xfrm>
            <a:off x="1161288" y="795528"/>
            <a:ext cx="54864" cy="54864"/>
          </a:xfrm>
          <a:prstGeom prst="ellipse">
            <a:avLst/>
          </a:prstGeom>
          <a:solidFill>
            <a:srgbClr val="8B98AC">
              <a:alpha val="60000"/>
            </a:srgbClr>
          </a:solidFill>
          <a:ln/>
        </p:spPr>
      </p:sp>
      <p:sp>
        <p:nvSpPr>
          <p:cNvPr id="7" name="Shape 5"/>
          <p:cNvSpPr/>
          <p:nvPr/>
        </p:nvSpPr>
        <p:spPr>
          <a:xfrm>
            <a:off x="795528" y="1527048"/>
            <a:ext cx="54864" cy="54864"/>
          </a:xfrm>
          <a:prstGeom prst="ellipse">
            <a:avLst/>
          </a:prstGeom>
          <a:solidFill>
            <a:srgbClr val="8B98AC">
              <a:alpha val="60000"/>
            </a:srgbClr>
          </a:solidFill>
          <a:ln/>
        </p:spPr>
      </p:sp>
      <p:sp>
        <p:nvSpPr>
          <p:cNvPr id="8" name="Shape 6"/>
          <p:cNvSpPr/>
          <p:nvPr/>
        </p:nvSpPr>
        <p:spPr>
          <a:xfrm>
            <a:off x="1709928" y="1252728"/>
            <a:ext cx="54864" cy="54864"/>
          </a:xfrm>
          <a:prstGeom prst="ellipse">
            <a:avLst/>
          </a:prstGeom>
          <a:solidFill>
            <a:srgbClr val="8B98AC">
              <a:alpha val="60000"/>
            </a:srgbClr>
          </a:solidFill>
          <a:ln/>
        </p:spPr>
      </p:sp>
      <p:sp>
        <p:nvSpPr>
          <p:cNvPr id="9" name="Shape 7"/>
          <p:cNvSpPr/>
          <p:nvPr/>
        </p:nvSpPr>
        <p:spPr>
          <a:xfrm flipV="1">
            <a:off x="10789920" y="5486400"/>
            <a:ext cx="731520" cy="548640"/>
          </a:xfrm>
          <a:prstGeom prst="line">
            <a:avLst/>
          </a:prstGeom>
          <a:noFill/>
          <a:ln w="9525">
            <a:solidFill>
              <a:srgbClr val="5B6478">
                <a:alpha val="30000"/>
              </a:srgbClr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 flipV="1">
            <a:off x="11155680" y="4754880"/>
            <a:ext cx="365760" cy="731520"/>
          </a:xfrm>
          <a:prstGeom prst="line">
            <a:avLst/>
          </a:prstGeom>
          <a:noFill/>
          <a:ln w="9525">
            <a:solidFill>
              <a:srgbClr val="5B6478">
                <a:alpha val="30000"/>
              </a:srgbClr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11155680" y="4754880"/>
            <a:ext cx="731520" cy="365760"/>
          </a:xfrm>
          <a:prstGeom prst="line">
            <a:avLst/>
          </a:prstGeom>
          <a:noFill/>
          <a:ln w="9525">
            <a:solidFill>
              <a:srgbClr val="5B6478">
                <a:alpha val="30000"/>
              </a:srgbClr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10762488" y="6007608"/>
            <a:ext cx="54864" cy="54864"/>
          </a:xfrm>
          <a:prstGeom prst="ellipse">
            <a:avLst/>
          </a:prstGeom>
          <a:solidFill>
            <a:srgbClr val="8B98AC">
              <a:alpha val="60000"/>
            </a:srgbClr>
          </a:solidFill>
          <a:ln/>
        </p:spPr>
      </p:sp>
      <p:sp>
        <p:nvSpPr>
          <p:cNvPr id="13" name="Shape 11"/>
          <p:cNvSpPr/>
          <p:nvPr/>
        </p:nvSpPr>
        <p:spPr>
          <a:xfrm>
            <a:off x="11494008" y="5458968"/>
            <a:ext cx="54864" cy="54864"/>
          </a:xfrm>
          <a:prstGeom prst="ellipse">
            <a:avLst/>
          </a:prstGeom>
          <a:solidFill>
            <a:srgbClr val="8B98AC">
              <a:alpha val="60000"/>
            </a:srgbClr>
          </a:solidFill>
          <a:ln/>
        </p:spPr>
      </p:sp>
      <p:sp>
        <p:nvSpPr>
          <p:cNvPr id="14" name="Shape 12"/>
          <p:cNvSpPr/>
          <p:nvPr/>
        </p:nvSpPr>
        <p:spPr>
          <a:xfrm>
            <a:off x="11128248" y="4727448"/>
            <a:ext cx="54864" cy="54864"/>
          </a:xfrm>
          <a:prstGeom prst="ellipse">
            <a:avLst/>
          </a:prstGeom>
          <a:solidFill>
            <a:srgbClr val="8B98AC">
              <a:alpha val="60000"/>
            </a:srgbClr>
          </a:solidFill>
          <a:ln/>
        </p:spPr>
      </p:sp>
      <p:sp>
        <p:nvSpPr>
          <p:cNvPr id="15" name="Shape 13"/>
          <p:cNvSpPr/>
          <p:nvPr/>
        </p:nvSpPr>
        <p:spPr>
          <a:xfrm>
            <a:off x="11859768" y="5093208"/>
            <a:ext cx="54864" cy="54864"/>
          </a:xfrm>
          <a:prstGeom prst="ellipse">
            <a:avLst/>
          </a:prstGeom>
          <a:solidFill>
            <a:srgbClr val="8B98AC">
              <a:alpha val="60000"/>
            </a:srgbClr>
          </a:solidFill>
          <a:ln/>
        </p:spPr>
      </p:sp>
      <p:sp>
        <p:nvSpPr>
          <p:cNvPr id="16" name="Text 14"/>
          <p:cNvSpPr/>
          <p:nvPr/>
        </p:nvSpPr>
        <p:spPr>
          <a:xfrm>
            <a:off x="457200" y="635508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80" dirty="0">
                <a:solidFill>
                  <a:srgbClr val="5B64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PromptToApps</a:t>
            </a:r>
            <a:endParaRPr lang="en-US" sz="1080" dirty="0"/>
          </a:p>
        </p:txBody>
      </p:sp>
      <p:sp>
        <p:nvSpPr>
          <p:cNvPr id="17" name="Text 15"/>
          <p:cNvSpPr/>
          <p:nvPr/>
        </p:nvSpPr>
        <p:spPr>
          <a:xfrm>
            <a:off x="11247120" y="635508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80" dirty="0">
                <a:solidFill>
                  <a:srgbClr val="5B64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7 / 10</a:t>
            </a:r>
            <a:endParaRPr lang="en-US" sz="1080" dirty="0"/>
          </a:p>
        </p:txBody>
      </p:sp>
      <p:sp>
        <p:nvSpPr>
          <p:cNvPr id="18" name="Text 16"/>
          <p:cNvSpPr/>
          <p:nvPr/>
        </p:nvSpPr>
        <p:spPr>
          <a:xfrm>
            <a:off x="640080" y="16459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40" spc="200" kern="0" dirty="0">
                <a:solidFill>
                  <a:srgbClr val="5FE0C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CODE SNIPPET</a:t>
            </a:r>
            <a:endParaRPr lang="en-US" sz="1440" dirty="0"/>
          </a:p>
        </p:txBody>
      </p:sp>
      <p:sp>
        <p:nvSpPr>
          <p:cNvPr id="19" name="Text 17"/>
          <p:cNvSpPr/>
          <p:nvPr/>
        </p:nvSpPr>
        <p:spPr>
          <a:xfrm>
            <a:off x="640080" y="457200"/>
            <a:ext cx="10881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360" b="1" dirty="0">
                <a:solidFill>
                  <a:srgbClr val="F2A93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Pointing Spring AI at Ollama</a:t>
            </a:r>
            <a:endParaRPr lang="en-US" sz="3360" dirty="0"/>
          </a:p>
        </p:txBody>
      </p:sp>
      <p:sp>
        <p:nvSpPr>
          <p:cNvPr id="20" name="Shape 18"/>
          <p:cNvSpPr/>
          <p:nvPr/>
        </p:nvSpPr>
        <p:spPr>
          <a:xfrm>
            <a:off x="1737360" y="1645920"/>
            <a:ext cx="8686800" cy="4023360"/>
          </a:xfrm>
          <a:prstGeom prst="roundRect">
            <a:avLst>
              <a:gd name="adj" fmla="val 1818"/>
            </a:avLst>
          </a:prstGeom>
          <a:solidFill>
            <a:srgbClr val="121A2E"/>
          </a:solidFill>
          <a:ln w="9525">
            <a:solidFill>
              <a:srgbClr val="5B6478"/>
            </a:solidFill>
            <a:prstDash val="solid"/>
          </a:ln>
          <a:effectLst>
            <a:outerShdw sx="100000" sy="100000" kx="0" ky="0" algn="bl" rotWithShape="0" blurRad="127000" dist="50800" dir="5400000">
              <a:srgbClr val="000000">
                <a:alpha val="30000"/>
              </a:srgbClr>
            </a:outerShdw>
          </a:effectLst>
        </p:spPr>
      </p:sp>
      <p:sp>
        <p:nvSpPr>
          <p:cNvPr id="21" name="Shape 19"/>
          <p:cNvSpPr/>
          <p:nvPr/>
        </p:nvSpPr>
        <p:spPr>
          <a:xfrm>
            <a:off x="1938528" y="1810512"/>
            <a:ext cx="91440" cy="91440"/>
          </a:xfrm>
          <a:prstGeom prst="ellipse">
            <a:avLst/>
          </a:prstGeom>
          <a:solidFill>
            <a:srgbClr val="F2A93B"/>
          </a:solidFill>
          <a:ln/>
        </p:spPr>
      </p:sp>
      <p:sp>
        <p:nvSpPr>
          <p:cNvPr id="22" name="Shape 20"/>
          <p:cNvSpPr/>
          <p:nvPr/>
        </p:nvSpPr>
        <p:spPr>
          <a:xfrm>
            <a:off x="2139696" y="1810512"/>
            <a:ext cx="91440" cy="91440"/>
          </a:xfrm>
          <a:prstGeom prst="ellipse">
            <a:avLst/>
          </a:prstGeom>
          <a:solidFill>
            <a:srgbClr val="8B98AC"/>
          </a:solidFill>
          <a:ln/>
        </p:spPr>
      </p:sp>
      <p:sp>
        <p:nvSpPr>
          <p:cNvPr id="23" name="Shape 21"/>
          <p:cNvSpPr/>
          <p:nvPr/>
        </p:nvSpPr>
        <p:spPr>
          <a:xfrm>
            <a:off x="2340864" y="1810512"/>
            <a:ext cx="91440" cy="91440"/>
          </a:xfrm>
          <a:prstGeom prst="ellipse">
            <a:avLst/>
          </a:prstGeom>
          <a:solidFill>
            <a:srgbClr val="5FE0C5"/>
          </a:solidFill>
          <a:ln/>
        </p:spPr>
      </p:sp>
      <p:sp>
        <p:nvSpPr>
          <p:cNvPr id="24" name="Text 22"/>
          <p:cNvSpPr/>
          <p:nvPr/>
        </p:nvSpPr>
        <p:spPr>
          <a:xfrm>
            <a:off x="8412480" y="173736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8B98A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application.yml</a:t>
            </a:r>
            <a:endParaRPr lang="en-US" sz="1200" dirty="0"/>
          </a:p>
        </p:txBody>
      </p:sp>
      <p:sp>
        <p:nvSpPr>
          <p:cNvPr id="25" name="Text 23"/>
          <p:cNvSpPr/>
          <p:nvPr/>
        </p:nvSpPr>
        <p:spPr>
          <a:xfrm>
            <a:off x="2057400" y="2148840"/>
            <a:ext cx="8138160" cy="3749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F2A93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spring:</a:t>
            </a:r>
            <a:endParaRPr lang="en-US" sz="1800" dirty="0"/>
          </a:p>
        </p:txBody>
      </p:sp>
      <p:sp>
        <p:nvSpPr>
          <p:cNvPr id="26" name="Text 24"/>
          <p:cNvSpPr/>
          <p:nvPr/>
        </p:nvSpPr>
        <p:spPr>
          <a:xfrm>
            <a:off x="2057400" y="2523744"/>
            <a:ext cx="8138160" cy="3749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F2A93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ai:</a:t>
            </a:r>
            <a:endParaRPr lang="en-US" sz="1800" dirty="0"/>
          </a:p>
        </p:txBody>
      </p:sp>
      <p:sp>
        <p:nvSpPr>
          <p:cNvPr id="27" name="Text 25"/>
          <p:cNvSpPr/>
          <p:nvPr/>
        </p:nvSpPr>
        <p:spPr>
          <a:xfrm>
            <a:off x="2057400" y="2898648"/>
            <a:ext cx="8138160" cy="3749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F2A93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ollama:</a:t>
            </a:r>
            <a:endParaRPr lang="en-US" sz="1800" dirty="0"/>
          </a:p>
        </p:txBody>
      </p:sp>
      <p:sp>
        <p:nvSpPr>
          <p:cNvPr id="28" name="Text 26"/>
          <p:cNvSpPr/>
          <p:nvPr/>
        </p:nvSpPr>
        <p:spPr>
          <a:xfrm>
            <a:off x="2057400" y="3273552"/>
            <a:ext cx="8138160" cy="3749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E5E9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base-url: </a:t>
            </a:r>
            <a:pPr indent="0" marL="0">
              <a:buNone/>
            </a:pPr>
            <a:r>
              <a:rPr lang="en-US" sz="1800" dirty="0">
                <a:solidFill>
                  <a:srgbClr val="5FE0C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http://localhost:11434</a:t>
            </a:r>
            <a:endParaRPr lang="en-US" sz="1800" dirty="0"/>
          </a:p>
        </p:txBody>
      </p:sp>
      <p:sp>
        <p:nvSpPr>
          <p:cNvPr id="29" name="Text 27"/>
          <p:cNvSpPr/>
          <p:nvPr/>
        </p:nvSpPr>
        <p:spPr>
          <a:xfrm>
            <a:off x="2057400" y="3648456"/>
            <a:ext cx="8138160" cy="3749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F2A93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chat:</a:t>
            </a:r>
            <a:endParaRPr lang="en-US" sz="1800" dirty="0"/>
          </a:p>
        </p:txBody>
      </p:sp>
      <p:sp>
        <p:nvSpPr>
          <p:cNvPr id="30" name="Text 28"/>
          <p:cNvSpPr/>
          <p:nvPr/>
        </p:nvSpPr>
        <p:spPr>
          <a:xfrm>
            <a:off x="2057400" y="4023360"/>
            <a:ext cx="8138160" cy="3749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F2A93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options:</a:t>
            </a:r>
            <a:endParaRPr lang="en-US" sz="1800" dirty="0"/>
          </a:p>
        </p:txBody>
      </p:sp>
      <p:sp>
        <p:nvSpPr>
          <p:cNvPr id="31" name="Text 29"/>
          <p:cNvSpPr/>
          <p:nvPr/>
        </p:nvSpPr>
        <p:spPr>
          <a:xfrm>
            <a:off x="2057400" y="4398264"/>
            <a:ext cx="8138160" cy="3749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E5E9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model: </a:t>
            </a:r>
            <a:pPr indent="0" marL="0">
              <a:buNone/>
            </a:pPr>
            <a:r>
              <a:rPr lang="en-US" sz="1800" dirty="0">
                <a:solidFill>
                  <a:srgbClr val="5FE0C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llama3.2</a:t>
            </a:r>
            <a:endParaRPr lang="en-US" sz="1800" dirty="0"/>
          </a:p>
        </p:txBody>
      </p:sp>
      <p:sp>
        <p:nvSpPr>
          <p:cNvPr id="32" name="Text 30"/>
          <p:cNvSpPr/>
          <p:nvPr/>
        </p:nvSpPr>
        <p:spPr>
          <a:xfrm>
            <a:off x="2057400" y="4773168"/>
            <a:ext cx="8138160" cy="3749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endParaRPr lang="en-US" sz="1800" dirty="0"/>
          </a:p>
        </p:txBody>
      </p:sp>
      <p:sp>
        <p:nvSpPr>
          <p:cNvPr id="33" name="Text 31"/>
          <p:cNvSpPr/>
          <p:nvPr/>
        </p:nvSpPr>
        <p:spPr>
          <a:xfrm>
            <a:off x="2057400" y="5148072"/>
            <a:ext cx="8138160" cy="3749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F2A93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server:</a:t>
            </a:r>
            <a:endParaRPr lang="en-US" sz="1800" dirty="0"/>
          </a:p>
        </p:txBody>
      </p:sp>
      <p:sp>
        <p:nvSpPr>
          <p:cNvPr id="34" name="Text 32"/>
          <p:cNvSpPr/>
          <p:nvPr/>
        </p:nvSpPr>
        <p:spPr>
          <a:xfrm>
            <a:off x="2057400" y="5522976"/>
            <a:ext cx="8138160" cy="3749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E5E9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port: </a:t>
            </a:r>
            <a:pPr indent="0" marL="0">
              <a:buNone/>
            </a:pPr>
            <a:r>
              <a:rPr lang="en-US" sz="1800" dirty="0">
                <a:solidFill>
                  <a:srgbClr val="5FE0C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8080</a:t>
            </a:r>
            <a:endParaRPr lang="en-US" sz="1800" dirty="0"/>
          </a:p>
        </p:txBody>
      </p:sp>
      <p:sp>
        <p:nvSpPr>
          <p:cNvPr id="35" name="Text 33"/>
          <p:cNvSpPr/>
          <p:nvPr/>
        </p:nvSpPr>
        <p:spPr>
          <a:xfrm>
            <a:off x="640080" y="5897880"/>
            <a:ext cx="10881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20" dirty="0">
                <a:solidFill>
                  <a:srgbClr val="5FE0C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base-url</a:t>
            </a:r>
            <a:pPr algn="ctr" indent="0" marL="0">
              <a:buNone/>
            </a:pPr>
            <a:r>
              <a:rPr lang="en-US" sz="1620" dirty="0">
                <a:solidFill>
                  <a:srgbClr val="B8C0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and </a:t>
            </a:r>
            <a:pPr algn="ctr" indent="0" marL="0">
              <a:buNone/>
            </a:pPr>
            <a:r>
              <a:rPr lang="en-US" sz="1620" dirty="0">
                <a:solidFill>
                  <a:srgbClr val="5FE0C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model</a:t>
            </a:r>
            <a:pPr algn="ctr" indent="0" marL="0">
              <a:buNone/>
            </a:pPr>
            <a:r>
              <a:rPr lang="en-US" sz="1620" dirty="0">
                <a:solidFill>
                  <a:srgbClr val="B8C0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are the only two settings you need to get talking to Llama.</a:t>
            </a:r>
            <a:endParaRPr lang="en-US" sz="162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A0F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65760"/>
            <a:ext cx="731520" cy="457200"/>
          </a:xfrm>
          <a:prstGeom prst="line">
            <a:avLst/>
          </a:prstGeom>
          <a:noFill/>
          <a:ln w="9525">
            <a:solidFill>
              <a:srgbClr val="5B6478">
                <a:alpha val="3000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822960" y="822960"/>
            <a:ext cx="365760" cy="731520"/>
          </a:xfrm>
          <a:prstGeom prst="line">
            <a:avLst/>
          </a:prstGeom>
          <a:noFill/>
          <a:ln w="9525">
            <a:solidFill>
              <a:srgbClr val="5B6478">
                <a:alpha val="3000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 flipV="1">
            <a:off x="822960" y="1280160"/>
            <a:ext cx="914400" cy="274320"/>
          </a:xfrm>
          <a:prstGeom prst="line">
            <a:avLst/>
          </a:prstGeom>
          <a:noFill/>
          <a:ln w="9525">
            <a:solidFill>
              <a:srgbClr val="5B6478">
                <a:alpha val="3000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429768" y="338328"/>
            <a:ext cx="54864" cy="54864"/>
          </a:xfrm>
          <a:prstGeom prst="ellipse">
            <a:avLst/>
          </a:prstGeom>
          <a:solidFill>
            <a:srgbClr val="8B98AC">
              <a:alpha val="60000"/>
            </a:srgbClr>
          </a:solidFill>
          <a:ln/>
        </p:spPr>
      </p:sp>
      <p:sp>
        <p:nvSpPr>
          <p:cNvPr id="6" name="Shape 4"/>
          <p:cNvSpPr/>
          <p:nvPr/>
        </p:nvSpPr>
        <p:spPr>
          <a:xfrm>
            <a:off x="1161288" y="795528"/>
            <a:ext cx="54864" cy="54864"/>
          </a:xfrm>
          <a:prstGeom prst="ellipse">
            <a:avLst/>
          </a:prstGeom>
          <a:solidFill>
            <a:srgbClr val="8B98AC">
              <a:alpha val="60000"/>
            </a:srgbClr>
          </a:solidFill>
          <a:ln/>
        </p:spPr>
      </p:sp>
      <p:sp>
        <p:nvSpPr>
          <p:cNvPr id="7" name="Shape 5"/>
          <p:cNvSpPr/>
          <p:nvPr/>
        </p:nvSpPr>
        <p:spPr>
          <a:xfrm>
            <a:off x="795528" y="1527048"/>
            <a:ext cx="54864" cy="54864"/>
          </a:xfrm>
          <a:prstGeom prst="ellipse">
            <a:avLst/>
          </a:prstGeom>
          <a:solidFill>
            <a:srgbClr val="8B98AC">
              <a:alpha val="60000"/>
            </a:srgbClr>
          </a:solidFill>
          <a:ln/>
        </p:spPr>
      </p:sp>
      <p:sp>
        <p:nvSpPr>
          <p:cNvPr id="8" name="Shape 6"/>
          <p:cNvSpPr/>
          <p:nvPr/>
        </p:nvSpPr>
        <p:spPr>
          <a:xfrm>
            <a:off x="1709928" y="1252728"/>
            <a:ext cx="54864" cy="54864"/>
          </a:xfrm>
          <a:prstGeom prst="ellipse">
            <a:avLst/>
          </a:prstGeom>
          <a:solidFill>
            <a:srgbClr val="8B98AC">
              <a:alpha val="60000"/>
            </a:srgbClr>
          </a:solidFill>
          <a:ln/>
        </p:spPr>
      </p:sp>
      <p:sp>
        <p:nvSpPr>
          <p:cNvPr id="9" name="Shape 7"/>
          <p:cNvSpPr/>
          <p:nvPr/>
        </p:nvSpPr>
        <p:spPr>
          <a:xfrm flipV="1">
            <a:off x="10789920" y="5486400"/>
            <a:ext cx="731520" cy="548640"/>
          </a:xfrm>
          <a:prstGeom prst="line">
            <a:avLst/>
          </a:prstGeom>
          <a:noFill/>
          <a:ln w="9525">
            <a:solidFill>
              <a:srgbClr val="5B6478">
                <a:alpha val="30000"/>
              </a:srgbClr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 flipV="1">
            <a:off x="11155680" y="4754880"/>
            <a:ext cx="365760" cy="731520"/>
          </a:xfrm>
          <a:prstGeom prst="line">
            <a:avLst/>
          </a:prstGeom>
          <a:noFill/>
          <a:ln w="9525">
            <a:solidFill>
              <a:srgbClr val="5B6478">
                <a:alpha val="30000"/>
              </a:srgbClr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11155680" y="4754880"/>
            <a:ext cx="731520" cy="365760"/>
          </a:xfrm>
          <a:prstGeom prst="line">
            <a:avLst/>
          </a:prstGeom>
          <a:noFill/>
          <a:ln w="9525">
            <a:solidFill>
              <a:srgbClr val="5B6478">
                <a:alpha val="30000"/>
              </a:srgbClr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10762488" y="6007608"/>
            <a:ext cx="54864" cy="54864"/>
          </a:xfrm>
          <a:prstGeom prst="ellipse">
            <a:avLst/>
          </a:prstGeom>
          <a:solidFill>
            <a:srgbClr val="8B98AC">
              <a:alpha val="60000"/>
            </a:srgbClr>
          </a:solidFill>
          <a:ln/>
        </p:spPr>
      </p:sp>
      <p:sp>
        <p:nvSpPr>
          <p:cNvPr id="13" name="Shape 11"/>
          <p:cNvSpPr/>
          <p:nvPr/>
        </p:nvSpPr>
        <p:spPr>
          <a:xfrm>
            <a:off x="11494008" y="5458968"/>
            <a:ext cx="54864" cy="54864"/>
          </a:xfrm>
          <a:prstGeom prst="ellipse">
            <a:avLst/>
          </a:prstGeom>
          <a:solidFill>
            <a:srgbClr val="8B98AC">
              <a:alpha val="60000"/>
            </a:srgbClr>
          </a:solidFill>
          <a:ln/>
        </p:spPr>
      </p:sp>
      <p:sp>
        <p:nvSpPr>
          <p:cNvPr id="14" name="Shape 12"/>
          <p:cNvSpPr/>
          <p:nvPr/>
        </p:nvSpPr>
        <p:spPr>
          <a:xfrm>
            <a:off x="11128248" y="4727448"/>
            <a:ext cx="54864" cy="54864"/>
          </a:xfrm>
          <a:prstGeom prst="ellipse">
            <a:avLst/>
          </a:prstGeom>
          <a:solidFill>
            <a:srgbClr val="8B98AC">
              <a:alpha val="60000"/>
            </a:srgbClr>
          </a:solidFill>
          <a:ln/>
        </p:spPr>
      </p:sp>
      <p:sp>
        <p:nvSpPr>
          <p:cNvPr id="15" name="Shape 13"/>
          <p:cNvSpPr/>
          <p:nvPr/>
        </p:nvSpPr>
        <p:spPr>
          <a:xfrm>
            <a:off x="11859768" y="5093208"/>
            <a:ext cx="54864" cy="54864"/>
          </a:xfrm>
          <a:prstGeom prst="ellipse">
            <a:avLst/>
          </a:prstGeom>
          <a:solidFill>
            <a:srgbClr val="8B98AC">
              <a:alpha val="60000"/>
            </a:srgbClr>
          </a:solidFill>
          <a:ln/>
        </p:spPr>
      </p:sp>
      <p:sp>
        <p:nvSpPr>
          <p:cNvPr id="16" name="Text 14"/>
          <p:cNvSpPr/>
          <p:nvPr/>
        </p:nvSpPr>
        <p:spPr>
          <a:xfrm>
            <a:off x="457200" y="635508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80" dirty="0">
                <a:solidFill>
                  <a:srgbClr val="5B64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PromptToApps</a:t>
            </a:r>
            <a:endParaRPr lang="en-US" sz="1080" dirty="0"/>
          </a:p>
        </p:txBody>
      </p:sp>
      <p:sp>
        <p:nvSpPr>
          <p:cNvPr id="17" name="Text 15"/>
          <p:cNvSpPr/>
          <p:nvPr/>
        </p:nvSpPr>
        <p:spPr>
          <a:xfrm>
            <a:off x="11247120" y="635508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80" dirty="0">
                <a:solidFill>
                  <a:srgbClr val="5B64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8 / 10</a:t>
            </a:r>
            <a:endParaRPr lang="en-US" sz="1080" dirty="0"/>
          </a:p>
        </p:txBody>
      </p:sp>
      <p:sp>
        <p:nvSpPr>
          <p:cNvPr id="18" name="Text 16"/>
          <p:cNvSpPr/>
          <p:nvPr/>
        </p:nvSpPr>
        <p:spPr>
          <a:xfrm>
            <a:off x="640080" y="16459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40" spc="200" kern="0" dirty="0">
                <a:solidFill>
                  <a:srgbClr val="5FE0C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TRY IT</a:t>
            </a:r>
            <a:endParaRPr lang="en-US" sz="1440" dirty="0"/>
          </a:p>
        </p:txBody>
      </p:sp>
      <p:sp>
        <p:nvSpPr>
          <p:cNvPr id="19" name="Text 17"/>
          <p:cNvSpPr/>
          <p:nvPr/>
        </p:nvSpPr>
        <p:spPr>
          <a:xfrm>
            <a:off x="640080" y="457200"/>
            <a:ext cx="10881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360" b="1" dirty="0">
                <a:solidFill>
                  <a:srgbClr val="F2A93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Ask the bot a real question</a:t>
            </a:r>
            <a:endParaRPr lang="en-US" sz="3360" dirty="0"/>
          </a:p>
        </p:txBody>
      </p:sp>
      <p:sp>
        <p:nvSpPr>
          <p:cNvPr id="20" name="Shape 18"/>
          <p:cNvSpPr/>
          <p:nvPr/>
        </p:nvSpPr>
        <p:spPr>
          <a:xfrm>
            <a:off x="640080" y="1554480"/>
            <a:ext cx="10881360" cy="3840480"/>
          </a:xfrm>
          <a:prstGeom prst="roundRect">
            <a:avLst>
              <a:gd name="adj" fmla="val 1905"/>
            </a:avLst>
          </a:prstGeom>
          <a:solidFill>
            <a:srgbClr val="121A2E"/>
          </a:solidFill>
          <a:ln w="9525">
            <a:solidFill>
              <a:srgbClr val="5B6478"/>
            </a:solidFill>
            <a:prstDash val="solid"/>
          </a:ln>
          <a:effectLst>
            <a:outerShdw sx="100000" sy="100000" kx="0" ky="0" algn="bl" rotWithShape="0" blurRad="127000" dist="50800" dir="5400000">
              <a:srgbClr val="000000">
                <a:alpha val="30000"/>
              </a:srgbClr>
            </a:outerShdw>
          </a:effectLst>
        </p:spPr>
      </p:sp>
      <p:sp>
        <p:nvSpPr>
          <p:cNvPr id="21" name="Shape 19"/>
          <p:cNvSpPr/>
          <p:nvPr/>
        </p:nvSpPr>
        <p:spPr>
          <a:xfrm>
            <a:off x="841248" y="1719072"/>
            <a:ext cx="91440" cy="91440"/>
          </a:xfrm>
          <a:prstGeom prst="ellipse">
            <a:avLst/>
          </a:prstGeom>
          <a:solidFill>
            <a:srgbClr val="F2A93B"/>
          </a:solidFill>
          <a:ln/>
        </p:spPr>
      </p:sp>
      <p:sp>
        <p:nvSpPr>
          <p:cNvPr id="22" name="Shape 20"/>
          <p:cNvSpPr/>
          <p:nvPr/>
        </p:nvSpPr>
        <p:spPr>
          <a:xfrm>
            <a:off x="1042416" y="1719072"/>
            <a:ext cx="91440" cy="91440"/>
          </a:xfrm>
          <a:prstGeom prst="ellipse">
            <a:avLst/>
          </a:prstGeom>
          <a:solidFill>
            <a:srgbClr val="8B98AC"/>
          </a:solidFill>
          <a:ln/>
        </p:spPr>
      </p:sp>
      <p:sp>
        <p:nvSpPr>
          <p:cNvPr id="23" name="Shape 21"/>
          <p:cNvSpPr/>
          <p:nvPr/>
        </p:nvSpPr>
        <p:spPr>
          <a:xfrm>
            <a:off x="1243584" y="1719072"/>
            <a:ext cx="91440" cy="91440"/>
          </a:xfrm>
          <a:prstGeom prst="ellipse">
            <a:avLst/>
          </a:prstGeom>
          <a:solidFill>
            <a:srgbClr val="5FE0C5"/>
          </a:solidFill>
          <a:ln/>
        </p:spPr>
      </p:sp>
      <p:sp>
        <p:nvSpPr>
          <p:cNvPr id="24" name="Text 22"/>
          <p:cNvSpPr/>
          <p:nvPr/>
        </p:nvSpPr>
        <p:spPr>
          <a:xfrm>
            <a:off x="9509760" y="164592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8B98A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terminal</a:t>
            </a:r>
            <a:endParaRPr lang="en-US" sz="1200" dirty="0"/>
          </a:p>
        </p:txBody>
      </p:sp>
      <p:sp>
        <p:nvSpPr>
          <p:cNvPr id="25" name="Text 23"/>
          <p:cNvSpPr/>
          <p:nvPr/>
        </p:nvSpPr>
        <p:spPr>
          <a:xfrm>
            <a:off x="960120" y="2057400"/>
            <a:ext cx="10332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80" dirty="0">
                <a:solidFill>
                  <a:srgbClr val="5FE0C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</a:t>
            </a:r>
            <a:pPr indent="0" marL="0">
              <a:buNone/>
            </a:pPr>
            <a:r>
              <a:rPr lang="en-US" sz="1680" dirty="0">
                <a:solidFill>
                  <a:srgbClr val="E5E9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curl -s -X POST http://localhost:8080/hr/ask \</a:t>
            </a:r>
            <a:endParaRPr lang="en-US" sz="1680" dirty="0"/>
          </a:p>
        </p:txBody>
      </p:sp>
      <p:sp>
        <p:nvSpPr>
          <p:cNvPr id="26" name="Text 24"/>
          <p:cNvSpPr/>
          <p:nvPr/>
        </p:nvSpPr>
        <p:spPr>
          <a:xfrm>
            <a:off x="960120" y="2514600"/>
            <a:ext cx="10332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80" dirty="0">
                <a:solidFill>
                  <a:srgbClr val="E5E9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-H </a:t>
            </a:r>
            <a:pPr indent="0" marL="0">
              <a:buNone/>
            </a:pPr>
            <a:r>
              <a:rPr lang="en-US" sz="1680" dirty="0">
                <a:solidFill>
                  <a:srgbClr val="5FE0C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"Content-Type: application/json"</a:t>
            </a:r>
            <a:pPr indent="0" marL="0">
              <a:buNone/>
            </a:pPr>
            <a:r>
              <a:rPr lang="en-US" sz="1680" dirty="0">
                <a:solidFill>
                  <a:srgbClr val="E5E9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\</a:t>
            </a:r>
            <a:endParaRPr lang="en-US" sz="1680" dirty="0"/>
          </a:p>
        </p:txBody>
      </p:sp>
      <p:sp>
        <p:nvSpPr>
          <p:cNvPr id="27" name="Text 25"/>
          <p:cNvSpPr/>
          <p:nvPr/>
        </p:nvSpPr>
        <p:spPr>
          <a:xfrm>
            <a:off x="960120" y="2971800"/>
            <a:ext cx="10332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80" dirty="0">
                <a:solidFill>
                  <a:srgbClr val="E5E9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-d </a:t>
            </a:r>
            <a:pPr indent="0" marL="0">
              <a:buNone/>
            </a:pPr>
            <a:r>
              <a:rPr lang="en-US" sz="1680" dirty="0">
                <a:solidFill>
                  <a:srgbClr val="5FE0C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'{"question": "What is the parental leave policy?"}'</a:t>
            </a:r>
            <a:endParaRPr lang="en-US" sz="1680" dirty="0"/>
          </a:p>
        </p:txBody>
      </p:sp>
      <p:sp>
        <p:nvSpPr>
          <p:cNvPr id="28" name="Text 26"/>
          <p:cNvSpPr/>
          <p:nvPr/>
        </p:nvSpPr>
        <p:spPr>
          <a:xfrm>
            <a:off x="960120" y="3429000"/>
            <a:ext cx="10332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endParaRPr lang="en-US" sz="1680" dirty="0"/>
          </a:p>
        </p:txBody>
      </p:sp>
      <p:sp>
        <p:nvSpPr>
          <p:cNvPr id="29" name="Text 27"/>
          <p:cNvSpPr/>
          <p:nvPr/>
        </p:nvSpPr>
        <p:spPr>
          <a:xfrm>
            <a:off x="960120" y="3886200"/>
            <a:ext cx="10332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80" dirty="0">
                <a:solidFill>
                  <a:srgbClr val="E5E9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{</a:t>
            </a:r>
            <a:endParaRPr lang="en-US" sz="1680" dirty="0"/>
          </a:p>
        </p:txBody>
      </p:sp>
      <p:sp>
        <p:nvSpPr>
          <p:cNvPr id="30" name="Text 28"/>
          <p:cNvSpPr/>
          <p:nvPr/>
        </p:nvSpPr>
        <p:spPr>
          <a:xfrm>
            <a:off x="960120" y="4343400"/>
            <a:ext cx="10332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80" dirty="0">
                <a:solidFill>
                  <a:srgbClr val="F2A93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"question"</a:t>
            </a:r>
            <a:pPr indent="0" marL="0">
              <a:buNone/>
            </a:pPr>
            <a:r>
              <a:rPr lang="en-US" sz="1680" dirty="0">
                <a:solidFill>
                  <a:srgbClr val="E5E9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 </a:t>
            </a:r>
            <a:pPr indent="0" marL="0">
              <a:buNone/>
            </a:pPr>
            <a:r>
              <a:rPr lang="en-US" sz="1680" dirty="0">
                <a:solidFill>
                  <a:srgbClr val="5FE0C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"What is the parental leave policy?"</a:t>
            </a:r>
            <a:pPr indent="0" marL="0">
              <a:buNone/>
            </a:pPr>
            <a:r>
              <a:rPr lang="en-US" sz="1680" dirty="0">
                <a:solidFill>
                  <a:srgbClr val="E5E9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</a:t>
            </a:r>
            <a:endParaRPr lang="en-US" sz="1680" dirty="0"/>
          </a:p>
        </p:txBody>
      </p:sp>
      <p:sp>
        <p:nvSpPr>
          <p:cNvPr id="31" name="Text 29"/>
          <p:cNvSpPr/>
          <p:nvPr/>
        </p:nvSpPr>
        <p:spPr>
          <a:xfrm>
            <a:off x="960120" y="4800600"/>
            <a:ext cx="10332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80" dirty="0">
                <a:solidFill>
                  <a:srgbClr val="F2A93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"answer"</a:t>
            </a:r>
            <a:pPr indent="0" marL="0">
              <a:buNone/>
            </a:pPr>
            <a:r>
              <a:rPr lang="en-US" sz="1680" dirty="0">
                <a:solidFill>
                  <a:srgbClr val="E5E9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 </a:t>
            </a:r>
            <a:pPr indent="0" marL="0">
              <a:buNone/>
            </a:pPr>
            <a:r>
              <a:rPr lang="en-US" sz="1680" dirty="0">
                <a:solidFill>
                  <a:srgbClr val="5FE0C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"Primary caregivers receive 16 weeks fully paid..."</a:t>
            </a:r>
            <a:endParaRPr lang="en-US" sz="1680" dirty="0"/>
          </a:p>
        </p:txBody>
      </p:sp>
      <p:sp>
        <p:nvSpPr>
          <p:cNvPr id="32" name="Text 30"/>
          <p:cNvSpPr/>
          <p:nvPr/>
        </p:nvSpPr>
        <p:spPr>
          <a:xfrm>
            <a:off x="960120" y="5257800"/>
            <a:ext cx="10332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80" dirty="0">
                <a:solidFill>
                  <a:srgbClr val="E5E9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1680" dirty="0"/>
          </a:p>
        </p:txBody>
      </p:sp>
      <p:sp>
        <p:nvSpPr>
          <p:cNvPr id="33" name="Text 31"/>
          <p:cNvSpPr/>
          <p:nvPr/>
        </p:nvSpPr>
        <p:spPr>
          <a:xfrm>
            <a:off x="0" y="5715000"/>
            <a:ext cx="12161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80" i="1" dirty="0">
                <a:solidFill>
                  <a:srgbClr val="8B98A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request. A real answer. No OpenAI account required.</a:t>
            </a:r>
            <a:endParaRPr lang="en-US" sz="168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A0F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65760"/>
            <a:ext cx="731520" cy="457200"/>
          </a:xfrm>
          <a:prstGeom prst="line">
            <a:avLst/>
          </a:prstGeom>
          <a:noFill/>
          <a:ln w="9525">
            <a:solidFill>
              <a:srgbClr val="5B6478">
                <a:alpha val="3000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822960" y="822960"/>
            <a:ext cx="365760" cy="731520"/>
          </a:xfrm>
          <a:prstGeom prst="line">
            <a:avLst/>
          </a:prstGeom>
          <a:noFill/>
          <a:ln w="9525">
            <a:solidFill>
              <a:srgbClr val="5B6478">
                <a:alpha val="3000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 flipV="1">
            <a:off x="822960" y="1280160"/>
            <a:ext cx="914400" cy="274320"/>
          </a:xfrm>
          <a:prstGeom prst="line">
            <a:avLst/>
          </a:prstGeom>
          <a:noFill/>
          <a:ln w="9525">
            <a:solidFill>
              <a:srgbClr val="5B6478">
                <a:alpha val="3000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429768" y="338328"/>
            <a:ext cx="54864" cy="54864"/>
          </a:xfrm>
          <a:prstGeom prst="ellipse">
            <a:avLst/>
          </a:prstGeom>
          <a:solidFill>
            <a:srgbClr val="8B98AC">
              <a:alpha val="60000"/>
            </a:srgbClr>
          </a:solidFill>
          <a:ln/>
        </p:spPr>
      </p:sp>
      <p:sp>
        <p:nvSpPr>
          <p:cNvPr id="6" name="Shape 4"/>
          <p:cNvSpPr/>
          <p:nvPr/>
        </p:nvSpPr>
        <p:spPr>
          <a:xfrm>
            <a:off x="1161288" y="795528"/>
            <a:ext cx="54864" cy="54864"/>
          </a:xfrm>
          <a:prstGeom prst="ellipse">
            <a:avLst/>
          </a:prstGeom>
          <a:solidFill>
            <a:srgbClr val="8B98AC">
              <a:alpha val="60000"/>
            </a:srgbClr>
          </a:solidFill>
          <a:ln/>
        </p:spPr>
      </p:sp>
      <p:sp>
        <p:nvSpPr>
          <p:cNvPr id="7" name="Shape 5"/>
          <p:cNvSpPr/>
          <p:nvPr/>
        </p:nvSpPr>
        <p:spPr>
          <a:xfrm>
            <a:off x="795528" y="1527048"/>
            <a:ext cx="54864" cy="54864"/>
          </a:xfrm>
          <a:prstGeom prst="ellipse">
            <a:avLst/>
          </a:prstGeom>
          <a:solidFill>
            <a:srgbClr val="8B98AC">
              <a:alpha val="60000"/>
            </a:srgbClr>
          </a:solidFill>
          <a:ln/>
        </p:spPr>
      </p:sp>
      <p:sp>
        <p:nvSpPr>
          <p:cNvPr id="8" name="Shape 6"/>
          <p:cNvSpPr/>
          <p:nvPr/>
        </p:nvSpPr>
        <p:spPr>
          <a:xfrm>
            <a:off x="1709928" y="1252728"/>
            <a:ext cx="54864" cy="54864"/>
          </a:xfrm>
          <a:prstGeom prst="ellipse">
            <a:avLst/>
          </a:prstGeom>
          <a:solidFill>
            <a:srgbClr val="8B98AC">
              <a:alpha val="60000"/>
            </a:srgbClr>
          </a:solidFill>
          <a:ln/>
        </p:spPr>
      </p:sp>
      <p:sp>
        <p:nvSpPr>
          <p:cNvPr id="9" name="Shape 7"/>
          <p:cNvSpPr/>
          <p:nvPr/>
        </p:nvSpPr>
        <p:spPr>
          <a:xfrm flipV="1">
            <a:off x="10789920" y="5486400"/>
            <a:ext cx="731520" cy="548640"/>
          </a:xfrm>
          <a:prstGeom prst="line">
            <a:avLst/>
          </a:prstGeom>
          <a:noFill/>
          <a:ln w="9525">
            <a:solidFill>
              <a:srgbClr val="5B6478">
                <a:alpha val="30000"/>
              </a:srgbClr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 flipV="1">
            <a:off x="11155680" y="4754880"/>
            <a:ext cx="365760" cy="731520"/>
          </a:xfrm>
          <a:prstGeom prst="line">
            <a:avLst/>
          </a:prstGeom>
          <a:noFill/>
          <a:ln w="9525">
            <a:solidFill>
              <a:srgbClr val="5B6478">
                <a:alpha val="30000"/>
              </a:srgbClr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11155680" y="4754880"/>
            <a:ext cx="731520" cy="365760"/>
          </a:xfrm>
          <a:prstGeom prst="line">
            <a:avLst/>
          </a:prstGeom>
          <a:noFill/>
          <a:ln w="9525">
            <a:solidFill>
              <a:srgbClr val="5B6478">
                <a:alpha val="30000"/>
              </a:srgbClr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10762488" y="6007608"/>
            <a:ext cx="54864" cy="54864"/>
          </a:xfrm>
          <a:prstGeom prst="ellipse">
            <a:avLst/>
          </a:prstGeom>
          <a:solidFill>
            <a:srgbClr val="8B98AC">
              <a:alpha val="60000"/>
            </a:srgbClr>
          </a:solidFill>
          <a:ln/>
        </p:spPr>
      </p:sp>
      <p:sp>
        <p:nvSpPr>
          <p:cNvPr id="13" name="Shape 11"/>
          <p:cNvSpPr/>
          <p:nvPr/>
        </p:nvSpPr>
        <p:spPr>
          <a:xfrm>
            <a:off x="11494008" y="5458968"/>
            <a:ext cx="54864" cy="54864"/>
          </a:xfrm>
          <a:prstGeom prst="ellipse">
            <a:avLst/>
          </a:prstGeom>
          <a:solidFill>
            <a:srgbClr val="8B98AC">
              <a:alpha val="60000"/>
            </a:srgbClr>
          </a:solidFill>
          <a:ln/>
        </p:spPr>
      </p:sp>
      <p:sp>
        <p:nvSpPr>
          <p:cNvPr id="14" name="Shape 12"/>
          <p:cNvSpPr/>
          <p:nvPr/>
        </p:nvSpPr>
        <p:spPr>
          <a:xfrm>
            <a:off x="11128248" y="4727448"/>
            <a:ext cx="54864" cy="54864"/>
          </a:xfrm>
          <a:prstGeom prst="ellipse">
            <a:avLst/>
          </a:prstGeom>
          <a:solidFill>
            <a:srgbClr val="8B98AC">
              <a:alpha val="60000"/>
            </a:srgbClr>
          </a:solidFill>
          <a:ln/>
        </p:spPr>
      </p:sp>
      <p:sp>
        <p:nvSpPr>
          <p:cNvPr id="15" name="Shape 13"/>
          <p:cNvSpPr/>
          <p:nvPr/>
        </p:nvSpPr>
        <p:spPr>
          <a:xfrm>
            <a:off x="11859768" y="5093208"/>
            <a:ext cx="54864" cy="54864"/>
          </a:xfrm>
          <a:prstGeom prst="ellipse">
            <a:avLst/>
          </a:prstGeom>
          <a:solidFill>
            <a:srgbClr val="8B98AC">
              <a:alpha val="60000"/>
            </a:srgbClr>
          </a:solidFill>
          <a:ln/>
        </p:spPr>
      </p:sp>
      <p:sp>
        <p:nvSpPr>
          <p:cNvPr id="16" name="Text 14"/>
          <p:cNvSpPr/>
          <p:nvPr/>
        </p:nvSpPr>
        <p:spPr>
          <a:xfrm>
            <a:off x="457200" y="635508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80" dirty="0">
                <a:solidFill>
                  <a:srgbClr val="5B64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PromptToApps</a:t>
            </a:r>
            <a:endParaRPr lang="en-US" sz="1080" dirty="0"/>
          </a:p>
        </p:txBody>
      </p:sp>
      <p:sp>
        <p:nvSpPr>
          <p:cNvPr id="17" name="Text 15"/>
          <p:cNvSpPr/>
          <p:nvPr/>
        </p:nvSpPr>
        <p:spPr>
          <a:xfrm>
            <a:off x="11247120" y="635508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80" dirty="0">
                <a:solidFill>
                  <a:srgbClr val="5B64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9 / 10</a:t>
            </a:r>
            <a:endParaRPr lang="en-US" sz="1080" dirty="0"/>
          </a:p>
        </p:txBody>
      </p:sp>
      <p:sp>
        <p:nvSpPr>
          <p:cNvPr id="18" name="Text 16"/>
          <p:cNvSpPr/>
          <p:nvPr/>
        </p:nvSpPr>
        <p:spPr>
          <a:xfrm>
            <a:off x="640080" y="16459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40" spc="200" kern="0" dirty="0">
                <a:solidFill>
                  <a:srgbClr val="5FE0C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RECAP</a:t>
            </a:r>
            <a:endParaRPr lang="en-US" sz="1440" dirty="0"/>
          </a:p>
        </p:txBody>
      </p:sp>
      <p:sp>
        <p:nvSpPr>
          <p:cNvPr id="19" name="Text 17"/>
          <p:cNvSpPr/>
          <p:nvPr/>
        </p:nvSpPr>
        <p:spPr>
          <a:xfrm>
            <a:off x="640080" y="457200"/>
            <a:ext cx="10881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360" b="1" dirty="0">
                <a:solidFill>
                  <a:srgbClr val="F2A93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What we built</a:t>
            </a:r>
            <a:endParaRPr lang="en-US" sz="3360" dirty="0"/>
          </a:p>
        </p:txBody>
      </p:sp>
      <p:sp>
        <p:nvSpPr>
          <p:cNvPr id="20" name="Text 18"/>
          <p:cNvSpPr/>
          <p:nvPr/>
        </p:nvSpPr>
        <p:spPr>
          <a:xfrm>
            <a:off x="640080" y="1463040"/>
            <a:ext cx="10881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1400"/>
              </a:spcAft>
              <a:buSzPct val="100000"/>
              <a:buChar char="•"/>
            </a:pPr>
            <a:r>
              <a:rPr lang="en-US" sz="2040" dirty="0">
                <a:solidFill>
                  <a:srgbClr val="E5E9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working AI Q&amp;A endpoint — /hr/ask</a:t>
            </a:r>
            <a:endParaRPr lang="en-US" sz="2040" dirty="0"/>
          </a:p>
          <a:p>
            <a:pPr marL="342900" indent="-342900">
              <a:spcAft>
                <a:spcPts val="1400"/>
              </a:spcAft>
              <a:buSzPct val="100000"/>
              <a:buChar char="•"/>
            </a:pPr>
            <a:r>
              <a:rPr lang="en-US" sz="2040" dirty="0">
                <a:solidFill>
                  <a:srgbClr val="E5E9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Powered by Spring AI's ChatClient + Ollama's llama3.2</a:t>
            </a:r>
            <a:endParaRPr lang="en-US" sz="2040" dirty="0"/>
          </a:p>
          <a:p>
            <a:pPr marL="342900" indent="-342900">
              <a:spcAft>
                <a:spcPts val="1400"/>
              </a:spcAft>
              <a:buSzPct val="100000"/>
              <a:buChar char="•"/>
            </a:pPr>
            <a:r>
              <a:rPr lang="en-US" sz="2040" dirty="0">
                <a:solidFill>
                  <a:srgbClr val="E5E9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Runs entirely on your laptop — zero cost, zero API key</a:t>
            </a:r>
            <a:endParaRPr lang="en-US" sz="2040" dirty="0"/>
          </a:p>
        </p:txBody>
      </p:sp>
      <p:sp>
        <p:nvSpPr>
          <p:cNvPr id="21" name="Shape 19"/>
          <p:cNvSpPr/>
          <p:nvPr/>
        </p:nvSpPr>
        <p:spPr>
          <a:xfrm>
            <a:off x="640080" y="3474720"/>
            <a:ext cx="10881360" cy="1737360"/>
          </a:xfrm>
          <a:prstGeom prst="roundRect">
            <a:avLst>
              <a:gd name="adj" fmla="val 6316"/>
            </a:avLst>
          </a:prstGeom>
          <a:solidFill>
            <a:srgbClr val="121A2E"/>
          </a:solidFill>
          <a:ln w="15875">
            <a:solidFill>
              <a:srgbClr val="5FE0C5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25000"/>
              </a:srgbClr>
            </a:outerShdw>
          </a:effectLst>
        </p:spPr>
      </p:sp>
      <p:sp>
        <p:nvSpPr>
          <p:cNvPr id="22" name="Text 20"/>
          <p:cNvSpPr/>
          <p:nvPr/>
        </p:nvSpPr>
        <p:spPr>
          <a:xfrm>
            <a:off x="914400" y="365760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40" spc="200" kern="0" dirty="0">
                <a:solidFill>
                  <a:srgbClr val="5FE0C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WHAT'S NEXT</a:t>
            </a:r>
            <a:endParaRPr lang="en-US" sz="1440" dirty="0"/>
          </a:p>
        </p:txBody>
      </p:sp>
      <p:sp>
        <p:nvSpPr>
          <p:cNvPr id="23" name="Text 21"/>
          <p:cNvSpPr/>
          <p:nvPr/>
        </p:nvSpPr>
        <p:spPr>
          <a:xfrm>
            <a:off x="914400" y="3977640"/>
            <a:ext cx="1033272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2280" b="1" dirty="0">
                <a:solidFill>
                  <a:srgbClr val="E5E9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Chapter 2 — Core Concepts</a:t>
            </a:r>
            <a:endParaRPr lang="en-US" sz="228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740" dirty="0">
                <a:solidFill>
                  <a:srgbClr val="B8C0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Tokens, Messages, and ChatOptions — what actually travels</a:t>
            </a:r>
            <a:endParaRPr lang="en-US" sz="228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740" dirty="0">
                <a:solidFill>
                  <a:srgbClr val="B8C0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between your app and the model on every call.</a:t>
            </a:r>
            <a:endParaRPr lang="en-US" sz="228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A0F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65760"/>
            <a:ext cx="731520" cy="457200"/>
          </a:xfrm>
          <a:prstGeom prst="line">
            <a:avLst/>
          </a:prstGeom>
          <a:noFill/>
          <a:ln w="9525">
            <a:solidFill>
              <a:srgbClr val="5B6478">
                <a:alpha val="3000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822960" y="822960"/>
            <a:ext cx="365760" cy="731520"/>
          </a:xfrm>
          <a:prstGeom prst="line">
            <a:avLst/>
          </a:prstGeom>
          <a:noFill/>
          <a:ln w="9525">
            <a:solidFill>
              <a:srgbClr val="5B6478">
                <a:alpha val="3000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 flipV="1">
            <a:off x="822960" y="1280160"/>
            <a:ext cx="914400" cy="274320"/>
          </a:xfrm>
          <a:prstGeom prst="line">
            <a:avLst/>
          </a:prstGeom>
          <a:noFill/>
          <a:ln w="9525">
            <a:solidFill>
              <a:srgbClr val="5B6478">
                <a:alpha val="3000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429768" y="338328"/>
            <a:ext cx="54864" cy="54864"/>
          </a:xfrm>
          <a:prstGeom prst="ellipse">
            <a:avLst/>
          </a:prstGeom>
          <a:solidFill>
            <a:srgbClr val="8B98AC">
              <a:alpha val="60000"/>
            </a:srgbClr>
          </a:solidFill>
          <a:ln/>
        </p:spPr>
      </p:sp>
      <p:sp>
        <p:nvSpPr>
          <p:cNvPr id="6" name="Shape 4"/>
          <p:cNvSpPr/>
          <p:nvPr/>
        </p:nvSpPr>
        <p:spPr>
          <a:xfrm>
            <a:off x="1161288" y="795528"/>
            <a:ext cx="54864" cy="54864"/>
          </a:xfrm>
          <a:prstGeom prst="ellipse">
            <a:avLst/>
          </a:prstGeom>
          <a:solidFill>
            <a:srgbClr val="8B98AC">
              <a:alpha val="60000"/>
            </a:srgbClr>
          </a:solidFill>
          <a:ln/>
        </p:spPr>
      </p:sp>
      <p:sp>
        <p:nvSpPr>
          <p:cNvPr id="7" name="Shape 5"/>
          <p:cNvSpPr/>
          <p:nvPr/>
        </p:nvSpPr>
        <p:spPr>
          <a:xfrm>
            <a:off x="795528" y="1527048"/>
            <a:ext cx="54864" cy="54864"/>
          </a:xfrm>
          <a:prstGeom prst="ellipse">
            <a:avLst/>
          </a:prstGeom>
          <a:solidFill>
            <a:srgbClr val="8B98AC">
              <a:alpha val="60000"/>
            </a:srgbClr>
          </a:solidFill>
          <a:ln/>
        </p:spPr>
      </p:sp>
      <p:sp>
        <p:nvSpPr>
          <p:cNvPr id="8" name="Shape 6"/>
          <p:cNvSpPr/>
          <p:nvPr/>
        </p:nvSpPr>
        <p:spPr>
          <a:xfrm>
            <a:off x="1709928" y="1252728"/>
            <a:ext cx="54864" cy="54864"/>
          </a:xfrm>
          <a:prstGeom prst="ellipse">
            <a:avLst/>
          </a:prstGeom>
          <a:solidFill>
            <a:srgbClr val="8B98AC">
              <a:alpha val="60000"/>
            </a:srgbClr>
          </a:solidFill>
          <a:ln/>
        </p:spPr>
      </p:sp>
      <p:sp>
        <p:nvSpPr>
          <p:cNvPr id="9" name="Shape 7"/>
          <p:cNvSpPr/>
          <p:nvPr/>
        </p:nvSpPr>
        <p:spPr>
          <a:xfrm flipV="1">
            <a:off x="10789920" y="5486400"/>
            <a:ext cx="731520" cy="548640"/>
          </a:xfrm>
          <a:prstGeom prst="line">
            <a:avLst/>
          </a:prstGeom>
          <a:noFill/>
          <a:ln w="9525">
            <a:solidFill>
              <a:srgbClr val="5B6478">
                <a:alpha val="30000"/>
              </a:srgbClr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 flipV="1">
            <a:off x="11155680" y="4754880"/>
            <a:ext cx="365760" cy="731520"/>
          </a:xfrm>
          <a:prstGeom prst="line">
            <a:avLst/>
          </a:prstGeom>
          <a:noFill/>
          <a:ln w="9525">
            <a:solidFill>
              <a:srgbClr val="5B6478">
                <a:alpha val="30000"/>
              </a:srgbClr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11155680" y="4754880"/>
            <a:ext cx="731520" cy="365760"/>
          </a:xfrm>
          <a:prstGeom prst="line">
            <a:avLst/>
          </a:prstGeom>
          <a:noFill/>
          <a:ln w="9525">
            <a:solidFill>
              <a:srgbClr val="5B6478">
                <a:alpha val="30000"/>
              </a:srgbClr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10762488" y="6007608"/>
            <a:ext cx="54864" cy="54864"/>
          </a:xfrm>
          <a:prstGeom prst="ellipse">
            <a:avLst/>
          </a:prstGeom>
          <a:solidFill>
            <a:srgbClr val="8B98AC">
              <a:alpha val="60000"/>
            </a:srgbClr>
          </a:solidFill>
          <a:ln/>
        </p:spPr>
      </p:sp>
      <p:sp>
        <p:nvSpPr>
          <p:cNvPr id="13" name="Shape 11"/>
          <p:cNvSpPr/>
          <p:nvPr/>
        </p:nvSpPr>
        <p:spPr>
          <a:xfrm>
            <a:off x="11494008" y="5458968"/>
            <a:ext cx="54864" cy="54864"/>
          </a:xfrm>
          <a:prstGeom prst="ellipse">
            <a:avLst/>
          </a:prstGeom>
          <a:solidFill>
            <a:srgbClr val="8B98AC">
              <a:alpha val="60000"/>
            </a:srgbClr>
          </a:solidFill>
          <a:ln/>
        </p:spPr>
      </p:sp>
      <p:sp>
        <p:nvSpPr>
          <p:cNvPr id="14" name="Shape 12"/>
          <p:cNvSpPr/>
          <p:nvPr/>
        </p:nvSpPr>
        <p:spPr>
          <a:xfrm>
            <a:off x="11128248" y="4727448"/>
            <a:ext cx="54864" cy="54864"/>
          </a:xfrm>
          <a:prstGeom prst="ellipse">
            <a:avLst/>
          </a:prstGeom>
          <a:solidFill>
            <a:srgbClr val="8B98AC">
              <a:alpha val="60000"/>
            </a:srgbClr>
          </a:solidFill>
          <a:ln/>
        </p:spPr>
      </p:sp>
      <p:sp>
        <p:nvSpPr>
          <p:cNvPr id="15" name="Shape 13"/>
          <p:cNvSpPr/>
          <p:nvPr/>
        </p:nvSpPr>
        <p:spPr>
          <a:xfrm>
            <a:off x="11859768" y="5093208"/>
            <a:ext cx="54864" cy="54864"/>
          </a:xfrm>
          <a:prstGeom prst="ellipse">
            <a:avLst/>
          </a:prstGeom>
          <a:solidFill>
            <a:srgbClr val="8B98AC">
              <a:alpha val="60000"/>
            </a:srgbClr>
          </a:solidFill>
          <a:ln/>
        </p:spPr>
      </p:sp>
      <p:sp>
        <p:nvSpPr>
          <p:cNvPr id="16" name="Text 14"/>
          <p:cNvSpPr/>
          <p:nvPr/>
        </p:nvSpPr>
        <p:spPr>
          <a:xfrm>
            <a:off x="457200" y="635508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80" dirty="0">
                <a:solidFill>
                  <a:srgbClr val="5B64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PromptToApps</a:t>
            </a:r>
            <a:endParaRPr lang="en-US" sz="1080" dirty="0"/>
          </a:p>
        </p:txBody>
      </p:sp>
      <p:sp>
        <p:nvSpPr>
          <p:cNvPr id="17" name="Text 15"/>
          <p:cNvSpPr/>
          <p:nvPr/>
        </p:nvSpPr>
        <p:spPr>
          <a:xfrm>
            <a:off x="11247120" y="635508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80" dirty="0">
                <a:solidFill>
                  <a:srgbClr val="5B64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10 / 10</a:t>
            </a:r>
            <a:endParaRPr lang="en-US" sz="1080" dirty="0"/>
          </a:p>
        </p:txBody>
      </p:sp>
      <p:sp>
        <p:nvSpPr>
          <p:cNvPr id="18" name="Text 16"/>
          <p:cNvSpPr/>
          <p:nvPr/>
        </p:nvSpPr>
        <p:spPr>
          <a:xfrm>
            <a:off x="640080" y="16459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40" spc="200" kern="0" dirty="0">
                <a:solidFill>
                  <a:srgbClr val="5FE0C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CREDITS &amp; THANKS</a:t>
            </a:r>
            <a:endParaRPr lang="en-US" sz="1440" dirty="0"/>
          </a:p>
        </p:txBody>
      </p:sp>
      <p:sp>
        <p:nvSpPr>
          <p:cNvPr id="19" name="Text 17"/>
          <p:cNvSpPr/>
          <p:nvPr/>
        </p:nvSpPr>
        <p:spPr>
          <a:xfrm>
            <a:off x="640080" y="457200"/>
            <a:ext cx="10881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360" b="1" dirty="0">
                <a:solidFill>
                  <a:srgbClr val="F2A93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This isn't my merit</a:t>
            </a:r>
            <a:endParaRPr lang="en-US" sz="3360" dirty="0"/>
          </a:p>
        </p:txBody>
      </p:sp>
      <p:sp>
        <p:nvSpPr>
          <p:cNvPr id="20" name="Text 18"/>
          <p:cNvSpPr/>
          <p:nvPr/>
        </p:nvSpPr>
        <p:spPr>
          <a:xfrm>
            <a:off x="640080" y="1371600"/>
            <a:ext cx="10881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920" dirty="0">
                <a:solidFill>
                  <a:srgbClr val="B8C0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Everything in this series is built on the work of open-source projects and their communities. I only learned from them and shared what I built.</a:t>
            </a:r>
            <a:endParaRPr lang="en-US" sz="1920" dirty="0"/>
          </a:p>
        </p:txBody>
      </p:sp>
      <p:sp>
        <p:nvSpPr>
          <p:cNvPr id="21" name="Shape 19"/>
          <p:cNvSpPr/>
          <p:nvPr/>
        </p:nvSpPr>
        <p:spPr>
          <a:xfrm>
            <a:off x="822960" y="2423160"/>
            <a:ext cx="5029200" cy="2011680"/>
          </a:xfrm>
          <a:prstGeom prst="roundRect">
            <a:avLst>
              <a:gd name="adj" fmla="val 5455"/>
            </a:avLst>
          </a:prstGeom>
          <a:solidFill>
            <a:srgbClr val="121A2E"/>
          </a:solidFill>
          <a:ln w="19050">
            <a:solidFill>
              <a:srgbClr val="5FE0C5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25000"/>
              </a:srgbClr>
            </a:outerShdw>
          </a:effectLst>
        </p:spPr>
      </p:sp>
      <p:sp>
        <p:nvSpPr>
          <p:cNvPr id="22" name="Text 20"/>
          <p:cNvSpPr/>
          <p:nvPr/>
        </p:nvSpPr>
        <p:spPr>
          <a:xfrm>
            <a:off x="1143000" y="2697480"/>
            <a:ext cx="4389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40" b="1" dirty="0">
                <a:solidFill>
                  <a:srgbClr val="5FE0C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Spring AI</a:t>
            </a:r>
            <a:endParaRPr lang="en-US" sz="2640" dirty="0"/>
          </a:p>
        </p:txBody>
      </p:sp>
      <p:sp>
        <p:nvSpPr>
          <p:cNvPr id="23" name="Text 21"/>
          <p:cNvSpPr/>
          <p:nvPr/>
        </p:nvSpPr>
        <p:spPr>
          <a:xfrm>
            <a:off x="1143000" y="3337560"/>
            <a:ext cx="4389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60" dirty="0">
                <a:solidFill>
                  <a:srgbClr val="E5E9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AI integration layer for Spring</a:t>
            </a:r>
            <a:endParaRPr lang="en-US" sz="1560" dirty="0"/>
          </a:p>
        </p:txBody>
      </p:sp>
      <p:sp>
        <p:nvSpPr>
          <p:cNvPr id="24" name="Text 22"/>
          <p:cNvSpPr/>
          <p:nvPr/>
        </p:nvSpPr>
        <p:spPr>
          <a:xfrm>
            <a:off x="1143000" y="3840480"/>
            <a:ext cx="4389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40" dirty="0">
                <a:solidFill>
                  <a:srgbClr val="8B98A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spring.io/projects/spring-ai</a:t>
            </a:r>
            <a:endParaRPr lang="en-US" sz="1440" dirty="0"/>
          </a:p>
        </p:txBody>
      </p:sp>
      <p:sp>
        <p:nvSpPr>
          <p:cNvPr id="25" name="Shape 23"/>
          <p:cNvSpPr/>
          <p:nvPr/>
        </p:nvSpPr>
        <p:spPr>
          <a:xfrm>
            <a:off x="6309360" y="2423160"/>
            <a:ext cx="5029200" cy="2011680"/>
          </a:xfrm>
          <a:prstGeom prst="roundRect">
            <a:avLst>
              <a:gd name="adj" fmla="val 5455"/>
            </a:avLst>
          </a:prstGeom>
          <a:solidFill>
            <a:srgbClr val="121A2E"/>
          </a:solidFill>
          <a:ln w="19050">
            <a:solidFill>
              <a:srgbClr val="F2A93B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25000"/>
              </a:srgbClr>
            </a:outerShdw>
          </a:effectLst>
        </p:spPr>
      </p:sp>
      <p:sp>
        <p:nvSpPr>
          <p:cNvPr id="26" name="Text 24"/>
          <p:cNvSpPr/>
          <p:nvPr/>
        </p:nvSpPr>
        <p:spPr>
          <a:xfrm>
            <a:off x="6629400" y="2697480"/>
            <a:ext cx="4389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40" b="1" dirty="0">
                <a:solidFill>
                  <a:srgbClr val="F2A93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Ollama</a:t>
            </a:r>
            <a:endParaRPr lang="en-US" sz="2640" dirty="0"/>
          </a:p>
        </p:txBody>
      </p:sp>
      <p:sp>
        <p:nvSpPr>
          <p:cNvPr id="27" name="Text 25"/>
          <p:cNvSpPr/>
          <p:nvPr/>
        </p:nvSpPr>
        <p:spPr>
          <a:xfrm>
            <a:off x="6629400" y="3337560"/>
            <a:ext cx="4389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60" dirty="0">
                <a:solidFill>
                  <a:srgbClr val="E5E9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Run open LLMs locally</a:t>
            </a:r>
            <a:endParaRPr lang="en-US" sz="1560" dirty="0"/>
          </a:p>
        </p:txBody>
      </p:sp>
      <p:sp>
        <p:nvSpPr>
          <p:cNvPr id="28" name="Text 26"/>
          <p:cNvSpPr/>
          <p:nvPr/>
        </p:nvSpPr>
        <p:spPr>
          <a:xfrm>
            <a:off x="6629400" y="3840480"/>
            <a:ext cx="4389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40" dirty="0">
                <a:solidFill>
                  <a:srgbClr val="8B98A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ollama.com</a:t>
            </a:r>
            <a:endParaRPr lang="en-US" sz="1440" dirty="0"/>
          </a:p>
        </p:txBody>
      </p:sp>
      <p:sp>
        <p:nvSpPr>
          <p:cNvPr id="29" name="Shape 27"/>
          <p:cNvSpPr/>
          <p:nvPr/>
        </p:nvSpPr>
        <p:spPr>
          <a:xfrm>
            <a:off x="4251960" y="4892040"/>
            <a:ext cx="3657600" cy="0"/>
          </a:xfrm>
          <a:prstGeom prst="line">
            <a:avLst/>
          </a:prstGeom>
          <a:noFill/>
          <a:ln w="12700">
            <a:solidFill>
              <a:srgbClr val="5B6478">
                <a:alpha val="70000"/>
              </a:srgbClr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4210812" y="4850892"/>
            <a:ext cx="82296" cy="82296"/>
          </a:xfrm>
          <a:prstGeom prst="ellipse">
            <a:avLst/>
          </a:prstGeom>
          <a:solidFill>
            <a:srgbClr val="0A0F1C"/>
          </a:solidFill>
          <a:ln w="19050">
            <a:solidFill>
              <a:srgbClr val="F2A93B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6039612" y="4850892"/>
            <a:ext cx="82296" cy="82296"/>
          </a:xfrm>
          <a:prstGeom prst="ellipse">
            <a:avLst/>
          </a:prstGeom>
          <a:solidFill>
            <a:srgbClr val="0A0F1C"/>
          </a:solidFill>
          <a:ln w="19050">
            <a:solidFill>
              <a:srgbClr val="8B98AC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7868412" y="4850892"/>
            <a:ext cx="82296" cy="82296"/>
          </a:xfrm>
          <a:prstGeom prst="ellipse">
            <a:avLst/>
          </a:prstGeom>
          <a:solidFill>
            <a:srgbClr val="0A0F1C"/>
          </a:solidFill>
          <a:ln w="19050">
            <a:solidFill>
              <a:srgbClr val="5FE0C5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0" y="5120640"/>
            <a:ext cx="12161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80" dirty="0">
                <a:solidFill>
                  <a:srgbClr val="E5E9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Shared with gratitude — all credit to their maintainers &amp; contributors.</a:t>
            </a:r>
            <a:endParaRPr lang="en-US" sz="1680" dirty="0"/>
          </a:p>
        </p:txBody>
      </p:sp>
      <p:sp>
        <p:nvSpPr>
          <p:cNvPr id="34" name="Text 32"/>
          <p:cNvSpPr/>
          <p:nvPr/>
        </p:nvSpPr>
        <p:spPr>
          <a:xfrm>
            <a:off x="0" y="5623560"/>
            <a:ext cx="12161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40" dirty="0">
                <a:solidFill>
                  <a:srgbClr val="8B98A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github.com/balajich/spring-ai-with-llama</a:t>
            </a:r>
            <a:endParaRPr lang="en-US" sz="144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Chapter 1 — Hello, Spring AI!</dc:title>
  <dc:subject>PptxGenJS Presentation</dc:subject>
  <dc:creator>PromptToApps</dc:creator>
  <cp:lastModifiedBy>PromptToApps</cp:lastModifiedBy>
  <cp:revision>1</cp:revision>
  <dcterms:created xsi:type="dcterms:W3CDTF">2026-07-13T23:39:39Z</dcterms:created>
  <dcterms:modified xsi:type="dcterms:W3CDTF">2026-07-13T23:39:39Z</dcterms:modified>
</cp:coreProperties>
</file>