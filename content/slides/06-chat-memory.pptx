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10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166360" y="91440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121A2E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914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</a:t>
            </a:r>
            <a:pPr algn="ctr" indent="0" marL="0">
              <a:buNone/>
            </a:pPr>
            <a:r>
              <a:rPr lang="en-US" sz="168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680" dirty="0"/>
          </a:p>
        </p:txBody>
      </p:sp>
      <p:sp>
        <p:nvSpPr>
          <p:cNvPr id="20" name="Text 18"/>
          <p:cNvSpPr/>
          <p:nvPr/>
        </p:nvSpPr>
        <p:spPr>
          <a:xfrm>
            <a:off x="0" y="18288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2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 Memory</a:t>
            </a:r>
            <a:endParaRPr lang="en-US" sz="5520" dirty="0"/>
          </a:p>
        </p:txBody>
      </p:sp>
      <p:sp>
        <p:nvSpPr>
          <p:cNvPr id="21" name="Text 19"/>
          <p:cNvSpPr/>
          <p:nvPr/>
        </p:nvSpPr>
        <p:spPr>
          <a:xfrm>
            <a:off x="0" y="27432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Multi-turn conversations</a:t>
            </a:r>
            <a:pPr algn="ctr" indent="0" marL="0">
              <a:buNone/>
            </a:pPr>
            <a:r>
              <a:rPr lang="en-US" sz="228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session by session</a:t>
            </a:r>
            <a:endParaRPr lang="en-US" sz="2280" dirty="0"/>
          </a:p>
        </p:txBody>
      </p:sp>
      <p:sp>
        <p:nvSpPr>
          <p:cNvPr id="22" name="Shape 20"/>
          <p:cNvSpPr/>
          <p:nvPr/>
        </p:nvSpPr>
        <p:spPr>
          <a:xfrm>
            <a:off x="4251960" y="352044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108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96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84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37033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AI with Llama  ·  PromptToApps</a:t>
            </a:r>
            <a:endParaRPr lang="en-US" sz="15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bot has goldfish memory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call is stateless. Ask a follow-up and the model has no idea what you just said.</a:t>
            </a:r>
            <a:endParaRPr lang="en-US" sz="1920" dirty="0"/>
          </a:p>
        </p:txBody>
      </p:sp>
      <p:sp>
        <p:nvSpPr>
          <p:cNvPr id="21" name="Shape 19"/>
          <p:cNvSpPr/>
          <p:nvPr/>
        </p:nvSpPr>
        <p:spPr>
          <a:xfrm>
            <a:off x="1097280" y="2057400"/>
            <a:ext cx="9966960" cy="640080"/>
          </a:xfrm>
          <a:prstGeom prst="roundRect">
            <a:avLst>
              <a:gd name="adj" fmla="val 14286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2103120"/>
            <a:ext cx="73152" cy="548640"/>
          </a:xfrm>
          <a:prstGeom prst="rect">
            <a:avLst/>
          </a:prstGeom>
          <a:solidFill>
            <a:srgbClr val="5FE0C5"/>
          </a:solidFill>
          <a:ln/>
        </p:spPr>
      </p:sp>
      <p:sp>
        <p:nvSpPr>
          <p:cNvPr id="23" name="Text 21"/>
          <p:cNvSpPr/>
          <p:nvPr/>
        </p:nvSpPr>
        <p:spPr>
          <a:xfrm>
            <a:off x="1325880" y="20574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</a:t>
            </a:r>
            <a:endParaRPr lang="en-US" sz="1560" dirty="0"/>
          </a:p>
        </p:txBody>
      </p:sp>
      <p:sp>
        <p:nvSpPr>
          <p:cNvPr id="24" name="Text 22"/>
          <p:cNvSpPr/>
          <p:nvPr/>
        </p:nvSpPr>
        <p:spPr>
          <a:xfrm>
            <a:off x="2194560" y="20574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a new engineer. What laptop do I get?"</a:t>
            </a:r>
            <a:endParaRPr lang="en-US" sz="1560" dirty="0"/>
          </a:p>
        </p:txBody>
      </p:sp>
      <p:sp>
        <p:nvSpPr>
          <p:cNvPr id="25" name="Shape 23"/>
          <p:cNvSpPr/>
          <p:nvPr/>
        </p:nvSpPr>
        <p:spPr>
          <a:xfrm>
            <a:off x="1097280" y="2834640"/>
            <a:ext cx="9966960" cy="640080"/>
          </a:xfrm>
          <a:prstGeom prst="roundRect">
            <a:avLst>
              <a:gd name="adj" fmla="val 14286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2880360"/>
            <a:ext cx="73152" cy="548640"/>
          </a:xfrm>
          <a:prstGeom prst="rect">
            <a:avLst/>
          </a:prstGeom>
          <a:solidFill>
            <a:srgbClr val="8B98AC"/>
          </a:solidFill>
          <a:ln/>
        </p:spPr>
      </p:sp>
      <p:sp>
        <p:nvSpPr>
          <p:cNvPr id="27" name="Text 25"/>
          <p:cNvSpPr/>
          <p:nvPr/>
        </p:nvSpPr>
        <p:spPr>
          <a:xfrm>
            <a:off x="1325880" y="2834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</a:t>
            </a:r>
            <a:endParaRPr lang="en-US" sz="1560" dirty="0"/>
          </a:p>
        </p:txBody>
      </p:sp>
      <p:sp>
        <p:nvSpPr>
          <p:cNvPr id="28" name="Text 26"/>
          <p:cNvSpPr/>
          <p:nvPr/>
        </p:nvSpPr>
        <p:spPr>
          <a:xfrm>
            <a:off x="2194560" y="28346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"New engineers get a 16" MacBook Pro."</a:t>
            </a:r>
            <a:endParaRPr lang="en-US" sz="1560" dirty="0"/>
          </a:p>
        </p:txBody>
      </p:sp>
      <p:sp>
        <p:nvSpPr>
          <p:cNvPr id="29" name="Shape 27"/>
          <p:cNvSpPr/>
          <p:nvPr/>
        </p:nvSpPr>
        <p:spPr>
          <a:xfrm>
            <a:off x="1097280" y="3611880"/>
            <a:ext cx="9966960" cy="640080"/>
          </a:xfrm>
          <a:prstGeom prst="roundRect">
            <a:avLst>
              <a:gd name="adj" fmla="val 14286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97280" y="3657600"/>
            <a:ext cx="73152" cy="548640"/>
          </a:xfrm>
          <a:prstGeom prst="rect">
            <a:avLst/>
          </a:prstGeom>
          <a:solidFill>
            <a:srgbClr val="5FE0C5"/>
          </a:solidFill>
          <a:ln/>
        </p:spPr>
      </p:sp>
      <p:sp>
        <p:nvSpPr>
          <p:cNvPr id="31" name="Text 29"/>
          <p:cNvSpPr/>
          <p:nvPr/>
        </p:nvSpPr>
        <p:spPr>
          <a:xfrm>
            <a:off x="1325880" y="36118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</a:t>
            </a:r>
            <a:endParaRPr lang="en-US" sz="1560" dirty="0"/>
          </a:p>
        </p:txBody>
      </p:sp>
      <p:sp>
        <p:nvSpPr>
          <p:cNvPr id="32" name="Text 30"/>
          <p:cNvSpPr/>
          <p:nvPr/>
        </p:nvSpPr>
        <p:spPr>
          <a:xfrm>
            <a:off x="2194560" y="36118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"And what about a monitor?"</a:t>
            </a:r>
            <a:endParaRPr lang="en-US" sz="1560" dirty="0"/>
          </a:p>
        </p:txBody>
      </p:sp>
      <p:sp>
        <p:nvSpPr>
          <p:cNvPr id="33" name="Shape 31"/>
          <p:cNvSpPr/>
          <p:nvPr/>
        </p:nvSpPr>
        <p:spPr>
          <a:xfrm>
            <a:off x="1097280" y="4389120"/>
            <a:ext cx="9966960" cy="640080"/>
          </a:xfrm>
          <a:prstGeom prst="roundRect">
            <a:avLst>
              <a:gd name="adj" fmla="val 14286"/>
            </a:avLst>
          </a:prstGeom>
          <a:solidFill>
            <a:srgbClr val="121A2E"/>
          </a:solidFill>
          <a:ln w="6350">
            <a:solidFill>
              <a:srgbClr val="5B647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97280" y="4434840"/>
            <a:ext cx="73152" cy="54864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5" name="Text 33"/>
          <p:cNvSpPr/>
          <p:nvPr/>
        </p:nvSpPr>
        <p:spPr>
          <a:xfrm>
            <a:off x="1325880" y="43891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</a:t>
            </a:r>
            <a:endParaRPr lang="en-US" sz="1560" dirty="0"/>
          </a:p>
        </p:txBody>
      </p:sp>
      <p:sp>
        <p:nvSpPr>
          <p:cNvPr id="36" name="Text 34"/>
          <p:cNvSpPr/>
          <p:nvPr/>
        </p:nvSpPr>
        <p:spPr>
          <a:xfrm>
            <a:off x="2194560" y="43891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monitor for… what, sorry? Who are you?"  ← no memory</a:t>
            </a:r>
            <a:endParaRPr lang="en-US" sz="1560" dirty="0"/>
          </a:p>
        </p:txBody>
      </p:sp>
      <p:sp>
        <p:nvSpPr>
          <p:cNvPr id="37" name="Text 35"/>
          <p:cNvSpPr/>
          <p:nvPr/>
        </p:nvSpPr>
        <p:spPr>
          <a:xfrm>
            <a:off x="0" y="53035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isn't magic — it's resending the conversation, carefully.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1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every call starts from zero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keeps no state between HTTP requests. To "remember", you resend the history each time.</a:t>
            </a:r>
            <a:endParaRPr lang="en-US" sz="1920" dirty="0"/>
          </a:p>
        </p:txBody>
      </p:sp>
      <p:sp>
        <p:nvSpPr>
          <p:cNvPr id="21" name="Shape 19"/>
          <p:cNvSpPr/>
          <p:nvPr/>
        </p:nvSpPr>
        <p:spPr>
          <a:xfrm>
            <a:off x="822960" y="2057400"/>
            <a:ext cx="5074920" cy="3108960"/>
          </a:xfrm>
          <a:prstGeom prst="roundRect">
            <a:avLst>
              <a:gd name="adj" fmla="val 4118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43000" y="2286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Without memory</a:t>
            </a:r>
            <a:endParaRPr lang="en-US" sz="2040" dirty="0"/>
          </a:p>
        </p:txBody>
      </p:sp>
      <p:sp>
        <p:nvSpPr>
          <p:cNvPr id="23" name="Text 21"/>
          <p:cNvSpPr/>
          <p:nvPr/>
        </p:nvSpPr>
        <p:spPr>
          <a:xfrm>
            <a:off x="1143000" y="283464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sends only</a:t>
            </a:r>
            <a:endParaRPr lang="en-US" sz="16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latest message.</a:t>
            </a:r>
            <a:endParaRPr lang="en-US" sz="1620" dirty="0"/>
          </a:p>
          <a:p>
            <a:pPr indent="0" marL="0">
              <a:lnSpc>
                <a:spcPct val="120000"/>
              </a:lnSpc>
              <a:buNone/>
            </a:pPr>
            <a:endParaRPr lang="en-US" sz="16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one line and</a:t>
            </a:r>
            <a:endParaRPr lang="en-US" sz="16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in a vacuum.</a:t>
            </a:r>
            <a:endParaRPr lang="en-US" sz="1620" dirty="0"/>
          </a:p>
        </p:txBody>
      </p:sp>
      <p:sp>
        <p:nvSpPr>
          <p:cNvPr id="24" name="Shape 22"/>
          <p:cNvSpPr/>
          <p:nvPr/>
        </p:nvSpPr>
        <p:spPr>
          <a:xfrm>
            <a:off x="6263640" y="2057400"/>
            <a:ext cx="5074920" cy="3108960"/>
          </a:xfrm>
          <a:prstGeom prst="roundRect">
            <a:avLst>
              <a:gd name="adj" fmla="val 4118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0" y="2286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memory</a:t>
            </a:r>
            <a:endParaRPr lang="en-US" sz="2040" dirty="0"/>
          </a:p>
        </p:txBody>
      </p:sp>
      <p:sp>
        <p:nvSpPr>
          <p:cNvPr id="26" name="Text 24"/>
          <p:cNvSpPr/>
          <p:nvPr/>
        </p:nvSpPr>
        <p:spPr>
          <a:xfrm>
            <a:off x="6583680" y="283464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replays the recent</a:t>
            </a:r>
            <a:endParaRPr lang="en-US" sz="16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for this session.</a:t>
            </a:r>
            <a:endParaRPr lang="en-US" sz="1620" dirty="0"/>
          </a:p>
          <a:p>
            <a:pPr indent="0" marL="0">
              <a:lnSpc>
                <a:spcPct val="120000"/>
              </a:lnSpc>
              <a:buNone/>
            </a:pPr>
            <a:endParaRPr lang="en-US" sz="16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the thread and</a:t>
            </a:r>
            <a:endParaRPr lang="en-US" sz="162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 context.</a:t>
            </a:r>
            <a:endParaRPr lang="en-US" sz="1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2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beans and one advisor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640080" y="1371600"/>
            <a:ext cx="10881360" cy="3291840"/>
          </a:xfrm>
          <a:prstGeom prst="roundRect">
            <a:avLst>
              <a:gd name="adj" fmla="val 2222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153619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2416" y="1536192"/>
            <a:ext cx="91440" cy="91440"/>
          </a:xfrm>
          <a:prstGeom prst="ellipse">
            <a:avLst/>
          </a:prstGeom>
          <a:solidFill>
            <a:srgbClr val="8B98AC"/>
          </a:solidFill>
          <a:ln/>
        </p:spPr>
      </p:sp>
      <p:sp>
        <p:nvSpPr>
          <p:cNvPr id="23" name="Shape 21"/>
          <p:cNvSpPr/>
          <p:nvPr/>
        </p:nvSpPr>
        <p:spPr>
          <a:xfrm>
            <a:off x="1243584" y="1536192"/>
            <a:ext cx="91440" cy="91440"/>
          </a:xfrm>
          <a:prstGeom prst="ellipse">
            <a:avLst/>
          </a:prstGeom>
          <a:solidFill>
            <a:srgbClr val="5FE0C5"/>
          </a:solidFill>
          <a:ln/>
        </p:spPr>
      </p:sp>
      <p:sp>
        <p:nvSpPr>
          <p:cNvPr id="24" name="Text 22"/>
          <p:cNvSpPr/>
          <p:nvPr/>
        </p:nvSpPr>
        <p:spPr>
          <a:xfrm>
            <a:off x="950976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OnboardChatController.java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182880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this.chatMemory = 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MessageWindowChatMemory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.builder()</a:t>
            </a:r>
            <a:endParaRPr lang="en-US" sz="1440" dirty="0"/>
          </a:p>
        </p:txBody>
      </p:sp>
      <p:sp>
        <p:nvSpPr>
          <p:cNvPr id="26" name="Text 24"/>
          <p:cNvSpPr/>
          <p:nvPr/>
        </p:nvSpPr>
        <p:spPr>
          <a:xfrm>
            <a:off x="960120" y="21396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.chatMemoryRepository(</a:t>
            </a:r>
            <a:pPr indent="0" marL="0">
              <a:buNone/>
            </a:pPr>
            <a:r>
              <a:rPr lang="en-US" sz="144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InMemoryChatMemoryRepository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960120" y="245059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.maxMessages(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bounded window</a:t>
            </a:r>
            <a:endParaRPr lang="en-US" sz="1440" dirty="0"/>
          </a:p>
        </p:txBody>
      </p:sp>
      <p:sp>
        <p:nvSpPr>
          <p:cNvPr id="28" name="Text 26"/>
          <p:cNvSpPr/>
          <p:nvPr/>
        </p:nvSpPr>
        <p:spPr>
          <a:xfrm>
            <a:off x="960120" y="276148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.build();</a:t>
            </a:r>
            <a:endParaRPr lang="en-US" sz="1440" dirty="0"/>
          </a:p>
        </p:txBody>
      </p:sp>
      <p:sp>
        <p:nvSpPr>
          <p:cNvPr id="29" name="Text 27"/>
          <p:cNvSpPr/>
          <p:nvPr/>
        </p:nvSpPr>
        <p:spPr>
          <a:xfrm>
            <a:off x="960120" y="307238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40" dirty="0"/>
          </a:p>
        </p:txBody>
      </p:sp>
      <p:sp>
        <p:nvSpPr>
          <p:cNvPr id="30" name="Text 28"/>
          <p:cNvSpPr/>
          <p:nvPr/>
        </p:nvSpPr>
        <p:spPr>
          <a:xfrm>
            <a:off x="960120" y="33832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this.chatClient = builder</a:t>
            </a:r>
            <a:endParaRPr lang="en-US" sz="1440" dirty="0"/>
          </a:p>
        </p:txBody>
      </p:sp>
      <p:sp>
        <p:nvSpPr>
          <p:cNvPr id="31" name="Text 29"/>
          <p:cNvSpPr/>
          <p:nvPr/>
        </p:nvSpPr>
        <p:spPr>
          <a:xfrm>
            <a:off x="960120" y="369417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.defaultSystem(SYSTEM_PROMPT)</a:t>
            </a:r>
            <a:endParaRPr lang="en-US" sz="1440" dirty="0"/>
          </a:p>
        </p:txBody>
      </p:sp>
      <p:sp>
        <p:nvSpPr>
          <p:cNvPr id="32" name="Text 30"/>
          <p:cNvSpPr/>
          <p:nvPr/>
        </p:nvSpPr>
        <p:spPr>
          <a:xfrm>
            <a:off x="960120" y="40050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.defaultAdvisors(</a:t>
            </a:r>
            <a:pPr indent="0" marL="0">
              <a:buNone/>
            </a:pPr>
            <a:r>
              <a:rPr lang="en-US" sz="144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MessageChatMemoryAdvisor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.builder(chatMemory).build())</a:t>
            </a:r>
            <a:endParaRPr lang="en-US" sz="1440" dirty="0"/>
          </a:p>
        </p:txBody>
      </p:sp>
      <p:sp>
        <p:nvSpPr>
          <p:cNvPr id="33" name="Text 31"/>
          <p:cNvSpPr/>
          <p:nvPr/>
        </p:nvSpPr>
        <p:spPr>
          <a:xfrm>
            <a:off x="960120" y="43159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.build();</a:t>
            </a:r>
            <a:endParaRPr lang="en-US" sz="1440" dirty="0"/>
          </a:p>
        </p:txBody>
      </p:sp>
      <p:sp>
        <p:nvSpPr>
          <p:cNvPr id="34" name="Shape 32"/>
          <p:cNvSpPr/>
          <p:nvPr/>
        </p:nvSpPr>
        <p:spPr>
          <a:xfrm>
            <a:off x="822960" y="4892040"/>
            <a:ext cx="10515600" cy="777240"/>
          </a:xfrm>
          <a:prstGeom prst="roundRect">
            <a:avLst>
              <a:gd name="adj" fmla="val 14118"/>
            </a:avLst>
          </a:prstGeom>
          <a:solidFill>
            <a:srgbClr val="121A2E"/>
          </a:solidFill>
          <a:ln w="15875">
            <a:solidFill>
              <a:srgbClr val="5FE0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" y="489204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advisor transparently prepends the session's recent messages to every prompt.</a:t>
            </a:r>
            <a:endParaRPr lang="en-US" sz="1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BUILD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conversation ID keeps sessions apart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640080" y="137160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153619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2416" y="1536192"/>
            <a:ext cx="91440" cy="91440"/>
          </a:xfrm>
          <a:prstGeom prst="ellipse">
            <a:avLst/>
          </a:prstGeom>
          <a:solidFill>
            <a:srgbClr val="8B98AC"/>
          </a:solidFill>
          <a:ln/>
        </p:spPr>
      </p:sp>
      <p:sp>
        <p:nvSpPr>
          <p:cNvPr id="23" name="Shape 21"/>
          <p:cNvSpPr/>
          <p:nvPr/>
        </p:nvSpPr>
        <p:spPr>
          <a:xfrm>
            <a:off x="1243584" y="1536192"/>
            <a:ext cx="91440" cy="91440"/>
          </a:xfrm>
          <a:prstGeom prst="ellipse">
            <a:avLst/>
          </a:prstGeom>
          <a:solidFill>
            <a:srgbClr val="5FE0C5"/>
          </a:solidFill>
          <a:ln/>
        </p:spPr>
      </p:sp>
      <p:sp>
        <p:nvSpPr>
          <p:cNvPr id="24" name="Text 22"/>
          <p:cNvSpPr/>
          <p:nvPr/>
        </p:nvSpPr>
        <p:spPr>
          <a:xfrm>
            <a:off x="950976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key line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182880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chatClient.prompt()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0120" y="212140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.user(request.message())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0120" y="241401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.advisors(a -&gt; a.param(</a:t>
            </a:r>
            <a:pPr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CONVERSATION_ID</a:t>
            </a:r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request.sessionId()))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0120" y="270662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.call().content();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22960" y="3566160"/>
            <a:ext cx="3429000" cy="1691640"/>
          </a:xfrm>
          <a:prstGeom prst="roundRect">
            <a:avLst>
              <a:gd name="adj" fmla="val 6486"/>
            </a:avLst>
          </a:prstGeom>
          <a:solidFill>
            <a:srgbClr val="121A2E"/>
          </a:solidFill>
          <a:ln w="15875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51560" y="3749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Isolated</a:t>
            </a:r>
            <a:endParaRPr lang="en-US" sz="1740" dirty="0"/>
          </a:p>
        </p:txBody>
      </p:sp>
      <p:sp>
        <p:nvSpPr>
          <p:cNvPr id="31" name="Text 29"/>
          <p:cNvSpPr/>
          <p:nvPr/>
        </p:nvSpPr>
        <p:spPr>
          <a:xfrm>
            <a:off x="1051560" y="4169664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Aisha's thread and Marcus's thread never bleed into each other.</a:t>
            </a:r>
            <a:endParaRPr lang="en-US" sz="1440" dirty="0"/>
          </a:p>
        </p:txBody>
      </p:sp>
      <p:sp>
        <p:nvSpPr>
          <p:cNvPr id="32" name="Shape 30"/>
          <p:cNvSpPr/>
          <p:nvPr/>
        </p:nvSpPr>
        <p:spPr>
          <a:xfrm>
            <a:off x="4572000" y="3566160"/>
            <a:ext cx="3429000" cy="1691640"/>
          </a:xfrm>
          <a:prstGeom prst="roundRect">
            <a:avLst>
              <a:gd name="adj" fmla="val 6486"/>
            </a:avLst>
          </a:prstGeom>
          <a:solidFill>
            <a:srgbClr val="121A2E"/>
          </a:solidFill>
          <a:ln w="15875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00600" y="3749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Bounded</a:t>
            </a:r>
            <a:endParaRPr lang="en-US" sz="1740" dirty="0"/>
          </a:p>
        </p:txBody>
      </p:sp>
      <p:sp>
        <p:nvSpPr>
          <p:cNvPr id="34" name="Text 32"/>
          <p:cNvSpPr/>
          <p:nvPr/>
        </p:nvSpPr>
        <p:spPr>
          <a:xfrm>
            <a:off x="4800600" y="4169664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maxMessages(20) caps the window so history never eats the token budget.</a:t>
            </a:r>
            <a:endParaRPr lang="en-US" sz="1440" dirty="0"/>
          </a:p>
        </p:txBody>
      </p:sp>
      <p:sp>
        <p:nvSpPr>
          <p:cNvPr id="35" name="Shape 33"/>
          <p:cNvSpPr/>
          <p:nvPr/>
        </p:nvSpPr>
        <p:spPr>
          <a:xfrm>
            <a:off x="8321040" y="3566160"/>
            <a:ext cx="3429000" cy="1691640"/>
          </a:xfrm>
          <a:prstGeom prst="roundRect">
            <a:avLst>
              <a:gd name="adj" fmla="val 6486"/>
            </a:avLst>
          </a:prstGeom>
          <a:solidFill>
            <a:srgbClr val="121A2E"/>
          </a:solidFill>
          <a:ln w="15875">
            <a:solidFill>
              <a:srgbClr val="8B98A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549640" y="3749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Clearable</a:t>
            </a:r>
            <a:endParaRPr lang="en-US" sz="1740" dirty="0"/>
          </a:p>
        </p:txBody>
      </p:sp>
      <p:sp>
        <p:nvSpPr>
          <p:cNvPr id="37" name="Text 35"/>
          <p:cNvSpPr/>
          <p:nvPr/>
        </p:nvSpPr>
        <p:spPr>
          <a:xfrm>
            <a:off x="8549640" y="4169664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/hr/onboard/chat/{id} wipes a session's memory on demand.</a:t>
            </a:r>
            <a:endParaRPr lang="en-US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IT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the follow-up just works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640080" y="1554480"/>
            <a:ext cx="10881360" cy="3657600"/>
          </a:xfrm>
          <a:prstGeom prst="roundRect">
            <a:avLst>
              <a:gd name="adj" fmla="val 2000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171907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2416" y="1719072"/>
            <a:ext cx="91440" cy="91440"/>
          </a:xfrm>
          <a:prstGeom prst="ellipse">
            <a:avLst/>
          </a:prstGeom>
          <a:solidFill>
            <a:srgbClr val="8B98AC"/>
          </a:solidFill>
          <a:ln/>
        </p:spPr>
      </p:sp>
      <p:sp>
        <p:nvSpPr>
          <p:cNvPr id="23" name="Shape 21"/>
          <p:cNvSpPr/>
          <p:nvPr/>
        </p:nvSpPr>
        <p:spPr>
          <a:xfrm>
            <a:off x="1243584" y="1719072"/>
            <a:ext cx="91440" cy="91440"/>
          </a:xfrm>
          <a:prstGeom prst="ellipse">
            <a:avLst/>
          </a:prstGeom>
          <a:solidFill>
            <a:srgbClr val="5FE0C5"/>
          </a:solidFill>
          <a:ln/>
        </p:spPr>
      </p:sp>
      <p:sp>
        <p:nvSpPr>
          <p:cNvPr id="24" name="Text 22"/>
          <p:cNvSpPr/>
          <p:nvPr/>
        </p:nvSpPr>
        <p:spPr>
          <a:xfrm>
            <a:off x="950976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205740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Turn 1 — same sessionId</a:t>
            </a:r>
            <a:endParaRPr lang="en-US" sz="1440" dirty="0"/>
          </a:p>
        </p:txBody>
      </p:sp>
      <p:sp>
        <p:nvSpPr>
          <p:cNvPr id="26" name="Text 24"/>
          <p:cNvSpPr/>
          <p:nvPr/>
        </p:nvSpPr>
        <p:spPr>
          <a:xfrm>
            <a:off x="960120" y="2459736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… -d '{ "sessionId":"a1", "message":"I am a new engineer" }'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960120" y="2862072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40" dirty="0"/>
          </a:p>
        </p:txBody>
      </p:sp>
      <p:sp>
        <p:nvSpPr>
          <p:cNvPr id="28" name="Text 26"/>
          <p:cNvSpPr/>
          <p:nvPr/>
        </p:nvSpPr>
        <p:spPr>
          <a:xfrm>
            <a:off x="960120" y="3264408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Turn 2 — the bot remembers</a:t>
            </a:r>
            <a:endParaRPr lang="en-US" sz="1440" dirty="0"/>
          </a:p>
        </p:txBody>
      </p:sp>
      <p:sp>
        <p:nvSpPr>
          <p:cNvPr id="29" name="Text 27"/>
          <p:cNvSpPr/>
          <p:nvPr/>
        </p:nvSpPr>
        <p:spPr>
          <a:xfrm>
            <a:off x="960120" y="3666744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… -d '{ "sessionId":"a1", "message":"What laptop do I get?" }'</a:t>
            </a:r>
            <a:endParaRPr lang="en-US" sz="1440" dirty="0"/>
          </a:p>
        </p:txBody>
      </p:sp>
      <p:sp>
        <p:nvSpPr>
          <p:cNvPr id="30" name="Text 28"/>
          <p:cNvSpPr/>
          <p:nvPr/>
        </p:nvSpPr>
        <p:spPr>
          <a:xfrm>
            <a:off x="960120" y="406908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40" dirty="0"/>
          </a:p>
        </p:txBody>
      </p:sp>
      <p:sp>
        <p:nvSpPr>
          <p:cNvPr id="31" name="Text 29"/>
          <p:cNvSpPr/>
          <p:nvPr/>
        </p:nvSpPr>
        <p:spPr>
          <a:xfrm>
            <a:off x="960120" y="4471416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 a new engineer, you get a 16\" MacBook Pro…"</a:t>
            </a:r>
            <a:endParaRPr lang="en-US" sz="1440" dirty="0"/>
          </a:p>
        </p:txBody>
      </p:sp>
      <p:sp>
        <p:nvSpPr>
          <p:cNvPr id="32" name="Text 30"/>
          <p:cNvSpPr/>
          <p:nvPr/>
        </p:nvSpPr>
        <p:spPr>
          <a:xfrm>
            <a:off x="0" y="55778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sessionId is a different conversation — no crossover.</a:t>
            </a:r>
            <a:endParaRPr lang="en-US" sz="15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 THE COST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isn't free — it spends tokens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822960" y="14630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1508760"/>
            <a:ext cx="73152" cy="7315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14630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It's the context window</a:t>
            </a:r>
            <a:endParaRPr lang="en-US" sz="1560" dirty="0"/>
          </a:p>
        </p:txBody>
      </p:sp>
      <p:sp>
        <p:nvSpPr>
          <p:cNvPr id="23" name="Text 21"/>
          <p:cNvSpPr/>
          <p:nvPr/>
        </p:nvSpPr>
        <p:spPr>
          <a:xfrm>
            <a:off x="4754880" y="14630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Replayed history shares the same token budget as the answer (Ch 2).</a:t>
            </a:r>
            <a:endParaRPr lang="en-US" sz="1440" dirty="0"/>
          </a:p>
        </p:txBody>
      </p:sp>
      <p:sp>
        <p:nvSpPr>
          <p:cNvPr id="24" name="Shape 22"/>
          <p:cNvSpPr/>
          <p:nvPr/>
        </p:nvSpPr>
        <p:spPr>
          <a:xfrm>
            <a:off x="822960" y="242316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468880"/>
            <a:ext cx="73152" cy="731520"/>
          </a:xfrm>
          <a:prstGeom prst="rect">
            <a:avLst/>
          </a:prstGeom>
          <a:solidFill>
            <a:srgbClr val="5FE0C5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2423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Bigger window = slower + pricier</a:t>
            </a:r>
            <a:endParaRPr lang="en-US" sz="1560" dirty="0"/>
          </a:p>
        </p:txBody>
      </p:sp>
      <p:sp>
        <p:nvSpPr>
          <p:cNvPr id="27" name="Text 25"/>
          <p:cNvSpPr/>
          <p:nvPr/>
        </p:nvSpPr>
        <p:spPr>
          <a:xfrm>
            <a:off x="4754880" y="2423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messages resent = more tokens processed on every turn.</a:t>
            </a:r>
            <a:endParaRPr lang="en-US" sz="1440" dirty="0"/>
          </a:p>
        </p:txBody>
      </p:sp>
      <p:sp>
        <p:nvSpPr>
          <p:cNvPr id="28" name="Shape 26"/>
          <p:cNvSpPr/>
          <p:nvPr/>
        </p:nvSpPr>
        <p:spPr>
          <a:xfrm>
            <a:off x="822960" y="338328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3429000"/>
            <a:ext cx="73152" cy="731520"/>
          </a:xfrm>
          <a:prstGeom prst="rect">
            <a:avLst/>
          </a:prstGeom>
          <a:solidFill>
            <a:srgbClr val="8B98AC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3383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That's why maxMessages exists</a:t>
            </a:r>
            <a:endParaRPr lang="en-US" sz="1560" dirty="0"/>
          </a:p>
        </p:txBody>
      </p:sp>
      <p:sp>
        <p:nvSpPr>
          <p:cNvPr id="31" name="Text 29"/>
          <p:cNvSpPr/>
          <p:nvPr/>
        </p:nvSpPr>
        <p:spPr>
          <a:xfrm>
            <a:off x="4754880" y="33832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sliding window keeps recent context without unbounded growth.</a:t>
            </a:r>
            <a:endParaRPr lang="en-US" sz="1440" dirty="0"/>
          </a:p>
        </p:txBody>
      </p:sp>
      <p:sp>
        <p:nvSpPr>
          <p:cNvPr id="32" name="Shape 30"/>
          <p:cNvSpPr/>
          <p:nvPr/>
        </p:nvSpPr>
        <p:spPr>
          <a:xfrm>
            <a:off x="822960" y="434340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4389120"/>
            <a:ext cx="73152" cy="7315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4" name="Text 32"/>
          <p:cNvSpPr/>
          <p:nvPr/>
        </p:nvSpPr>
        <p:spPr>
          <a:xfrm>
            <a:off x="1097280" y="4343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In-memory is a demo store</a:t>
            </a:r>
            <a:endParaRPr lang="en-US" sz="1560" dirty="0"/>
          </a:p>
        </p:txBody>
      </p:sp>
      <p:sp>
        <p:nvSpPr>
          <p:cNvPr id="35" name="Text 33"/>
          <p:cNvSpPr/>
          <p:nvPr/>
        </p:nvSpPr>
        <p:spPr>
          <a:xfrm>
            <a:off x="4754880" y="4343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InMemoryChatMemoryRepository resets on restart — swap it for real storage in production.</a:t>
            </a:r>
            <a:endParaRPr lang="en-US" sz="14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RECAP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can do now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41732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AI calls are stateless by default</a:t>
            </a:r>
            <a:endParaRPr lang="en-US" sz="20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MessageWindowChatMemory + MessageChatMemoryAdvisor</a:t>
            </a:r>
            <a:endParaRPr lang="en-US" sz="20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sessions isolated with a conversation ID</a:t>
            </a:r>
            <a:endParaRPr lang="en-US" sz="20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the window so history never blows the token budget</a:t>
            </a:r>
            <a:endParaRPr lang="en-US" sz="2040" dirty="0"/>
          </a:p>
        </p:txBody>
      </p:sp>
      <p:sp>
        <p:nvSpPr>
          <p:cNvPr id="21" name="Shape 19"/>
          <p:cNvSpPr/>
          <p:nvPr/>
        </p:nvSpPr>
        <p:spPr>
          <a:xfrm>
            <a:off x="640080" y="356616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121A2E"/>
          </a:solidFill>
          <a:ln w="15875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NEXT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914400" y="406908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280" b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RAG</a:t>
            </a:r>
            <a:endParaRPr lang="en-US" sz="22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 remembers your conversation — but knows nothing about your</a:t>
            </a:r>
            <a:endParaRPr lang="en-US" sz="22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company's policies. RAG makes it read the manual before answering.</a:t>
            </a:r>
            <a:endParaRPr lang="en-US" sz="2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ENJOYING THIS?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 &amp; Subscribe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helped, a like and a subscribe genuinely help the series reach more developers.</a:t>
            </a:r>
            <a:endParaRPr lang="en-US" sz="2040" dirty="0"/>
          </a:p>
        </p:txBody>
      </p:sp>
      <p:sp>
        <p:nvSpPr>
          <p:cNvPr id="21" name="Shape 19"/>
          <p:cNvSpPr/>
          <p:nvPr/>
        </p:nvSpPr>
        <p:spPr>
          <a:xfrm>
            <a:off x="822960" y="2286000"/>
            <a:ext cx="3200400" cy="2148840"/>
          </a:xfrm>
          <a:prstGeom prst="roundRect">
            <a:avLst>
              <a:gd name="adj" fmla="val 5957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2542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22960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endParaRPr lang="en-US" sz="2280" dirty="0"/>
          </a:p>
        </p:txBody>
      </p:sp>
      <p:sp>
        <p:nvSpPr>
          <p:cNvPr id="24" name="Text 22"/>
          <p:cNvSpPr/>
          <p:nvPr/>
        </p:nvSpPr>
        <p:spPr>
          <a:xfrm>
            <a:off x="1051560" y="3767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like if this made Spring AI click.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4480560" y="2286000"/>
            <a:ext cx="3200400" cy="2148840"/>
          </a:xfrm>
          <a:prstGeom prst="roundRect">
            <a:avLst>
              <a:gd name="adj" fmla="val 5957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80560" y="2542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5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4480560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Subscribe</a:t>
            </a:r>
            <a:endParaRPr lang="en-US" sz="2280" dirty="0"/>
          </a:p>
        </p:txBody>
      </p:sp>
      <p:sp>
        <p:nvSpPr>
          <p:cNvPr id="28" name="Text 26"/>
          <p:cNvSpPr/>
          <p:nvPr/>
        </p:nvSpPr>
        <p:spPr>
          <a:xfrm>
            <a:off x="4709160" y="3767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+ bell for every new chapter.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8138160" y="2286000"/>
            <a:ext cx="3200400" cy="2148840"/>
          </a:xfrm>
          <a:prstGeom prst="roundRect">
            <a:avLst>
              <a:gd name="adj" fmla="val 5957"/>
            </a:avLst>
          </a:prstGeom>
          <a:solidFill>
            <a:srgbClr val="121A2E"/>
          </a:solidFill>
          <a:ln w="19050">
            <a:solidFill>
              <a:srgbClr val="8B98A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38160" y="2542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8B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8138160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</a:t>
            </a:r>
            <a:endParaRPr lang="en-US" sz="2280" dirty="0"/>
          </a:p>
        </p:txBody>
      </p:sp>
      <p:sp>
        <p:nvSpPr>
          <p:cNvPr id="32" name="Text 30"/>
          <p:cNvSpPr/>
          <p:nvPr/>
        </p:nvSpPr>
        <p:spPr>
          <a:xfrm>
            <a:off x="8366760" y="3767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— I read and reply.</a:t>
            </a:r>
            <a:endParaRPr lang="en-US" sz="1440" dirty="0"/>
          </a:p>
        </p:txBody>
      </p:sp>
      <p:sp>
        <p:nvSpPr>
          <p:cNvPr id="33" name="Shape 31"/>
          <p:cNvSpPr/>
          <p:nvPr/>
        </p:nvSpPr>
        <p:spPr>
          <a:xfrm>
            <a:off x="4251960" y="502920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10812" y="498805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9612" y="498805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8412" y="498805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52578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chapter every week  ·  Spring AI with Llama  ·  PromptToApps</a:t>
            </a:r>
            <a:endParaRPr lang="en-US" sz="15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CREDITS &amp; THANKS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isn't my merit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series is built on the work of open-source projects and their communities. I only learned from them and shared what I built.</a:t>
            </a:r>
            <a:endParaRPr lang="en-US" sz="1920" dirty="0"/>
          </a:p>
        </p:txBody>
      </p:sp>
      <p:sp>
        <p:nvSpPr>
          <p:cNvPr id="21" name="Shape 19"/>
          <p:cNvSpPr/>
          <p:nvPr/>
        </p:nvSpPr>
        <p:spPr>
          <a:xfrm>
            <a:off x="822960" y="242316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43000" y="2697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AI</a:t>
            </a:r>
            <a:endParaRPr lang="en-US" sz="2640" dirty="0"/>
          </a:p>
        </p:txBody>
      </p:sp>
      <p:sp>
        <p:nvSpPr>
          <p:cNvPr id="23" name="Text 21"/>
          <p:cNvSpPr/>
          <p:nvPr/>
        </p:nvSpPr>
        <p:spPr>
          <a:xfrm>
            <a:off x="114300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integration layer for Spring</a:t>
            </a:r>
            <a:endParaRPr lang="en-US" sz="1560" dirty="0"/>
          </a:p>
        </p:txBody>
      </p:sp>
      <p:sp>
        <p:nvSpPr>
          <p:cNvPr id="24" name="Text 22"/>
          <p:cNvSpPr/>
          <p:nvPr/>
        </p:nvSpPr>
        <p:spPr>
          <a:xfrm>
            <a:off x="114300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spring.io/projects/spring-ai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6309360" y="242316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29400" y="2697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</a:t>
            </a:r>
            <a:endParaRPr lang="en-US" sz="2640" dirty="0"/>
          </a:p>
        </p:txBody>
      </p:sp>
      <p:sp>
        <p:nvSpPr>
          <p:cNvPr id="27" name="Text 25"/>
          <p:cNvSpPr/>
          <p:nvPr/>
        </p:nvSpPr>
        <p:spPr>
          <a:xfrm>
            <a:off x="662940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open LLMs locally</a:t>
            </a:r>
            <a:endParaRPr lang="en-US" sz="1560" dirty="0"/>
          </a:p>
        </p:txBody>
      </p:sp>
      <p:sp>
        <p:nvSpPr>
          <p:cNvPr id="28" name="Text 26"/>
          <p:cNvSpPr/>
          <p:nvPr/>
        </p:nvSpPr>
        <p:spPr>
          <a:xfrm>
            <a:off x="662940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ollama.com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4251960" y="489204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108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96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84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51206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gratitude — all credit to their maintainers &amp; contributors.</a:t>
            </a:r>
            <a:endParaRPr lang="en-US" sz="1680" dirty="0"/>
          </a:p>
        </p:txBody>
      </p:sp>
      <p:sp>
        <p:nvSpPr>
          <p:cNvPr id="34" name="Text 32"/>
          <p:cNvSpPr/>
          <p:nvPr/>
        </p:nvSpPr>
        <p:spPr>
          <a:xfrm>
            <a:off x="0" y="56235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github.com/balajich/spring-ai-with-llama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 — Chat Memory</dc:title>
  <dc:subject>PptxGenJS Presentation</dc:subject>
  <dc:creator>PromptToApps</dc:creator>
  <cp:lastModifiedBy>PromptToApps</cp:lastModifiedBy>
  <cp:revision>1</cp:revision>
  <dcterms:created xsi:type="dcterms:W3CDTF">2026-07-21T02:54:29Z</dcterms:created>
  <dcterms:modified xsi:type="dcterms:W3CDTF">2026-07-21T02:54:29Z</dcterms:modified>
</cp:coreProperties>
</file>