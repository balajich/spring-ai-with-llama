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10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166360" y="91440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914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CHAPTER </a:t>
            </a:r>
            <a:pPr algn="ctr" indent="0" marL="0">
              <a:buNone/>
            </a:pPr>
            <a:r>
              <a:rPr lang="en-US" sz="16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80" dirty="0"/>
          </a:p>
        </p:txBody>
      </p:sp>
      <p:sp>
        <p:nvSpPr>
          <p:cNvPr id="20" name="Text 18"/>
          <p:cNvSpPr/>
          <p:nvPr/>
        </p:nvSpPr>
        <p:spPr>
          <a:xfrm>
            <a:off x="0" y="182880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4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Structured Output</a:t>
            </a:r>
            <a:endParaRPr lang="en-US" sz="5040" dirty="0"/>
          </a:p>
        </p:txBody>
      </p:sp>
      <p:sp>
        <p:nvSpPr>
          <p:cNvPr id="21" name="Text 19"/>
          <p:cNvSpPr/>
          <p:nvPr/>
        </p:nvSpPr>
        <p:spPr>
          <a:xfrm>
            <a:off x="0" y="27432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 parsing text</a:t>
            </a:r>
            <a:pPr algn="ctr" indent="0" marL="0">
              <a:buNone/>
            </a:pPr>
            <a:r>
              <a:rPr lang="en-US" sz="228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ask for JSON</a:t>
            </a:r>
            <a:endParaRPr lang="en-US" sz="2280" dirty="0"/>
          </a:p>
        </p:txBody>
      </p:sp>
      <p:sp>
        <p:nvSpPr>
          <p:cNvPr id="22" name="Shape 20"/>
          <p:cNvSpPr/>
          <p:nvPr/>
        </p:nvSpPr>
        <p:spPr>
          <a:xfrm>
            <a:off x="4251960" y="35204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08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96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8412" y="34792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37033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AI answers in prose. Your code needs data.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 résumé and the model happily writes a paragraph — which your code then has to unpick.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201168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121A2E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201168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40" i="1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"Priya Sharma is a senior engineer with about 8 years of experience,</a:t>
            </a:r>
            <a:endParaRPr lang="en-US" sz="174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40" i="1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in Java and AWS…"</a:t>
            </a:r>
            <a:endParaRPr lang="en-US" sz="1740" dirty="0"/>
          </a:p>
        </p:txBody>
      </p:sp>
      <p:sp>
        <p:nvSpPr>
          <p:cNvPr id="23" name="Text 21"/>
          <p:cNvSpPr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the regex to pull out the years. And the skills. And handle every phrasing the model invents.</a:t>
            </a:r>
            <a:endParaRPr lang="en-US" sz="1740" dirty="0"/>
          </a:p>
        </p:txBody>
      </p:sp>
      <p:sp>
        <p:nvSpPr>
          <p:cNvPr id="24" name="Text 22"/>
          <p:cNvSpPr/>
          <p:nvPr/>
        </p:nvSpPr>
        <p:spPr>
          <a:xfrm>
            <a:off x="0" y="429768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b="1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better way: don't parse the answer — specify its shape up front.</a:t>
            </a:r>
            <a:endParaRPr lang="en-US" sz="20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1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 the shape you want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Java record is the contract. BeanOutputConverter turns it into instructions for the model.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2011680"/>
            <a:ext cx="10515600" cy="2743200"/>
          </a:xfrm>
          <a:prstGeom prst="roundRect">
            <a:avLst>
              <a:gd name="adj" fmla="val 2667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24128" y="21762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225296" y="217627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4" name="Shape 22"/>
          <p:cNvSpPr/>
          <p:nvPr/>
        </p:nvSpPr>
        <p:spPr>
          <a:xfrm>
            <a:off x="1426464" y="217627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5" name="Text 23"/>
          <p:cNvSpPr/>
          <p:nvPr/>
        </p:nvSpPr>
        <p:spPr>
          <a:xfrm>
            <a:off x="93268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ResumeProfile.java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251460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</a:t>
            </a:r>
            <a:pPr indent="0" marL="0">
              <a:buNone/>
            </a:pPr>
            <a:r>
              <a:rPr lang="en-US" sz="156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ResumeProfile</a:t>
            </a:r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560" dirty="0"/>
          </a:p>
        </p:txBody>
      </p:sp>
      <p:sp>
        <p:nvSpPr>
          <p:cNvPr id="27" name="Text 25"/>
          <p:cNvSpPr/>
          <p:nvPr/>
        </p:nvSpPr>
        <p:spPr>
          <a:xfrm>
            <a:off x="1143000" y="284378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name,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1143000" y="3172968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email,</a:t>
            </a:r>
            <a:endParaRPr lang="en-US" sz="1560" dirty="0"/>
          </a:p>
        </p:txBody>
      </p:sp>
      <p:sp>
        <p:nvSpPr>
          <p:cNvPr id="29" name="Text 27"/>
          <p:cNvSpPr/>
          <p:nvPr/>
        </p:nvSpPr>
        <p:spPr>
          <a:xfrm>
            <a:off x="1143000" y="3502152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List&lt;String&gt; skills,</a:t>
            </a:r>
            <a:endParaRPr lang="en-US" sz="1560" dirty="0"/>
          </a:p>
        </p:txBody>
      </p:sp>
      <p:sp>
        <p:nvSpPr>
          <p:cNvPr id="30" name="Text 28"/>
          <p:cNvSpPr/>
          <p:nvPr/>
        </p:nvSpPr>
        <p:spPr>
          <a:xfrm>
            <a:off x="1143000" y="3831336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Integer yearsOfExperience,   </a:t>
            </a:r>
            <a:pPr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boxed — not int</a:t>
            </a:r>
            <a:endParaRPr lang="en-US" sz="1560" dirty="0"/>
          </a:p>
        </p:txBody>
      </p:sp>
      <p:sp>
        <p:nvSpPr>
          <p:cNvPr id="31" name="Text 29"/>
          <p:cNvSpPr/>
          <p:nvPr/>
        </p:nvSpPr>
        <p:spPr>
          <a:xfrm>
            <a:off x="1143000" y="416052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currentRole,</a:t>
            </a:r>
            <a:endParaRPr lang="en-US" sz="1560" dirty="0"/>
          </a:p>
        </p:txBody>
      </p:sp>
      <p:sp>
        <p:nvSpPr>
          <p:cNvPr id="32" name="Text 30"/>
          <p:cNvSpPr/>
          <p:nvPr/>
        </p:nvSpPr>
        <p:spPr>
          <a:xfrm>
            <a:off x="1143000" y="448970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education) {}</a:t>
            </a:r>
            <a:endParaRPr lang="en-US" sz="1560" dirty="0"/>
          </a:p>
        </p:txBody>
      </p:sp>
      <p:sp>
        <p:nvSpPr>
          <p:cNvPr id="33" name="Text 31"/>
          <p:cNvSpPr/>
          <p:nvPr/>
        </p:nvSpPr>
        <p:spPr>
          <a:xfrm>
            <a:off x="0" y="49377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model for THIS — not for a paragraph you'll have to decode.</a:t>
            </a:r>
            <a:endParaRPr lang="en-US" sz="1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 2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 the answer to a typed object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371600"/>
            <a:ext cx="10881360" cy="3291840"/>
          </a:xfrm>
          <a:prstGeom prst="roundRect">
            <a:avLst>
              <a:gd name="adj" fmla="val 2222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5361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53619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53619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ResumeController.java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182880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BeanOutputConverter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ResumeProfile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converter =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960120" y="21396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BeanOutputConverter&lt;&gt;(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ResumeProfile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.class);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960120" y="245059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960120" y="27614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response = chatClient.prompt()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960120" y="307238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.options(</a:t>
            </a:r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ChatOptions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.builder().temperature(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960120" y="338328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.user(u -&gt; u.text(promptWith(</a:t>
            </a:r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converter.getFormat()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)))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960120" y="369417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.call().content();</a:t>
            </a: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960120" y="400507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960120" y="43159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ResumeProfile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profile = converter.convert(response);   </a:t>
            </a:r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typed!</a:t>
            </a:r>
            <a:endParaRPr lang="en-US" sz="1440" dirty="0"/>
          </a:p>
        </p:txBody>
      </p:sp>
      <p:sp>
        <p:nvSpPr>
          <p:cNvPr id="34" name="Shape 32"/>
          <p:cNvSpPr/>
          <p:nvPr/>
        </p:nvSpPr>
        <p:spPr>
          <a:xfrm>
            <a:off x="822960" y="489204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489204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getFormat() injects a JSON schema into the prompt. convert() parses the reply back into the record.</a:t>
            </a:r>
            <a:endParaRPr lang="en-US" sz="1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HARD-WON LESSONS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things that make it reliable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822960" y="1417320"/>
            <a:ext cx="5074920" cy="3977640"/>
          </a:xfrm>
          <a:prstGeom prst="roundRect">
            <a:avLst>
              <a:gd name="adj" fmla="val 3218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43000" y="1645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Integer, not int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233172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AI 2.0 uses Jackson 3. If the model omits a field,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lands on a primitive and it THROWS.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Boxed types accept null — and a résumé might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not state years of experience.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63640" y="1417320"/>
            <a:ext cx="5074920" cy="3977640"/>
          </a:xfrm>
          <a:prstGeom prst="roundRect">
            <a:avLst>
              <a:gd name="adj" fmla="val 3218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164592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every field + temp 0.0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83680" y="233172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 models improvise. Vague prompts made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llama3.2 turn a name INTO a JSON key.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field-by-field guidance plus zero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makes extraction boringly reliable.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text in, typed record out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640080" y="1463040"/>
            <a:ext cx="10881360" cy="3931920"/>
          </a:xfrm>
          <a:prstGeom prst="roundRect">
            <a:avLst>
              <a:gd name="adj" fmla="val 1860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16276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2416" y="1627632"/>
            <a:ext cx="91440" cy="91440"/>
          </a:xfrm>
          <a:prstGeom prst="ellipse">
            <a:avLst/>
          </a:prstGeom>
          <a:solidFill>
            <a:srgbClr val="8B98AC"/>
          </a:solidFill>
          <a:ln/>
        </p:spPr>
      </p:sp>
      <p:sp>
        <p:nvSpPr>
          <p:cNvPr id="23" name="Shape 21"/>
          <p:cNvSpPr/>
          <p:nvPr/>
        </p:nvSpPr>
        <p:spPr>
          <a:xfrm>
            <a:off x="1243584" y="1627632"/>
            <a:ext cx="91440" cy="91440"/>
          </a:xfrm>
          <a:prstGeom prst="ellipse">
            <a:avLst/>
          </a:prstGeom>
          <a:solidFill>
            <a:srgbClr val="5FE0C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19659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localhost:8080/hr/resume/parse \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960120" y="23500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-d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'{"resumeText": "Priya Sharma | priya@... | 5 years Java, AWS"}'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960120" y="273405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40" dirty="0"/>
          </a:p>
        </p:txBody>
      </p:sp>
      <p:sp>
        <p:nvSpPr>
          <p:cNvPr id="28" name="Text 26"/>
          <p:cNvSpPr/>
          <p:nvPr/>
        </p:nvSpPr>
        <p:spPr>
          <a:xfrm>
            <a:off x="960120" y="311810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40" dirty="0"/>
          </a:p>
        </p:txBody>
      </p:sp>
      <p:sp>
        <p:nvSpPr>
          <p:cNvPr id="29" name="Text 27"/>
          <p:cNvSpPr/>
          <p:nvPr/>
        </p:nvSpPr>
        <p:spPr>
          <a:xfrm>
            <a:off x="960120" y="350215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"Priya Sharma",</a:t>
            </a:r>
            <a:endParaRPr lang="en-US" sz="1440" dirty="0"/>
          </a:p>
        </p:txBody>
      </p:sp>
      <p:sp>
        <p:nvSpPr>
          <p:cNvPr id="30" name="Text 28"/>
          <p:cNvSpPr/>
          <p:nvPr/>
        </p:nvSpPr>
        <p:spPr>
          <a:xfrm>
            <a:off x="960120" y="38862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"priya@example.com",</a:t>
            </a:r>
            <a:endParaRPr lang="en-US" sz="1440" dirty="0"/>
          </a:p>
        </p:txBody>
      </p:sp>
      <p:sp>
        <p:nvSpPr>
          <p:cNvPr id="31" name="Text 29"/>
          <p:cNvSpPr/>
          <p:nvPr/>
        </p:nvSpPr>
        <p:spPr>
          <a:xfrm>
            <a:off x="960120" y="427024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"skills":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["Java", "Spring Boot", "AWS"],</a:t>
            </a:r>
            <a:endParaRPr lang="en-US" sz="1440" dirty="0"/>
          </a:p>
        </p:txBody>
      </p:sp>
      <p:sp>
        <p:nvSpPr>
          <p:cNvPr id="32" name="Text 30"/>
          <p:cNvSpPr/>
          <p:nvPr/>
        </p:nvSpPr>
        <p:spPr>
          <a:xfrm>
            <a:off x="960120" y="46542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"yearsOfExperience": </a:t>
            </a:r>
            <a:pPr indent="0" marL="0">
              <a:buNone/>
            </a:pPr>
            <a:r>
              <a:rPr lang="en-US" sz="1440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</a:t>
            </a:r>
            <a:endParaRPr lang="en-US" sz="1440" dirty="0"/>
          </a:p>
        </p:txBody>
      </p:sp>
      <p:sp>
        <p:nvSpPr>
          <p:cNvPr id="33" name="Text 31"/>
          <p:cNvSpPr/>
          <p:nvPr/>
        </p:nvSpPr>
        <p:spPr>
          <a:xfrm>
            <a:off x="960120" y="5038344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40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"currentRole": </a:t>
            </a:r>
            <a:pPr indent="0" marL="0">
              <a:buNone/>
            </a:pPr>
            <a:r>
              <a:rPr lang="en-US" sz="144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"Senior Engineer" }</a:t>
            </a:r>
            <a:endParaRPr lang="en-US" sz="1440" dirty="0"/>
          </a:p>
        </p:txBody>
      </p:sp>
      <p:sp>
        <p:nvSpPr>
          <p:cNvPr id="34" name="Text 32"/>
          <p:cNvSpPr/>
          <p:nvPr/>
        </p:nvSpPr>
        <p:spPr>
          <a:xfrm>
            <a:off x="0" y="57150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object you can store, validate, and route — no parsing code at all.</a:t>
            </a:r>
            <a:endParaRPr lang="en-US" sz="15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PAYOFF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Prose stops at a human. Data feeds your system.</a:t>
            </a:r>
            <a:endParaRPr lang="en-US" sz="3360" dirty="0"/>
          </a:p>
        </p:txBody>
      </p:sp>
      <p:sp>
        <p:nvSpPr>
          <p:cNvPr id="20" name="Shape 18"/>
          <p:cNvSpPr/>
          <p:nvPr/>
        </p:nvSpPr>
        <p:spPr>
          <a:xfrm>
            <a:off x="822960" y="146304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1508760"/>
            <a:ext cx="73152" cy="7315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1463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it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8328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record straight to a database — columns already typed.</a:t>
            </a:r>
            <a:endParaRPr lang="en-US" sz="1560" dirty="0"/>
          </a:p>
        </p:txBody>
      </p:sp>
      <p:sp>
        <p:nvSpPr>
          <p:cNvPr id="24" name="Shape 22"/>
          <p:cNvSpPr/>
          <p:nvPr/>
        </p:nvSpPr>
        <p:spPr>
          <a:xfrm>
            <a:off x="822960" y="242316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468880"/>
            <a:ext cx="73152" cy="731520"/>
          </a:xfrm>
          <a:prstGeom prst="rect">
            <a:avLst/>
          </a:prstGeom>
          <a:solidFill>
            <a:srgbClr val="5FE0C5"/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24231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 it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83280" y="24231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yearsOfExperience is an Integer; the compiler enforces the shape.</a:t>
            </a:r>
            <a:endParaRPr lang="en-US" sz="1560" dirty="0"/>
          </a:p>
        </p:txBody>
      </p:sp>
      <p:sp>
        <p:nvSpPr>
          <p:cNvPr id="28" name="Shape 26"/>
          <p:cNvSpPr/>
          <p:nvPr/>
        </p:nvSpPr>
        <p:spPr>
          <a:xfrm>
            <a:off x="822960" y="338328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3429000"/>
            <a:ext cx="73152" cy="731520"/>
          </a:xfrm>
          <a:prstGeom prst="rect">
            <a:avLst/>
          </a:prstGeom>
          <a:solidFill>
            <a:srgbClr val="8B98AC"/>
          </a:solidFill>
          <a:ln/>
        </p:spPr>
      </p:sp>
      <p:sp>
        <p:nvSpPr>
          <p:cNvPr id="30" name="Text 28"/>
          <p:cNvSpPr/>
          <p:nvPr/>
        </p:nvSpPr>
        <p:spPr>
          <a:xfrm>
            <a:off x="109728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 it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383280" y="3383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(profile.yearsOfExperience() &gt; 8) → senior pipeline.</a:t>
            </a:r>
            <a:endParaRPr lang="en-US" sz="1560" dirty="0"/>
          </a:p>
        </p:txBody>
      </p:sp>
      <p:sp>
        <p:nvSpPr>
          <p:cNvPr id="32" name="Shape 30"/>
          <p:cNvSpPr/>
          <p:nvPr/>
        </p:nvSpPr>
        <p:spPr>
          <a:xfrm>
            <a:off x="822960" y="4343400"/>
            <a:ext cx="10515600" cy="822960"/>
          </a:xfrm>
          <a:prstGeom prst="roundRect">
            <a:avLst>
              <a:gd name="adj" fmla="val 11111"/>
            </a:avLst>
          </a:prstGeom>
          <a:solidFill>
            <a:srgbClr val="121A2E"/>
          </a:solidFill>
          <a:ln w="9525">
            <a:solidFill>
              <a:srgbClr val="5B647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4389120"/>
            <a:ext cx="73152" cy="7315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4" name="Text 32"/>
          <p:cNvSpPr/>
          <p:nvPr/>
        </p:nvSpPr>
        <p:spPr>
          <a:xfrm>
            <a:off x="1097280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 it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383280" y="434340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reappears in Ch 12 (vision) and Ch 14 (documents).</a:t>
            </a:r>
            <a:endParaRPr lang="en-US" sz="15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can do now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output as a Java record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BeanOutputConverter — getFormat() + convert()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your numeric/boolean fields to survive Jackson 3</a:t>
            </a:r>
            <a:endParaRPr lang="en-US" sz="204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every field and set temperature(0.0) for reliable extraction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640080" y="356616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121A2E"/>
          </a:solidFill>
          <a:ln w="15875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WHAT'S NEXT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80" b="1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Chat Memory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bot forgets everything between messages. We give it multi-turn</a:t>
            </a:r>
            <a:endParaRPr lang="en-US" sz="228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so a conversation actually feels like one.</a:t>
            </a:r>
            <a:endParaRPr lang="en-US" sz="2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ENJOYING THIS?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 &amp; Subscribe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4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helped, a like and a subscribe genuinely help the series reach more developers.</a:t>
            </a:r>
            <a:endParaRPr lang="en-US" sz="2040" dirty="0"/>
          </a:p>
        </p:txBody>
      </p:sp>
      <p:sp>
        <p:nvSpPr>
          <p:cNvPr id="21" name="Shape 19"/>
          <p:cNvSpPr/>
          <p:nvPr/>
        </p:nvSpPr>
        <p:spPr>
          <a:xfrm>
            <a:off x="8229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👍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8229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endParaRPr lang="en-US" sz="2280" dirty="0"/>
          </a:p>
        </p:txBody>
      </p:sp>
      <p:sp>
        <p:nvSpPr>
          <p:cNvPr id="24" name="Text 22"/>
          <p:cNvSpPr/>
          <p:nvPr/>
        </p:nvSpPr>
        <p:spPr>
          <a:xfrm>
            <a:off x="10515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like if this made Spring AI click.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44805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805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5FE0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44805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</a:t>
            </a:r>
            <a:endParaRPr lang="en-US" sz="2280" dirty="0"/>
          </a:p>
        </p:txBody>
      </p:sp>
      <p:sp>
        <p:nvSpPr>
          <p:cNvPr id="28" name="Text 26"/>
          <p:cNvSpPr/>
          <p:nvPr/>
        </p:nvSpPr>
        <p:spPr>
          <a:xfrm>
            <a:off x="47091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+ bell for every new chapter.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8138160" y="22860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121A2E"/>
          </a:solidFill>
          <a:ln w="19050">
            <a:solidFill>
              <a:srgbClr val="8B98A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38160" y="25420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8B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8138160" y="33101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</a:t>
            </a:r>
            <a:endParaRPr lang="en-US" sz="2280" dirty="0"/>
          </a:p>
        </p:txBody>
      </p:sp>
      <p:sp>
        <p:nvSpPr>
          <p:cNvPr id="32" name="Text 30"/>
          <p:cNvSpPr/>
          <p:nvPr/>
        </p:nvSpPr>
        <p:spPr>
          <a:xfrm>
            <a:off x="8366760" y="37673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4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— I read and reply.</a:t>
            </a:r>
            <a:endParaRPr lang="en-US" sz="1440" dirty="0"/>
          </a:p>
        </p:txBody>
      </p:sp>
      <p:sp>
        <p:nvSpPr>
          <p:cNvPr id="33" name="Shape 31"/>
          <p:cNvSpPr/>
          <p:nvPr/>
        </p:nvSpPr>
        <p:spPr>
          <a:xfrm>
            <a:off x="4251960" y="502920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108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396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8412" y="498805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525780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6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chapter every week  ·  Spring AI with Llama  ·  PromptToApps</a:t>
            </a:r>
            <a:endParaRPr lang="en-US" sz="15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31520" cy="45720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822960" y="1280160"/>
            <a:ext cx="914400" cy="2743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768" y="3383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" y="7955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270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709928" y="125272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flipV="1">
            <a:off x="10789920" y="5486400"/>
            <a:ext cx="731520" cy="54864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155680" y="4754880"/>
            <a:ext cx="365760" cy="73152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0" y="4754880"/>
            <a:ext cx="731520" cy="365760"/>
          </a:xfrm>
          <a:prstGeom prst="line">
            <a:avLst/>
          </a:prstGeom>
          <a:noFill/>
          <a:ln w="9525">
            <a:solidFill>
              <a:srgbClr val="5B6478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62488" y="60076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494008" y="545896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128248" y="472744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859768" y="5093208"/>
            <a:ext cx="54864" cy="54864"/>
          </a:xfrm>
          <a:prstGeom prst="ellipse">
            <a:avLst/>
          </a:prstGeom>
          <a:solidFill>
            <a:srgbClr val="8B98AC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PromptToApps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1247120" y="6355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8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10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64008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spc="200" kern="0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CREDITS &amp; THANKS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6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isn't my merit</a:t>
            </a:r>
            <a:endParaRPr lang="en-US" sz="3360" dirty="0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20" dirty="0">
                <a:solidFill>
                  <a:srgbClr val="B8C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series is built on the work of open-source projects and their communities. I only learned from them and shared what I built.</a:t>
            </a:r>
            <a:endParaRPr lang="en-US" sz="1920" dirty="0"/>
          </a:p>
        </p:txBody>
      </p:sp>
      <p:sp>
        <p:nvSpPr>
          <p:cNvPr id="21" name="Shape 19"/>
          <p:cNvSpPr/>
          <p:nvPr/>
        </p:nvSpPr>
        <p:spPr>
          <a:xfrm>
            <a:off x="8229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5FE0C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1430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5FE0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AI</a:t>
            </a:r>
            <a:endParaRPr lang="en-US" sz="2640" dirty="0"/>
          </a:p>
        </p:txBody>
      </p:sp>
      <p:sp>
        <p:nvSpPr>
          <p:cNvPr id="23" name="Text 21"/>
          <p:cNvSpPr/>
          <p:nvPr/>
        </p:nvSpPr>
        <p:spPr>
          <a:xfrm>
            <a:off x="11430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integration layer for Spring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11430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spring.io/projects/spring-ai</a:t>
            </a:r>
            <a:endParaRPr lang="en-US" sz="1440" dirty="0"/>
          </a:p>
        </p:txBody>
      </p:sp>
      <p:sp>
        <p:nvSpPr>
          <p:cNvPr id="25" name="Shape 23"/>
          <p:cNvSpPr/>
          <p:nvPr/>
        </p:nvSpPr>
        <p:spPr>
          <a:xfrm>
            <a:off x="6309360" y="2423160"/>
            <a:ext cx="5029200" cy="2011680"/>
          </a:xfrm>
          <a:prstGeom prst="roundRect">
            <a:avLst>
              <a:gd name="adj" fmla="val 5455"/>
            </a:avLst>
          </a:prstGeom>
          <a:solidFill>
            <a:srgbClr val="121A2E"/>
          </a:solidFill>
          <a:ln w="1905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629400" y="2697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40" b="1" dirty="0">
                <a:solidFill>
                  <a:srgbClr val="F2A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</a:t>
            </a:r>
            <a:endParaRPr lang="en-US" sz="2640" dirty="0"/>
          </a:p>
        </p:txBody>
      </p:sp>
      <p:sp>
        <p:nvSpPr>
          <p:cNvPr id="27" name="Text 25"/>
          <p:cNvSpPr/>
          <p:nvPr/>
        </p:nvSpPr>
        <p:spPr>
          <a:xfrm>
            <a:off x="6629400" y="33375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open LLMs locally</a:t>
            </a:r>
            <a:endParaRPr lang="en-US" sz="1560" dirty="0"/>
          </a:p>
        </p:txBody>
      </p:sp>
      <p:sp>
        <p:nvSpPr>
          <p:cNvPr id="28" name="Text 26"/>
          <p:cNvSpPr/>
          <p:nvPr/>
        </p:nvSpPr>
        <p:spPr>
          <a:xfrm>
            <a:off x="6629400" y="3840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ollama.com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4251960" y="4892040"/>
            <a:ext cx="3657600" cy="0"/>
          </a:xfrm>
          <a:prstGeom prst="line">
            <a:avLst/>
          </a:prstGeom>
          <a:noFill/>
          <a:ln w="12700">
            <a:solidFill>
              <a:srgbClr val="5B6478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08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396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8B98A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8412" y="4850892"/>
            <a:ext cx="82296" cy="82296"/>
          </a:xfrm>
          <a:prstGeom prst="ellipse">
            <a:avLst/>
          </a:prstGeom>
          <a:solidFill>
            <a:srgbClr val="0A0F1C"/>
          </a:solidFill>
          <a:ln w="19050">
            <a:solidFill>
              <a:srgbClr val="5FE0C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51206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E5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gratitude — all credit to their maintainers &amp; contributors.</a:t>
            </a:r>
            <a:endParaRPr lang="en-US" sz="1680" dirty="0"/>
          </a:p>
        </p:txBody>
      </p:sp>
      <p:sp>
        <p:nvSpPr>
          <p:cNvPr id="34" name="Text 32"/>
          <p:cNvSpPr/>
          <p:nvPr/>
        </p:nvSpPr>
        <p:spPr>
          <a:xfrm>
            <a:off x="0" y="56235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dirty="0">
                <a:solidFill>
                  <a:srgbClr val="8B98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github.com/balajich/spring-ai-with-llama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 — Structured Output</dc:title>
  <dc:subject>PptxGenJS Presentation</dc:subject>
  <dc:creator>PromptToApps</dc:creator>
  <cp:lastModifiedBy>PromptToApps</cp:lastModifiedBy>
  <cp:revision>1</cp:revision>
  <dcterms:created xsi:type="dcterms:W3CDTF">2026-07-21T02:54:28Z</dcterms:created>
  <dcterms:modified xsi:type="dcterms:W3CDTF">2026-07-21T02:54:28Z</dcterms:modified>
</cp:coreProperties>
</file>