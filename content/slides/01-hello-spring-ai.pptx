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11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Spring AI!</a:t>
            </a:r>
            <a:endParaRPr lang="en-US" sz="552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</a:t>
            </a:r>
            <a:pPr algn="ctr" indent="0" marL="0">
              <a:buNone/>
            </a:pPr>
            <a:r>
              <a:rPr lang="en-US" sz="240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Ollama Setup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Sarah's inbox is full of the same question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6492240" cy="3931920"/>
          </a:xfrm>
          <a:prstGeom prst="roundRect">
            <a:avLst>
              <a:gd name="adj" fmla="val 279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✉  inbox — HR@TechCorp</a:t>
            </a:r>
            <a:endParaRPr lang="en-US" sz="1560" dirty="0"/>
          </a:p>
        </p:txBody>
      </p:sp>
      <p:sp>
        <p:nvSpPr>
          <p:cNvPr id="22" name="Shape 20"/>
          <p:cNvSpPr/>
          <p:nvPr/>
        </p:nvSpPr>
        <p:spPr>
          <a:xfrm>
            <a:off x="914400" y="228600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286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our parental leave policy?"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914400" y="306324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3063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vacation days do I have left?"</a:t>
            </a:r>
            <a:endParaRPr lang="en-US" sz="1620" dirty="0"/>
          </a:p>
        </p:txBody>
      </p:sp>
      <p:sp>
        <p:nvSpPr>
          <p:cNvPr id="26" name="Shape 24"/>
          <p:cNvSpPr/>
          <p:nvPr/>
        </p:nvSpPr>
        <p:spPr>
          <a:xfrm>
            <a:off x="914400" y="384048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8404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dress code for client visits?"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914400" y="4617720"/>
            <a:ext cx="5943600" cy="594360"/>
          </a:xfrm>
          <a:prstGeom prst="roundRect">
            <a:avLst>
              <a:gd name="adj" fmla="val 12308"/>
            </a:avLst>
          </a:prstGeom>
          <a:solidFill>
            <a:srgbClr val="172238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46177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i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expense a client dinner?"</a:t>
            </a:r>
            <a:endParaRPr lang="en-US" sz="1620" dirty="0"/>
          </a:p>
        </p:txBody>
      </p:sp>
      <p:sp>
        <p:nvSpPr>
          <p:cNvPr id="30" name="Text 28"/>
          <p:cNvSpPr/>
          <p:nvPr/>
        </p:nvSpPr>
        <p:spPr>
          <a:xfrm>
            <a:off x="7406640" y="178308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2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</a:t>
            </a:r>
            <a:endParaRPr lang="en-US" sz="19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4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Manager, TechCorp</a:t>
            </a:r>
            <a:endParaRPr lang="en-US" sz="19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2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questions, every day. She needs a first</a:t>
            </a:r>
            <a:endParaRPr lang="en-US" sz="19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defense that answers instantly —</a:t>
            </a:r>
            <a:endParaRPr lang="en-US" sz="19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her typing the same reply twice.</a:t>
            </a:r>
            <a:endParaRPr lang="en-US" sz="1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STACK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Spring AI?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call the model's HTTP API by hand. Spring AI gives you a lot more for free.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640080" y="20116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22128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Provider-agnostic</a:t>
            </a:r>
            <a:endParaRPr lang="en-US" sz="2040" dirty="0"/>
          </a:p>
        </p:txBody>
      </p:sp>
      <p:sp>
        <p:nvSpPr>
          <p:cNvPr id="23" name="Text 21"/>
          <p:cNvSpPr/>
          <p:nvPr/>
        </p:nvSpPr>
        <p:spPr>
          <a:xfrm>
            <a:off x="914400" y="26700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ChatClient API — swap Ollama, OpenAI, Anthropic</a:t>
            </a:r>
            <a:endParaRPr lang="en-US" sz="15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config change, not a rewrite.</a:t>
            </a:r>
            <a:endParaRPr lang="en-US" sz="1560" dirty="0"/>
          </a:p>
        </p:txBody>
      </p:sp>
      <p:sp>
        <p:nvSpPr>
          <p:cNvPr id="24" name="Shape 22"/>
          <p:cNvSpPr/>
          <p:nvPr/>
        </p:nvSpPr>
        <p:spPr>
          <a:xfrm>
            <a:off x="6263640" y="20116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22128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Spring-native</a:t>
            </a:r>
            <a:endParaRPr lang="en-US" sz="2040" dirty="0"/>
          </a:p>
        </p:txBody>
      </p:sp>
      <p:sp>
        <p:nvSpPr>
          <p:cNvPr id="26" name="Text 24"/>
          <p:cNvSpPr/>
          <p:nvPr/>
        </p:nvSpPr>
        <p:spPr>
          <a:xfrm>
            <a:off x="6537960" y="26700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Auto-configuration, dependency injection, and</a:t>
            </a:r>
            <a:endParaRPr lang="en-US" sz="15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WebMVC just like the rest of your app.</a:t>
            </a:r>
            <a:endParaRPr lang="en-US" sz="1560" dirty="0"/>
          </a:p>
        </p:txBody>
      </p:sp>
      <p:sp>
        <p:nvSpPr>
          <p:cNvPr id="27" name="Shape 25"/>
          <p:cNvSpPr/>
          <p:nvPr/>
        </p:nvSpPr>
        <p:spPr>
          <a:xfrm>
            <a:off x="640080" y="40690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2702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Batteries included</a:t>
            </a:r>
            <a:endParaRPr lang="en-US" sz="204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templates, structured output, chat memory,</a:t>
            </a:r>
            <a:endParaRPr lang="en-US" sz="15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and tool calling — built in.</a:t>
            </a:r>
            <a:endParaRPr lang="en-US" sz="1560" dirty="0"/>
          </a:p>
        </p:txBody>
      </p:sp>
      <p:sp>
        <p:nvSpPr>
          <p:cNvPr id="30" name="Shape 28"/>
          <p:cNvSpPr/>
          <p:nvPr/>
        </p:nvSpPr>
        <p:spPr>
          <a:xfrm>
            <a:off x="6263640" y="40690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37960" y="427024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 &amp; local</a:t>
            </a:r>
            <a:endParaRPr lang="en-US" sz="2040" dirty="0"/>
          </a:p>
        </p:txBody>
      </p:sp>
      <p:sp>
        <p:nvSpPr>
          <p:cNvPr id="32" name="Text 30"/>
          <p:cNvSpPr/>
          <p:nvPr/>
        </p:nvSpPr>
        <p:spPr>
          <a:xfrm>
            <a:off x="6537960" y="472744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against a local Llama or a cloud</a:t>
            </a:r>
            <a:endParaRPr lang="en-US" sz="156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no vendor lock-in, no API keys to start.</a:t>
            </a:r>
            <a:endParaRPr lang="en-US" sz="1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CONCEPT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 — one API for any model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630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16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</a:t>
            </a:r>
            <a:pPr indent="0" marL="0">
              <a:lnSpc>
                <a:spcPct val="130000"/>
              </a:lnSpc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Spring AI's single fluent API for talking to an LLM — build it once with </a:t>
            </a:r>
            <a:pPr indent="0" marL="0">
              <a:lnSpc>
                <a:spcPct val="130000"/>
              </a:lnSpc>
              <a:buNone/>
            </a:pPr>
            <a:r>
              <a:rPr lang="en-US" sz="21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.prompt().user(...).call()</a:t>
            </a:r>
            <a:pPr indent="0" marL="0">
              <a:lnSpc>
                <a:spcPct val="130000"/>
              </a:lnSpc>
              <a:buNone/>
            </a:pPr>
            <a:r>
              <a:rPr lang="en-US" sz="21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model behind it can change without touching your code.</a:t>
            </a:r>
            <a:endParaRPr lang="en-US" sz="2160" dirty="0"/>
          </a:p>
        </p:txBody>
      </p:sp>
      <p:sp>
        <p:nvSpPr>
          <p:cNvPr id="21" name="Shape 19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0A0F1C"/>
          </a:solidFill>
          <a:ln w="22225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143000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2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pattern</a:t>
            </a:r>
            <a:endParaRPr lang="en-US" sz="1920" dirty="0"/>
          </a:p>
          <a:p>
            <a:pPr indent="0" marL="0"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ChatClient.builder(chatModel).build() — configure once, reuse everywhere</a:t>
            </a:r>
            <a:endParaRPr lang="en-US" sz="192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0A0F1C"/>
          </a:solidFill>
          <a:ln w="22225">
            <a:solidFill>
              <a:srgbClr val="8B98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60" dirty="0"/>
          </a:p>
        </p:txBody>
      </p:sp>
      <p:sp>
        <p:nvSpPr>
          <p:cNvPr id="26" name="Text 24"/>
          <p:cNvSpPr/>
          <p:nvPr/>
        </p:nvSpPr>
        <p:spPr>
          <a:xfrm>
            <a:off x="114300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2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</a:t>
            </a:r>
            <a:endParaRPr lang="en-US" sz="1920" dirty="0"/>
          </a:p>
          <a:p>
            <a:pPr indent="0" marL="0"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it's Ollama + llama3.2. Swap to another provider, same calling code</a:t>
            </a:r>
            <a:endParaRPr lang="en-US" sz="192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320040" cy="320040"/>
          </a:xfrm>
          <a:prstGeom prst="ellipse">
            <a:avLst/>
          </a:prstGeom>
          <a:solidFill>
            <a:srgbClr val="0A0F1C"/>
          </a:solidFill>
          <a:ln w="22225">
            <a:solidFill>
              <a:srgbClr val="5FE0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1143000" y="4800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2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calls</a:t>
            </a:r>
            <a:endParaRPr lang="en-US" sz="1920" dirty="0"/>
          </a:p>
          <a:p>
            <a:pPr indent="0" marL="0"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prompt().user(question).call().content() reads like plain English</a:t>
            </a:r>
            <a:endParaRPr lang="en-US" sz="1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question becomes an answer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2468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/ Browser</a:t>
            </a:r>
            <a:endParaRPr lang="en-US" sz="1920" dirty="0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/hr/ask</a:t>
            </a:r>
            <a:endParaRPr lang="en-US" sz="1560" dirty="0"/>
          </a:p>
        </p:txBody>
      </p:sp>
      <p:sp>
        <p:nvSpPr>
          <p:cNvPr id="23" name="Shape 21"/>
          <p:cNvSpPr/>
          <p:nvPr/>
        </p:nvSpPr>
        <p:spPr>
          <a:xfrm>
            <a:off x="3977640" y="24688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6052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App</a:t>
            </a:r>
            <a:endParaRPr lang="en-US" sz="1920" dirty="0"/>
          </a:p>
        </p:txBody>
      </p:sp>
      <p:sp>
        <p:nvSpPr>
          <p:cNvPr id="25" name="Text 23"/>
          <p:cNvSpPr/>
          <p:nvPr/>
        </p:nvSpPr>
        <p:spPr>
          <a:xfrm>
            <a:off x="41605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</a:t>
            </a:r>
            <a:endParaRPr lang="en-US" sz="1560" dirty="0"/>
          </a:p>
        </p:txBody>
      </p:sp>
      <p:sp>
        <p:nvSpPr>
          <p:cNvPr id="26" name="Shape 24"/>
          <p:cNvSpPr/>
          <p:nvPr/>
        </p:nvSpPr>
        <p:spPr>
          <a:xfrm>
            <a:off x="7726680" y="24688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095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1920" dirty="0"/>
          </a:p>
        </p:txBody>
      </p:sp>
      <p:sp>
        <p:nvSpPr>
          <p:cNvPr id="28" name="Text 26"/>
          <p:cNvSpPr/>
          <p:nvPr/>
        </p:nvSpPr>
        <p:spPr>
          <a:xfrm>
            <a:off x="79095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llama3.2 model</a:t>
            </a:r>
            <a:endParaRPr lang="en-US" sz="1560" dirty="0"/>
          </a:p>
        </p:txBody>
      </p:sp>
      <p:sp>
        <p:nvSpPr>
          <p:cNvPr id="29" name="Shape 27"/>
          <p:cNvSpPr/>
          <p:nvPr/>
        </p:nvSpPr>
        <p:spPr>
          <a:xfrm>
            <a:off x="3017520" y="2880360"/>
            <a:ext cx="960120" cy="0"/>
          </a:xfrm>
          <a:prstGeom prst="line">
            <a:avLst/>
          </a:prstGeom>
          <a:noFill/>
          <a:ln w="25400">
            <a:solidFill>
              <a:srgbClr val="8B98AC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7889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3017520" y="3429000"/>
            <a:ext cx="96012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headEnd type="triangle"/>
          </a:ln>
        </p:spPr>
      </p:sp>
      <p:sp>
        <p:nvSpPr>
          <p:cNvPr id="32" name="Text 30"/>
          <p:cNvSpPr/>
          <p:nvPr/>
        </p:nvSpPr>
        <p:spPr>
          <a:xfrm>
            <a:off x="27889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6720840" y="2880360"/>
            <a:ext cx="100584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49224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1260" dirty="0"/>
          </a:p>
        </p:txBody>
      </p:sp>
      <p:sp>
        <p:nvSpPr>
          <p:cNvPr id="35" name="Shape 33"/>
          <p:cNvSpPr/>
          <p:nvPr/>
        </p:nvSpPr>
        <p:spPr>
          <a:xfrm>
            <a:off x="6720840" y="3429000"/>
            <a:ext cx="1005840" cy="0"/>
          </a:xfrm>
          <a:prstGeom prst="line">
            <a:avLst/>
          </a:prstGeom>
          <a:noFill/>
          <a:ln w="25400">
            <a:solidFill>
              <a:srgbClr val="5FE0C5"/>
            </a:solidFill>
            <a:prstDash val="solid"/>
            <a:headEnd type="triangle"/>
          </a:ln>
        </p:spPr>
      </p:sp>
      <p:sp>
        <p:nvSpPr>
          <p:cNvPr id="36" name="Text 34"/>
          <p:cNvSpPr/>
          <p:nvPr/>
        </p:nvSpPr>
        <p:spPr>
          <a:xfrm>
            <a:off x="649224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397764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77266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localhost:11434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SNIPPET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Controller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234440"/>
            <a:ext cx="10881360" cy="5029200"/>
          </a:xfrm>
          <a:prstGeom prst="roundRect">
            <a:avLst>
              <a:gd name="adj" fmla="val 145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399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39903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39903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691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1965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("/hr")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2402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HrController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514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chatClient;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2788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HrController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(ChatClient.Builder builder) {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30632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this.chatClient = builder.build();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33375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3611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@PostMapping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("/ask")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3886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HrResponse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ask(@RequestBody HrRequest request) {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012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answer = chatClient.prompt()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60120" y="4434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.user(request.question())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" y="4709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.call()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0120" y="4983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.content();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6012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 </a:t>
            </a:r>
            <a:pPr indent="0" marL="0">
              <a:buNone/>
            </a:pPr>
            <a:r>
              <a:rPr lang="en-US" sz="15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HrResponse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(request.question(), answer);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60120" y="55321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58064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SNIPPET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Pointing Spring AI at Ollama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1737360" y="1645920"/>
            <a:ext cx="8686800" cy="4023360"/>
          </a:xfrm>
          <a:prstGeom prst="roundRect">
            <a:avLst>
              <a:gd name="adj" fmla="val 1818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38528" y="18105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39696" y="181051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2340864" y="181051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application.yml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2148840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57400" y="2523744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ai: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057400" y="2898648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ollama: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57400" y="3273552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base-url: </a:t>
            </a:r>
            <a:pPr indent="0" marL="0">
              <a:buNone/>
            </a:pPr>
            <a:r>
              <a:rPr lang="en-US" sz="18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http://localhost:11434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057400" y="3648456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chat: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057400" y="4023360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options: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057400" y="4398264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model: </a:t>
            </a:r>
            <a:pPr indent="0" marL="0">
              <a:buNone/>
            </a:pPr>
            <a:r>
              <a:rPr lang="en-US" sz="18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llama3.2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057400" y="4773168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057400" y="5148072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057400" y="5522976"/>
            <a:ext cx="8138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port: </a:t>
            </a:r>
            <a:pPr indent="0" marL="0">
              <a:buNone/>
            </a:pPr>
            <a:r>
              <a:rPr lang="en-US" sz="180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base-url</a:t>
            </a:r>
            <a:pPr algn="ctr" indent="0" marL="0"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ctr"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ctr" indent="0" marL="0">
              <a:buNone/>
            </a:pPr>
            <a:r>
              <a:rPr lang="en-US" sz="16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the only two settings you need to get talking to Llama.</a:t>
            </a:r>
            <a:endParaRPr lang="en-US" sz="1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the bot a real question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10881360" cy="3840480"/>
          </a:xfrm>
          <a:prstGeom prst="roundRect">
            <a:avLst>
              <a:gd name="adj" fmla="val 1905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7190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71907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71907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-X POST http://localhost:8080/hr/ask \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96012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</a:t>
            </a:r>
            <a:pPr indent="0" marL="0">
              <a:buNone/>
            </a:pPr>
            <a:r>
              <a:rPr lang="en-US" sz="168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"Content-Type: application/json"</a:t>
            </a:r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960120" y="2971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</a:t>
            </a:r>
            <a:pPr indent="0" marL="0">
              <a:buNone/>
            </a:pPr>
            <a:r>
              <a:rPr lang="en-US" sz="168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'{"question": "What is the parental leave policy?"}'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96012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29" name="Text 27"/>
          <p:cNvSpPr/>
          <p:nvPr/>
        </p:nvSpPr>
        <p:spPr>
          <a:xfrm>
            <a:off x="960120" y="3886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960120" y="4343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"question"</a:t>
            </a:r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68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the parental leave policy?"</a:t>
            </a:r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96012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</a:t>
            </a:r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68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"Primary caregivers receive 16 weeks fully paid..."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96012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80" dirty="0"/>
          </a:p>
        </p:txBody>
      </p:sp>
      <p:sp>
        <p:nvSpPr>
          <p:cNvPr id="33" name="Text 31"/>
          <p:cNvSpPr/>
          <p:nvPr/>
        </p:nvSpPr>
        <p:spPr>
          <a:xfrm>
            <a:off x="0" y="5715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i="1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request. A real answer. No OpenAI account required.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AI Q&amp;A endpoint — /hr/ask</a:t>
            </a:r>
            <a:endParaRPr lang="en-US" sz="204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Spring AI's ChatClient + Ollama's llama3.2</a:t>
            </a:r>
            <a:endParaRPr lang="en-US" sz="204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your laptop — zero cost, zero API key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47472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397764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Core Concepts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Messages, and ChatOptions — what actually travels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your app and the model on every call.</a:t>
            </a:r>
            <a:endParaRPr lang="en-US" sz="2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ENJOYING THIS?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&amp; Subscribe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helped, a like and a subscribe genuinely help the series reach more developers.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228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like if this made Spring AI click.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805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2280" dirty="0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+ bell for every new chapter.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1381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1381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2280" dirty="0"/>
          </a:p>
        </p:txBody>
      </p:sp>
      <p:sp>
        <p:nvSpPr>
          <p:cNvPr id="32" name="Text 30"/>
          <p:cNvSpPr/>
          <p:nvPr/>
        </p:nvSpPr>
        <p:spPr>
          <a:xfrm>
            <a:off x="83667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I read and reply.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251960" y="502920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08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96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84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chapter every week  ·  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— Hello, Spring AI!</dc:title>
  <dc:subject>PptxGenJS Presentation</dc:subject>
  <dc:creator>PromptToApps</dc:creator>
  <cp:lastModifiedBy>PromptToApps</cp:lastModifiedBy>
  <cp:revision>1</cp:revision>
  <dcterms:created xsi:type="dcterms:W3CDTF">2026-07-21T03:29:19Z</dcterms:created>
  <dcterms:modified xsi:type="dcterms:W3CDTF">2026-07-21T03:29:19Z</dcterms:modified>
</cp:coreProperties>
</file>