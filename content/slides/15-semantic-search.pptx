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10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166360" y="91440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914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</a:t>
            </a:r>
            <a:pPr algn="ctr" indent="0" marL="0">
              <a:buNone/>
            </a:pPr>
            <a:r>
              <a:rPr lang="en-US" sz="16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680" dirty="0"/>
          </a:p>
        </p:txBody>
      </p:sp>
      <p:sp>
        <p:nvSpPr>
          <p:cNvPr id="20" name="Text 18"/>
          <p:cNvSpPr/>
          <p:nvPr/>
        </p:nvSpPr>
        <p:spPr>
          <a:xfrm>
            <a:off x="0" y="18288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2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 Search</a:t>
            </a:r>
            <a:endParaRPr lang="en-US" sz="5520" dirty="0"/>
          </a:p>
        </p:txBody>
      </p:sp>
      <p:sp>
        <p:nvSpPr>
          <p:cNvPr id="21" name="Text 19"/>
          <p:cNvSpPr/>
          <p:nvPr/>
        </p:nvSpPr>
        <p:spPr>
          <a:xfrm>
            <a:off x="0" y="27432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Embeddings</a:t>
            </a:r>
            <a:pPr algn="ctr" indent="0" marL="0">
              <a:buNone/>
            </a:pPr>
            <a:r>
              <a:rPr lang="en-US" sz="20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20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Similarity</a:t>
            </a:r>
            <a:pPr algn="ctr" indent="0" marL="0">
              <a:buNone/>
            </a:pPr>
            <a:r>
              <a:rPr lang="en-US" sz="20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20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 Filters</a:t>
            </a:r>
            <a:endParaRPr lang="en-US" sz="2040" dirty="0"/>
          </a:p>
        </p:txBody>
      </p:sp>
      <p:sp>
        <p:nvSpPr>
          <p:cNvPr id="22" name="Shape 20"/>
          <p:cNvSpPr/>
          <p:nvPr/>
        </p:nvSpPr>
        <p:spPr>
          <a:xfrm>
            <a:off x="4251960" y="352044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108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96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84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37033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AI with Llama  ·  PromptToApps</a:t>
            </a:r>
            <a:endParaRPr lang="en-US" sz="15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results. Four people matched.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 searches the candidate database:</a:t>
            </a:r>
            <a:endParaRPr lang="en-US" sz="1920" dirty="0"/>
          </a:p>
        </p:txBody>
      </p:sp>
      <p:sp>
        <p:nvSpPr>
          <p:cNvPr id="21" name="Shape 19"/>
          <p:cNvSpPr/>
          <p:nvPr/>
        </p:nvSpPr>
        <p:spPr>
          <a:xfrm>
            <a:off x="822960" y="1828800"/>
            <a:ext cx="10515600" cy="777240"/>
          </a:xfrm>
          <a:prstGeom prst="roundRect">
            <a:avLst>
              <a:gd name="adj" fmla="val 14118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1828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i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"backend developer with cloud experience"</a:t>
            </a:r>
            <a:endParaRPr lang="en-US" sz="2280" dirty="0"/>
          </a:p>
        </p:txBody>
      </p:sp>
      <p:sp>
        <p:nvSpPr>
          <p:cNvPr id="23" name="Text 21"/>
          <p:cNvSpPr/>
          <p:nvPr/>
        </p:nvSpPr>
        <p:spPr>
          <a:xfrm>
            <a:off x="0" y="27432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0 results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0080" y="3383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these four are all perfect fits. They just used different words:</a:t>
            </a:r>
            <a:endParaRPr lang="en-US" sz="1740" dirty="0"/>
          </a:p>
        </p:txBody>
      </p:sp>
      <p:sp>
        <p:nvSpPr>
          <p:cNvPr id="25" name="Text 23"/>
          <p:cNvSpPr/>
          <p:nvPr/>
        </p:nvSpPr>
        <p:spPr>
          <a:xfrm>
            <a:off x="1005840" y="3886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</a:t>
            </a:r>
            <a:endParaRPr lang="en-US" sz="1680" dirty="0"/>
          </a:p>
        </p:txBody>
      </p:sp>
      <p:sp>
        <p:nvSpPr>
          <p:cNvPr id="26" name="Text 24"/>
          <p:cNvSpPr/>
          <p:nvPr/>
        </p:nvSpPr>
        <p:spPr>
          <a:xfrm>
            <a:off x="2286000" y="38862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"JVM engineer"  ·  "AWS Lambda"</a:t>
            </a:r>
            <a:endParaRPr lang="en-US" sz="1680" dirty="0"/>
          </a:p>
        </p:txBody>
      </p:sp>
      <p:sp>
        <p:nvSpPr>
          <p:cNvPr id="27" name="Text 25"/>
          <p:cNvSpPr/>
          <p:nvPr/>
        </p:nvSpPr>
        <p:spPr>
          <a:xfrm>
            <a:off x="1005840" y="4389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Aisha</a:t>
            </a:r>
            <a:endParaRPr lang="en-US" sz="1680" dirty="0"/>
          </a:p>
        </p:txBody>
      </p:sp>
      <p:sp>
        <p:nvSpPr>
          <p:cNvPr id="28" name="Text 26"/>
          <p:cNvSpPr/>
          <p:nvPr/>
        </p:nvSpPr>
        <p:spPr>
          <a:xfrm>
            <a:off x="2286000" y="4389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"server-side developer"  ·  "Azure Functions"</a:t>
            </a:r>
            <a:endParaRPr lang="en-US" sz="1680" dirty="0"/>
          </a:p>
        </p:txBody>
      </p:sp>
      <p:sp>
        <p:nvSpPr>
          <p:cNvPr id="29" name="Text 27"/>
          <p:cNvSpPr/>
          <p:nvPr/>
        </p:nvSpPr>
        <p:spPr>
          <a:xfrm>
            <a:off x="1005840" y="4892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Elena</a:t>
            </a:r>
            <a:endParaRPr lang="en-US" sz="1680" dirty="0"/>
          </a:p>
        </p:txBody>
      </p:sp>
      <p:sp>
        <p:nvSpPr>
          <p:cNvPr id="30" name="Text 28"/>
          <p:cNvSpPr/>
          <p:nvPr/>
        </p:nvSpPr>
        <p:spPr>
          <a:xfrm>
            <a:off x="2286000" y="4892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"Java developer"  ·  "Google Cloud Platform"</a:t>
            </a:r>
            <a:endParaRPr lang="en-US" sz="1680" dirty="0"/>
          </a:p>
        </p:txBody>
      </p:sp>
      <p:sp>
        <p:nvSpPr>
          <p:cNvPr id="31" name="Text 29"/>
          <p:cNvSpPr/>
          <p:nvPr/>
        </p:nvSpPr>
        <p:spPr>
          <a:xfrm>
            <a:off x="1005840" y="5394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Sofia</a:t>
            </a:r>
            <a:endParaRPr lang="en-US" sz="1680" dirty="0"/>
          </a:p>
        </p:txBody>
      </p:sp>
      <p:sp>
        <p:nvSpPr>
          <p:cNvPr id="32" name="Text 30"/>
          <p:cNvSpPr/>
          <p:nvPr/>
        </p:nvSpPr>
        <p:spPr>
          <a:xfrm>
            <a:off x="2286000" y="53949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"SRE"  ·  "Terraform"</a:t>
            </a:r>
            <a:endParaRPr lang="en-US" sz="1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1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Strings vs meaning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822960" y="1463040"/>
            <a:ext cx="5074920" cy="4023360"/>
          </a:xfrm>
          <a:prstGeom prst="roundRect">
            <a:avLst>
              <a:gd name="adj" fmla="val 3182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43000" y="1691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 search</a:t>
            </a:r>
            <a:endParaRPr lang="en-US" sz="2280" dirty="0"/>
          </a:p>
        </p:txBody>
      </p:sp>
      <p:sp>
        <p:nvSpPr>
          <p:cNvPr id="22" name="Text 20"/>
          <p:cNvSpPr/>
          <p:nvPr/>
        </p:nvSpPr>
        <p:spPr>
          <a:xfrm>
            <a:off x="1143000" y="224028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characters.</a:t>
            </a:r>
            <a:endParaRPr lang="en-US" sz="1680" dirty="0"/>
          </a:p>
          <a:p>
            <a:pPr indent="0" marL="0">
              <a:lnSpc>
                <a:spcPct val="115000"/>
              </a:lnSpc>
              <a:buNone/>
            </a:pPr>
            <a:endParaRPr lang="en-US" sz="16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"backend developer" never appears</a:t>
            </a:r>
            <a:endParaRPr lang="en-US" sz="16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any of those CVs — so it returns</a:t>
            </a:r>
            <a:endParaRPr lang="en-US" sz="16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at all.</a:t>
            </a:r>
            <a:endParaRPr lang="en-US" sz="1680" dirty="0"/>
          </a:p>
        </p:txBody>
      </p:sp>
      <p:sp>
        <p:nvSpPr>
          <p:cNvPr id="23" name="Text 21"/>
          <p:cNvSpPr/>
          <p:nvPr/>
        </p:nvSpPr>
        <p:spPr>
          <a:xfrm>
            <a:off x="1143000" y="47548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results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263640" y="1463040"/>
            <a:ext cx="5074920" cy="4023360"/>
          </a:xfrm>
          <a:prstGeom prst="roundRect">
            <a:avLst>
              <a:gd name="adj" fmla="val 3182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0" y="1691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 search</a:t>
            </a:r>
            <a:endParaRPr lang="en-US" sz="2280" dirty="0"/>
          </a:p>
        </p:txBody>
      </p:sp>
      <p:sp>
        <p:nvSpPr>
          <p:cNvPr id="26" name="Text 24"/>
          <p:cNvSpPr/>
          <p:nvPr/>
        </p:nvSpPr>
        <p:spPr>
          <a:xfrm>
            <a:off x="6583680" y="224028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meaning.</a:t>
            </a:r>
            <a:endParaRPr lang="en-US" sz="1680" dirty="0"/>
          </a:p>
          <a:p>
            <a:pPr indent="0" marL="0">
              <a:lnSpc>
                <a:spcPct val="115000"/>
              </a:lnSpc>
              <a:buNone/>
            </a:pPr>
            <a:endParaRPr lang="en-US" sz="16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and every resume become</a:t>
            </a:r>
            <a:endParaRPr lang="en-US" sz="16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vectors; the store returns the</a:t>
            </a:r>
            <a:endParaRPr lang="en-US" sz="16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ones.</a:t>
            </a:r>
            <a:endParaRPr lang="en-US" sz="1680" dirty="0"/>
          </a:p>
        </p:txBody>
      </p:sp>
      <p:sp>
        <p:nvSpPr>
          <p:cNvPr id="27" name="Text 25"/>
          <p:cNvSpPr/>
          <p:nvPr/>
        </p:nvSpPr>
        <p:spPr>
          <a:xfrm>
            <a:off x="6583680" y="47548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results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2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embed vs what you filter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that makes semantic search actually usable.</a:t>
            </a:r>
            <a:endParaRPr lang="en-US" sz="1920" dirty="0"/>
          </a:p>
        </p:txBody>
      </p:sp>
      <p:sp>
        <p:nvSpPr>
          <p:cNvPr id="21" name="Shape 19"/>
          <p:cNvSpPr/>
          <p:nvPr/>
        </p:nvSpPr>
        <p:spPr>
          <a:xfrm>
            <a:off x="640080" y="1874520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" y="203911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2416" y="203911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4" name="Shape 22"/>
          <p:cNvSpPr/>
          <p:nvPr/>
        </p:nvSpPr>
        <p:spPr>
          <a:xfrm>
            <a:off x="1243584" y="203911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5" name="Text 23"/>
          <p:cNvSpPr/>
          <p:nvPr/>
        </p:nvSpPr>
        <p:spPr>
          <a:xfrm>
            <a:off x="950976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CandidateIndexConfig.java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23317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(candidate.resume(), Map.of(   </a:t>
            </a:r>
            <a:pPr indent="0" marL="0">
              <a:buNone/>
            </a:pPr>
            <a:r>
              <a:rPr lang="en-US" sz="15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← embedded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26060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"candidateId", candidate.candidateId(),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0120" y="28803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"seniority",   candidate.seniority(),   </a:t>
            </a:r>
            <a:pPr indent="0" marL="0">
              <a:buNone/>
            </a:pPr>
            <a:r>
              <a:rPr lang="en-US" sz="15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← metadata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" y="31546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"location",    candidate.location()));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22960" y="3931920"/>
            <a:ext cx="5074920" cy="1600200"/>
          </a:xfrm>
          <a:prstGeom prst="roundRect">
            <a:avLst>
              <a:gd name="adj" fmla="val 6857"/>
            </a:avLst>
          </a:prstGeom>
          <a:solidFill>
            <a:srgbClr val="121A2E"/>
          </a:solidFill>
          <a:ln w="15875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97280" y="41148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 text  →  embedded</a:t>
            </a:r>
            <a:endParaRPr lang="en-US" sz="1740" dirty="0"/>
          </a:p>
        </p:txBody>
      </p:sp>
      <p:sp>
        <p:nvSpPr>
          <p:cNvPr id="32" name="Text 30"/>
          <p:cNvSpPr/>
          <p:nvPr/>
        </p:nvSpPr>
        <p:spPr>
          <a:xfrm>
            <a:off x="1097280" y="452628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the fuzzy question:</a:t>
            </a:r>
            <a:endParaRPr lang="en-US" sz="15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sounds like a cloud engineer?"</a:t>
            </a:r>
            <a:endParaRPr lang="en-US" sz="1560" dirty="0"/>
          </a:p>
        </p:txBody>
      </p:sp>
      <p:sp>
        <p:nvSpPr>
          <p:cNvPr id="33" name="Shape 31"/>
          <p:cNvSpPr/>
          <p:nvPr/>
        </p:nvSpPr>
        <p:spPr>
          <a:xfrm>
            <a:off x="6263640" y="3931920"/>
            <a:ext cx="5074920" cy="1600200"/>
          </a:xfrm>
          <a:prstGeom prst="roundRect">
            <a:avLst>
              <a:gd name="adj" fmla="val 6857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37960" y="41148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else  →  metadata</a:t>
            </a:r>
            <a:endParaRPr lang="en-US" sz="1740" dirty="0"/>
          </a:p>
        </p:txBody>
      </p:sp>
      <p:sp>
        <p:nvSpPr>
          <p:cNvPr id="35" name="Text 33"/>
          <p:cNvSpPr/>
          <p:nvPr/>
        </p:nvSpPr>
        <p:spPr>
          <a:xfrm>
            <a:off x="6537960" y="452628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the precise question:</a:t>
            </a:r>
            <a:endParaRPr lang="en-US" sz="15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is SENIOR and in London?"</a:t>
            </a:r>
            <a:endParaRPr lang="en-US" sz="15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BUILD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 + exact, in one call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1371600"/>
            <a:ext cx="10881360" cy="3291840"/>
          </a:xfrm>
          <a:prstGeom prst="roundRect">
            <a:avLst>
              <a:gd name="adj" fmla="val 2222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153619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2416" y="153619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43584" y="153619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CandidateSearchController.java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182880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SearchRequest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.builder()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0120" y="21396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.query(</a:t>
            </a:r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"cloud infrastructure"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</a:t>
            </a:r>
            <a:pPr indent="0" marL="0">
              <a:buNone/>
            </a:pPr>
            <a:r>
              <a:rPr lang="en-US" sz="15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semantic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245059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.topK(</a:t>
            </a:r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0120" y="276148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.similarityThreshold(</a:t>
            </a:r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" y="307238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.filterExpression(</a:t>
            </a:r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"seniority == 'SENIOR'"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</a:t>
            </a:r>
            <a:pPr indent="0" marL="0">
              <a:buNone/>
            </a:pPr>
            <a:r>
              <a:rPr lang="en-US" sz="15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exact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0120" y="33832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.build();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60120" y="36941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0120" y="40050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List&lt;Document&gt;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hits = vectorStore.similaritySearch(req);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0120" y="43159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score = hits.get(0).</a:t>
            </a:r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getScore()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22960" y="4892040"/>
            <a:ext cx="10515600" cy="777240"/>
          </a:xfrm>
          <a:prstGeom prst="roundRect">
            <a:avLst>
              <a:gd name="adj" fmla="val 14118"/>
            </a:avLst>
          </a:prstGeom>
          <a:solidFill>
            <a:srgbClr val="121A2E"/>
          </a:solidFill>
          <a:ln w="12700">
            <a:solidFill>
              <a:srgbClr val="5B647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489204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2.0: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SearchRequest.builder()</a:t>
            </a:r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the old </a:t>
            </a:r>
            <a:pPr indent="0" marL="0">
              <a:buNone/>
            </a:pPr>
            <a:r>
              <a:rPr lang="en-US" sz="144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.query().withTopK()</a:t>
            </a:r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the score is on the Document.</a:t>
            </a:r>
            <a:endParaRPr lang="en-US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WORKS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Matched — with zero shared words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dirty="0">
                <a:solidFill>
                  <a:srgbClr val="B8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Query: "backend developer with cloud experience"</a:t>
            </a:r>
            <a:endParaRPr lang="en-US" sz="1740" dirty="0"/>
          </a:p>
        </p:txBody>
      </p:sp>
      <p:sp>
        <p:nvSpPr>
          <p:cNvPr id="21" name="Shape 19"/>
          <p:cNvSpPr/>
          <p:nvPr/>
        </p:nvSpPr>
        <p:spPr>
          <a:xfrm>
            <a:off x="822960" y="1920240"/>
            <a:ext cx="10515600" cy="640080"/>
          </a:xfrm>
          <a:prstGeom prst="roundRect">
            <a:avLst>
              <a:gd name="adj" fmla="val 11429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1965960"/>
            <a:ext cx="73152" cy="548640"/>
          </a:xfrm>
          <a:prstGeom prst="rect">
            <a:avLst/>
          </a:prstGeom>
          <a:solidFill>
            <a:srgbClr val="5FE0C5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1920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0.6327</a:t>
            </a:r>
            <a:endParaRPr lang="en-US" sz="1680" dirty="0"/>
          </a:p>
        </p:txBody>
      </p:sp>
      <p:sp>
        <p:nvSpPr>
          <p:cNvPr id="24" name="Text 22"/>
          <p:cNvSpPr/>
          <p:nvPr/>
        </p:nvSpPr>
        <p:spPr>
          <a:xfrm>
            <a:off x="2194560" y="1920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Elena Rossi</a:t>
            </a:r>
            <a:endParaRPr lang="en-US" sz="1680" dirty="0"/>
          </a:p>
        </p:txBody>
      </p:sp>
      <p:sp>
        <p:nvSpPr>
          <p:cNvPr id="25" name="Text 23"/>
          <p:cNvSpPr/>
          <p:nvPr/>
        </p:nvSpPr>
        <p:spPr>
          <a:xfrm>
            <a:off x="4389120" y="19202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"Java developer … Google Cloud Platform"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22960" y="2697480"/>
            <a:ext cx="10515600" cy="640080"/>
          </a:xfrm>
          <a:prstGeom prst="roundRect">
            <a:avLst>
              <a:gd name="adj" fmla="val 11429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2743200"/>
            <a:ext cx="73152" cy="548640"/>
          </a:xfrm>
          <a:prstGeom prst="rect">
            <a:avLst/>
          </a:prstGeom>
          <a:solidFill>
            <a:srgbClr val="5FE0C5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2697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0.6270</a:t>
            </a:r>
            <a:endParaRPr lang="en-US" sz="1680" dirty="0"/>
          </a:p>
        </p:txBody>
      </p:sp>
      <p:sp>
        <p:nvSpPr>
          <p:cNvPr id="29" name="Text 27"/>
          <p:cNvSpPr/>
          <p:nvPr/>
        </p:nvSpPr>
        <p:spPr>
          <a:xfrm>
            <a:off x="219456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Aisha Khan</a:t>
            </a:r>
            <a:endParaRPr lang="en-US" sz="1680" dirty="0"/>
          </a:p>
        </p:txBody>
      </p:sp>
      <p:sp>
        <p:nvSpPr>
          <p:cNvPr id="30" name="Text 28"/>
          <p:cNvSpPr/>
          <p:nvPr/>
        </p:nvSpPr>
        <p:spPr>
          <a:xfrm>
            <a:off x="4389120" y="26974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"Server-side developer … Azure Functions"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2960" y="3474720"/>
            <a:ext cx="10515600" cy="640080"/>
          </a:xfrm>
          <a:prstGeom prst="roundRect">
            <a:avLst>
              <a:gd name="adj" fmla="val 11429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" y="3520440"/>
            <a:ext cx="73152" cy="548640"/>
          </a:xfrm>
          <a:prstGeom prst="rect">
            <a:avLst/>
          </a:prstGeom>
          <a:solidFill>
            <a:srgbClr val="8B98AC"/>
          </a:solidFill>
          <a:ln/>
        </p:spPr>
      </p:sp>
      <p:sp>
        <p:nvSpPr>
          <p:cNvPr id="33" name="Text 31"/>
          <p:cNvSpPr/>
          <p:nvPr/>
        </p:nvSpPr>
        <p:spPr>
          <a:xfrm>
            <a:off x="1051560" y="3474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0.6087</a:t>
            </a:r>
            <a:endParaRPr lang="en-US" sz="1680" dirty="0"/>
          </a:p>
        </p:txBody>
      </p:sp>
      <p:sp>
        <p:nvSpPr>
          <p:cNvPr id="34" name="Text 32"/>
          <p:cNvSpPr/>
          <p:nvPr/>
        </p:nvSpPr>
        <p:spPr>
          <a:xfrm>
            <a:off x="2194560" y="3474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Liam O'Brien</a:t>
            </a:r>
            <a:endParaRPr lang="en-US" sz="1680" dirty="0"/>
          </a:p>
        </p:txBody>
      </p:sp>
      <p:sp>
        <p:nvSpPr>
          <p:cNvPr id="35" name="Text 33"/>
          <p:cNvSpPr/>
          <p:nvPr/>
        </p:nvSpPr>
        <p:spPr>
          <a:xfrm>
            <a:off x="4389120" y="34747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"Mobile developer … Swift"   ← honest noise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22960" y="4251960"/>
            <a:ext cx="10515600" cy="640080"/>
          </a:xfrm>
          <a:prstGeom prst="roundRect">
            <a:avLst>
              <a:gd name="adj" fmla="val 11429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4297680"/>
            <a:ext cx="73152" cy="548640"/>
          </a:xfrm>
          <a:prstGeom prst="rect">
            <a:avLst/>
          </a:prstGeom>
          <a:solidFill>
            <a:srgbClr val="5FE0C5"/>
          </a:solidFill>
          <a:ln/>
        </p:spPr>
      </p:sp>
      <p:sp>
        <p:nvSpPr>
          <p:cNvPr id="38" name="Text 36"/>
          <p:cNvSpPr/>
          <p:nvPr/>
        </p:nvSpPr>
        <p:spPr>
          <a:xfrm>
            <a:off x="1051560" y="4251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0.5924</a:t>
            </a:r>
            <a:endParaRPr lang="en-US" sz="1680" dirty="0"/>
          </a:p>
        </p:txBody>
      </p:sp>
      <p:sp>
        <p:nvSpPr>
          <p:cNvPr id="39" name="Text 37"/>
          <p:cNvSpPr/>
          <p:nvPr/>
        </p:nvSpPr>
        <p:spPr>
          <a:xfrm>
            <a:off x="2194560" y="4251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Sharma</a:t>
            </a:r>
            <a:endParaRPr lang="en-US" sz="1680" dirty="0"/>
          </a:p>
        </p:txBody>
      </p:sp>
      <p:sp>
        <p:nvSpPr>
          <p:cNvPr id="40" name="Text 38"/>
          <p:cNvSpPr/>
          <p:nvPr/>
        </p:nvSpPr>
        <p:spPr>
          <a:xfrm>
            <a:off x="4389120" y="42519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"JVM engineer … AWS Lambda"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0" y="52120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would have returned none of them.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TRAP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Don't copy someone else's threshold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822960" y="137160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97280" y="13716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20" b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tutorial says: start at 0.75.
</a:t>
            </a:r>
            <a:pPr indent="0" marL="0">
              <a:lnSpc>
                <a:spcPct val="120000"/>
              </a:lnSpc>
              <a:buNone/>
            </a:pPr>
            <a:r>
              <a:rPr lang="en-US" sz="174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real matches scored 0.59 – 0.67. That threshold returns nothing.</a:t>
            </a:r>
            <a:endParaRPr lang="en-US" sz="1920" dirty="0"/>
          </a:p>
        </p:txBody>
      </p:sp>
      <p:sp>
        <p:nvSpPr>
          <p:cNvPr id="22" name="Shape 20"/>
          <p:cNvSpPr/>
          <p:nvPr/>
        </p:nvSpPr>
        <p:spPr>
          <a:xfrm>
            <a:off x="822960" y="2743200"/>
            <a:ext cx="10515600" cy="548640"/>
          </a:xfrm>
          <a:prstGeom prst="roundRect">
            <a:avLst>
              <a:gd name="adj" fmla="val 13333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2743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0.9+</a:t>
            </a:r>
            <a:endParaRPr lang="en-US" sz="1740" dirty="0"/>
          </a:p>
        </p:txBody>
      </p:sp>
      <p:sp>
        <p:nvSpPr>
          <p:cNvPr id="24" name="Text 22"/>
          <p:cNvSpPr/>
          <p:nvPr/>
        </p:nvSpPr>
        <p:spPr>
          <a:xfrm>
            <a:off x="2377440" y="27432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strict — near-identical text only</a:t>
            </a:r>
            <a:endParaRPr lang="en-US" sz="1560" dirty="0"/>
          </a:p>
        </p:txBody>
      </p:sp>
      <p:sp>
        <p:nvSpPr>
          <p:cNvPr id="25" name="Shape 23"/>
          <p:cNvSpPr/>
          <p:nvPr/>
        </p:nvSpPr>
        <p:spPr>
          <a:xfrm>
            <a:off x="822960" y="3401568"/>
            <a:ext cx="10515600" cy="548640"/>
          </a:xfrm>
          <a:prstGeom prst="roundRect">
            <a:avLst>
              <a:gd name="adj" fmla="val 13333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34015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0.75</a:t>
            </a:r>
            <a:endParaRPr lang="en-US" sz="1740" dirty="0"/>
          </a:p>
        </p:txBody>
      </p:sp>
      <p:sp>
        <p:nvSpPr>
          <p:cNvPr id="27" name="Text 25"/>
          <p:cNvSpPr/>
          <p:nvPr/>
        </p:nvSpPr>
        <p:spPr>
          <a:xfrm>
            <a:off x="2377440" y="340156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too strict — would return 0 results here</a:t>
            </a:r>
            <a:endParaRPr lang="en-US" sz="1560" dirty="0"/>
          </a:p>
        </p:txBody>
      </p:sp>
      <p:sp>
        <p:nvSpPr>
          <p:cNvPr id="28" name="Shape 26"/>
          <p:cNvSpPr/>
          <p:nvPr/>
        </p:nvSpPr>
        <p:spPr>
          <a:xfrm>
            <a:off x="822960" y="4059936"/>
            <a:ext cx="10515600" cy="548640"/>
          </a:xfrm>
          <a:prstGeom prst="roundRect">
            <a:avLst>
              <a:gd name="adj" fmla="val 13333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405993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</a:t>
            </a:r>
            <a:endParaRPr lang="en-US" sz="1740" dirty="0"/>
          </a:p>
        </p:txBody>
      </p:sp>
      <p:sp>
        <p:nvSpPr>
          <p:cNvPr id="30" name="Text 28"/>
          <p:cNvSpPr/>
          <p:nvPr/>
        </p:nvSpPr>
        <p:spPr>
          <a:xfrm>
            <a:off x="2377440" y="405993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for nomic-embed-text</a:t>
            </a:r>
            <a:endParaRPr lang="en-US" sz="1560" dirty="0"/>
          </a:p>
        </p:txBody>
      </p:sp>
      <p:sp>
        <p:nvSpPr>
          <p:cNvPr id="31" name="Shape 29"/>
          <p:cNvSpPr/>
          <p:nvPr/>
        </p:nvSpPr>
        <p:spPr>
          <a:xfrm>
            <a:off x="822960" y="4718304"/>
            <a:ext cx="10515600" cy="548640"/>
          </a:xfrm>
          <a:prstGeom prst="roundRect">
            <a:avLst>
              <a:gd name="adj" fmla="val 13333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471830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740" dirty="0"/>
          </a:p>
        </p:txBody>
      </p:sp>
      <p:sp>
        <p:nvSpPr>
          <p:cNvPr id="33" name="Text 31"/>
          <p:cNvSpPr/>
          <p:nvPr/>
        </p:nvSpPr>
        <p:spPr>
          <a:xfrm>
            <a:off x="2377440" y="471830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all — rank everything, let the caller decide</a:t>
            </a:r>
            <a:endParaRPr lang="en-US" sz="1560" dirty="0"/>
          </a:p>
        </p:txBody>
      </p:sp>
      <p:sp>
        <p:nvSpPr>
          <p:cNvPr id="34" name="Text 32"/>
          <p:cNvSpPr/>
          <p:nvPr/>
        </p:nvSpPr>
        <p:spPr>
          <a:xfrm>
            <a:off x="0" y="54864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your own distribution first. Then pick.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can do now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41732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keyword search misses obvious matches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SearchRequest.builder() with topK and similarityThreshold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semantic search with exact metadata filters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real scores — and never trust a copied threshold</a:t>
            </a:r>
            <a:endParaRPr lang="en-US" sz="2040" dirty="0"/>
          </a:p>
        </p:txBody>
      </p:sp>
      <p:sp>
        <p:nvSpPr>
          <p:cNvPr id="21" name="Shape 19"/>
          <p:cNvSpPr/>
          <p:nvPr/>
        </p:nvSpPr>
        <p:spPr>
          <a:xfrm>
            <a:off x="640080" y="356616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121A2E"/>
          </a:solidFill>
          <a:ln w="15875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NEXT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914400" y="406908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80" b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 — AI Agents</a:t>
            </a:r>
            <a:endParaRPr lang="en-US" sz="22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 starts working on its own — planning its steps, chaining tools,</a:t>
            </a:r>
            <a:endParaRPr lang="en-US" sz="22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producing a monthly HR report without being prompted through it.</a:t>
            </a:r>
            <a:endParaRPr lang="en-US" sz="2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ENJOYING THIS?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&amp; Subscribe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helped, a like and a subscribe genuinely help the series reach more developers.</a:t>
            </a:r>
            <a:endParaRPr lang="en-US" sz="2040" dirty="0"/>
          </a:p>
        </p:txBody>
      </p:sp>
      <p:sp>
        <p:nvSpPr>
          <p:cNvPr id="21" name="Shape 19"/>
          <p:cNvSpPr/>
          <p:nvPr/>
        </p:nvSpPr>
        <p:spPr>
          <a:xfrm>
            <a:off x="822960" y="22860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2296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endParaRPr lang="en-US" sz="2280" dirty="0"/>
          </a:p>
        </p:txBody>
      </p:sp>
      <p:sp>
        <p:nvSpPr>
          <p:cNvPr id="24" name="Text 22"/>
          <p:cNvSpPr/>
          <p:nvPr/>
        </p:nvSpPr>
        <p:spPr>
          <a:xfrm>
            <a:off x="105156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like if this made Spring AI click.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4480560" y="22860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80560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5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448056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</a:t>
            </a:r>
            <a:endParaRPr lang="en-US" sz="2280" dirty="0"/>
          </a:p>
        </p:txBody>
      </p:sp>
      <p:sp>
        <p:nvSpPr>
          <p:cNvPr id="28" name="Text 26"/>
          <p:cNvSpPr/>
          <p:nvPr/>
        </p:nvSpPr>
        <p:spPr>
          <a:xfrm>
            <a:off x="470916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+ bell for every new chapter.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8138160" y="22860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121A2E"/>
          </a:solidFill>
          <a:ln w="19050">
            <a:solidFill>
              <a:srgbClr val="8B98A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38160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8B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813816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</a:t>
            </a:r>
            <a:endParaRPr lang="en-US" sz="2280" dirty="0"/>
          </a:p>
        </p:txBody>
      </p:sp>
      <p:sp>
        <p:nvSpPr>
          <p:cNvPr id="32" name="Text 30"/>
          <p:cNvSpPr/>
          <p:nvPr/>
        </p:nvSpPr>
        <p:spPr>
          <a:xfrm>
            <a:off x="836676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— I read and reply.</a:t>
            </a:r>
            <a:endParaRPr lang="en-US" sz="1440" dirty="0"/>
          </a:p>
        </p:txBody>
      </p:sp>
      <p:sp>
        <p:nvSpPr>
          <p:cNvPr id="33" name="Shape 31"/>
          <p:cNvSpPr/>
          <p:nvPr/>
        </p:nvSpPr>
        <p:spPr>
          <a:xfrm>
            <a:off x="4251960" y="502920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10812" y="4988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9612" y="4988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8412" y="4988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52578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chapter every week  ·  Spring AI with Llama  ·  PromptToApps</a:t>
            </a:r>
            <a:endParaRPr lang="en-US" sz="15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CREDITS &amp; THANKS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isn't my merit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series is built on the work of open-source projects and their communities. I only learned from them and shared what I built.</a:t>
            </a:r>
            <a:endParaRPr lang="en-US" sz="1920" dirty="0"/>
          </a:p>
        </p:txBody>
      </p:sp>
      <p:sp>
        <p:nvSpPr>
          <p:cNvPr id="21" name="Shape 19"/>
          <p:cNvSpPr/>
          <p:nvPr/>
        </p:nvSpPr>
        <p:spPr>
          <a:xfrm>
            <a:off x="822960" y="242316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43000" y="2697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AI</a:t>
            </a:r>
            <a:endParaRPr lang="en-US" sz="2640" dirty="0"/>
          </a:p>
        </p:txBody>
      </p:sp>
      <p:sp>
        <p:nvSpPr>
          <p:cNvPr id="23" name="Text 21"/>
          <p:cNvSpPr/>
          <p:nvPr/>
        </p:nvSpPr>
        <p:spPr>
          <a:xfrm>
            <a:off x="114300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integration layer for Spring</a:t>
            </a:r>
            <a:endParaRPr lang="en-US" sz="1560" dirty="0"/>
          </a:p>
        </p:txBody>
      </p:sp>
      <p:sp>
        <p:nvSpPr>
          <p:cNvPr id="24" name="Text 22"/>
          <p:cNvSpPr/>
          <p:nvPr/>
        </p:nvSpPr>
        <p:spPr>
          <a:xfrm>
            <a:off x="11430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spring.io/projects/spring-ai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6309360" y="242316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29400" y="2697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</a:t>
            </a:r>
            <a:endParaRPr lang="en-US" sz="2640" dirty="0"/>
          </a:p>
        </p:txBody>
      </p:sp>
      <p:sp>
        <p:nvSpPr>
          <p:cNvPr id="27" name="Text 25"/>
          <p:cNvSpPr/>
          <p:nvPr/>
        </p:nvSpPr>
        <p:spPr>
          <a:xfrm>
            <a:off x="662940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open LLMs locally</a:t>
            </a:r>
            <a:endParaRPr lang="en-US" sz="1560" dirty="0"/>
          </a:p>
        </p:txBody>
      </p:sp>
      <p:sp>
        <p:nvSpPr>
          <p:cNvPr id="28" name="Text 26"/>
          <p:cNvSpPr/>
          <p:nvPr/>
        </p:nvSpPr>
        <p:spPr>
          <a:xfrm>
            <a:off x="66294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ollama.com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4251960" y="489204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108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96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84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51206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gratitude — all credit to their maintainers &amp; contributors.</a:t>
            </a:r>
            <a:endParaRPr lang="en-US" sz="1680" dirty="0"/>
          </a:p>
        </p:txBody>
      </p:sp>
      <p:sp>
        <p:nvSpPr>
          <p:cNvPr id="34" name="Text 32"/>
          <p:cNvSpPr/>
          <p:nvPr/>
        </p:nvSpPr>
        <p:spPr>
          <a:xfrm>
            <a:off x="0" y="56235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github.com/balajich/spring-ai-with-llama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15 — Semantic Search</dc:title>
  <dc:subject>PptxGenJS Presentation</dc:subject>
  <dc:creator>PromptToApps</dc:creator>
  <cp:lastModifiedBy>PromptToApps</cp:lastModifiedBy>
  <cp:revision>1</cp:revision>
  <dcterms:created xsi:type="dcterms:W3CDTF">2026-07-15T22:57:42Z</dcterms:created>
  <dcterms:modified xsi:type="dcterms:W3CDTF">2026-07-15T22:57:42Z</dcterms:modified>
</cp:coreProperties>
</file>