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10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</a:t>
            </a:r>
            <a:endParaRPr lang="en-US" sz="552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it a goal</a:t>
            </a:r>
            <a:pPr algn="ctr" indent="0" marL="0">
              <a:buNone/>
            </a:pPr>
            <a:r>
              <a:rPr lang="en-US" sz="22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not instructions</a:t>
            </a:r>
            <a:endParaRPr lang="en-US" sz="228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day a month, every month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compiles the HR report by hand. The data lives in five different systems.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539496" y="20116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560" dirty="0"/>
          </a:p>
        </p:txBody>
      </p:sp>
      <p:sp>
        <p:nvSpPr>
          <p:cNvPr id="23" name="Shape 21"/>
          <p:cNvSpPr/>
          <p:nvPr/>
        </p:nvSpPr>
        <p:spPr>
          <a:xfrm>
            <a:off x="2807208" y="20116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</a:t>
            </a:r>
            <a:endParaRPr lang="en-US" sz="1560" dirty="0"/>
          </a:p>
        </p:txBody>
      </p:sp>
      <p:sp>
        <p:nvSpPr>
          <p:cNvPr id="25" name="Shape 23"/>
          <p:cNvSpPr/>
          <p:nvPr/>
        </p:nvSpPr>
        <p:spPr>
          <a:xfrm>
            <a:off x="5074920" y="20116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</a:t>
            </a:r>
            <a:endParaRPr lang="en-US" sz="1560" dirty="0"/>
          </a:p>
        </p:txBody>
      </p:sp>
      <p:sp>
        <p:nvSpPr>
          <p:cNvPr id="27" name="Shape 25"/>
          <p:cNvSpPr/>
          <p:nvPr/>
        </p:nvSpPr>
        <p:spPr>
          <a:xfrm>
            <a:off x="7342632" y="20116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560" dirty="0"/>
          </a:p>
        </p:txBody>
      </p:sp>
      <p:sp>
        <p:nvSpPr>
          <p:cNvPr id="29" name="Shape 27"/>
          <p:cNvSpPr/>
          <p:nvPr/>
        </p:nvSpPr>
        <p:spPr>
          <a:xfrm>
            <a:off x="9610344" y="20116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10344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updates</a:t>
            </a:r>
            <a:endParaRPr lang="en-US" sz="1560" dirty="0"/>
          </a:p>
        </p:txBody>
      </p:sp>
      <p:sp>
        <p:nvSpPr>
          <p:cNvPr id="31" name="Shape 29"/>
          <p:cNvSpPr/>
          <p:nvPr/>
        </p:nvSpPr>
        <p:spPr>
          <a:xfrm>
            <a:off x="822960" y="3566160"/>
            <a:ext cx="10515600" cy="96012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356616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the AI gather all this and write the report? I just want to trigger it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come back to something finished."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0" y="48463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jump from an assistant to an agent.</a:t>
            </a:r>
            <a:endParaRPr lang="en-US" sz="2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1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 vs agent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822960" y="1463040"/>
            <a:ext cx="5074920" cy="3017520"/>
          </a:xfrm>
          <a:prstGeom prst="roundRect">
            <a:avLst>
              <a:gd name="adj" fmla="val 4242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22402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a QUESTION.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the steps.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"Call getHeadcount for May,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tell me the total."</a:t>
            </a:r>
            <a:endParaRPr lang="en-US" sz="1620" dirty="0"/>
          </a:p>
        </p:txBody>
      </p:sp>
      <p:sp>
        <p:nvSpPr>
          <p:cNvPr id="23" name="Shape 21"/>
          <p:cNvSpPr/>
          <p:nvPr/>
        </p:nvSpPr>
        <p:spPr>
          <a:xfrm>
            <a:off x="6263640" y="1463040"/>
            <a:ext cx="5074920" cy="3017520"/>
          </a:xfrm>
          <a:prstGeom prst="roundRect">
            <a:avLst>
              <a:gd name="adj" fmla="val 4242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583680" y="22402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a GOAL.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decides the steps.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"Produce the monthly HR report.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tools as needed."</a:t>
            </a:r>
            <a:endParaRPr lang="en-US" sz="1620" dirty="0"/>
          </a:p>
        </p:txBody>
      </p:sp>
      <p:sp>
        <p:nvSpPr>
          <p:cNvPr id="26" name="Shape 24"/>
          <p:cNvSpPr/>
          <p:nvPr/>
        </p:nvSpPr>
        <p:spPr>
          <a:xfrm>
            <a:off x="822960" y="470916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72238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provide the tools.  The model provides the plan.</a:t>
            </a:r>
            <a:endParaRPr lang="en-US" sz="20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2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 → Act → Observe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runs this loop for you. You never write it.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1463040" y="1920240"/>
            <a:ext cx="9235440" cy="566928"/>
          </a:xfrm>
          <a:prstGeom prst="roundRect">
            <a:avLst>
              <a:gd name="adj" fmla="val 1290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965960"/>
            <a:ext cx="73152" cy="47548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endParaRPr lang="en-US" sz="1620" dirty="0"/>
          </a:p>
        </p:txBody>
      </p:sp>
      <p:sp>
        <p:nvSpPr>
          <p:cNvPr id="24" name="Text 22"/>
          <p:cNvSpPr/>
          <p:nvPr/>
        </p:nvSpPr>
        <p:spPr>
          <a:xfrm>
            <a:off x="3383280" y="19202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need headcount first"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63040" y="2633472"/>
            <a:ext cx="9235440" cy="566928"/>
          </a:xfrm>
          <a:prstGeom prst="roundRect">
            <a:avLst>
              <a:gd name="adj" fmla="val 1290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2679192"/>
            <a:ext cx="73152" cy="475488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27" name="Text 25"/>
          <p:cNvSpPr/>
          <p:nvPr/>
        </p:nvSpPr>
        <p:spPr>
          <a:xfrm>
            <a:off x="1691640" y="2633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3383280" y="263347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getHeadcount("2025-05")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463040" y="3346704"/>
            <a:ext cx="9235440" cy="566928"/>
          </a:xfrm>
          <a:prstGeom prst="roundRect">
            <a:avLst>
              <a:gd name="adj" fmla="val 1290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3392424"/>
            <a:ext cx="73152" cy="475488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31" name="Text 29"/>
          <p:cNvSpPr/>
          <p:nvPr/>
        </p:nvSpPr>
        <p:spPr>
          <a:xfrm>
            <a:off x="1691640" y="33467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3383280" y="334670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total: 342, change: +12 }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463040" y="4059936"/>
            <a:ext cx="9235440" cy="566928"/>
          </a:xfrm>
          <a:prstGeom prst="roundRect">
            <a:avLst>
              <a:gd name="adj" fmla="val 1290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63040" y="4105656"/>
            <a:ext cx="73152" cy="47548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1691640" y="40599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endParaRPr lang="en-US" sz="1620" dirty="0"/>
          </a:p>
        </p:txBody>
      </p:sp>
      <p:sp>
        <p:nvSpPr>
          <p:cNvPr id="36" name="Text 34"/>
          <p:cNvSpPr/>
          <p:nvPr/>
        </p:nvSpPr>
        <p:spPr>
          <a:xfrm>
            <a:off x="3383280" y="405993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"Now the open roles…"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463040" y="4773168"/>
            <a:ext cx="9235440" cy="566928"/>
          </a:xfrm>
          <a:prstGeom prst="roundRect">
            <a:avLst>
              <a:gd name="adj" fmla="val 1290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4818888"/>
            <a:ext cx="73152" cy="475488"/>
          </a:xfrm>
          <a:prstGeom prst="rect">
            <a:avLst/>
          </a:prstGeom>
          <a:solidFill>
            <a:srgbClr val="5B6478"/>
          </a:solidFill>
          <a:ln/>
        </p:spPr>
      </p:sp>
      <p:sp>
        <p:nvSpPr>
          <p:cNvPr id="39" name="Text 37"/>
          <p:cNvSpPr/>
          <p:nvPr/>
        </p:nvSpPr>
        <p:spPr>
          <a:xfrm>
            <a:off x="1691640" y="47731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20" dirty="0"/>
          </a:p>
        </p:txBody>
      </p:sp>
      <p:sp>
        <p:nvSpPr>
          <p:cNvPr id="40" name="Text 38"/>
          <p:cNvSpPr/>
          <p:nvPr/>
        </p:nvSpPr>
        <p:spPr>
          <a:xfrm>
            <a:off x="3383280" y="477316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until it has enough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tools. Say nothing about order.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280160"/>
            <a:ext cx="10881360" cy="3383280"/>
          </a:xfrm>
          <a:prstGeom prst="roundRect">
            <a:avLst>
              <a:gd name="adj" fmla="val 2162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4447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44475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44475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HrDataService + ReportAgentController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7373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(description =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 total headcount…"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029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Headcount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getHeadcount(</a:t>
            </a:r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month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… }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3225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26151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…plus getOpenPositions, getRecentHires,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29077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getAttrition, getPolicyUpdates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32004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349300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 = builder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960120" y="378561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.defaultSystem(SYSTEM_PROMPT)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960120" y="40782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.defaultTools(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hrData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 five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960120" y="4370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822960" y="4892040"/>
            <a:ext cx="10515600" cy="822960"/>
          </a:xfrm>
          <a:prstGeom prst="roundRect">
            <a:avLst>
              <a:gd name="adj" fmla="val 13333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48920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states the GOAL and the output format — never the sequence.</a:t>
            </a:r>
            <a:endParaRPr lang="en-US" sz="1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WORKS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agent picked its own order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1097280" y="141732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21A2E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getHeadcount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97280" y="1984248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21A2E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19842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getOpenPositions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97280" y="2551176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21A2E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25511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getAttrition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97280" y="3118104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21A2E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311810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getPolicyUpdates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97280" y="3685032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21A2E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36850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getRecentHires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132320" y="1417320"/>
            <a:ext cx="4206240" cy="2788920"/>
          </a:xfrm>
          <a:prstGeom prst="roundRect">
            <a:avLst>
              <a:gd name="adj" fmla="val 3934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16459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order they were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in.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order of the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report's sections.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model's</a:t>
            </a:r>
            <a:endParaRPr lang="en-US" sz="16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plan.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0" y="46177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342  ·  +12 from last month  —  real values from the tools, not invented</a:t>
            </a:r>
            <a:endParaRPr lang="en-US" sz="1620" dirty="0"/>
          </a:p>
        </p:txBody>
      </p:sp>
      <p:sp>
        <p:nvSpPr>
          <p:cNvPr id="33" name="Text 31"/>
          <p:cNvSpPr/>
          <p:nvPr/>
        </p:nvSpPr>
        <p:spPr>
          <a:xfrm>
            <a:off x="0" y="50292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tool calls  ·  13.9 s  ·  llama3.2 on a laptop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 DEMOS SKIP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agent you can't see is an agent you can't trust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report looks the same whether the numbers came from your database or the model's imagination.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20391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" y="203911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43584" y="203911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ReportResponse.java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23317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ReportResponse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606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month,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8803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report,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31546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List&lt;String&gt; toolsInvoked,   </a:t>
            </a:r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what it did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34290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Integer toolCallCount,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37033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 tookMillis) {}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22960" y="425196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Debuggable</a:t>
            </a:r>
            <a:endParaRPr lang="en-US" sz="1740" dirty="0"/>
          </a:p>
        </p:txBody>
      </p:sp>
      <p:sp>
        <p:nvSpPr>
          <p:cNvPr id="34" name="Text 32"/>
          <p:cNvSpPr/>
          <p:nvPr/>
        </p:nvSpPr>
        <p:spPr>
          <a:xfrm>
            <a:off x="105156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tools ran, and in what order</a:t>
            </a:r>
            <a:endParaRPr lang="en-US" sz="1380" dirty="0"/>
          </a:p>
        </p:txBody>
      </p:sp>
      <p:sp>
        <p:nvSpPr>
          <p:cNvPr id="35" name="Shape 33"/>
          <p:cNvSpPr/>
          <p:nvPr/>
        </p:nvSpPr>
        <p:spPr>
          <a:xfrm>
            <a:off x="4343400" y="425196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Verifiable</a:t>
            </a:r>
            <a:endParaRPr lang="en-US" sz="1740" dirty="0"/>
          </a:p>
        </p:txBody>
      </p:sp>
      <p:sp>
        <p:nvSpPr>
          <p:cNvPr id="37" name="Text 35"/>
          <p:cNvSpPr/>
          <p:nvPr/>
        </p:nvSpPr>
        <p:spPr>
          <a:xfrm>
            <a:off x="457200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report against the raw data</a:t>
            </a:r>
            <a:endParaRPr lang="en-US" sz="1380" dirty="0"/>
          </a:p>
        </p:txBody>
      </p:sp>
      <p:sp>
        <p:nvSpPr>
          <p:cNvPr id="38" name="Shape 36"/>
          <p:cNvSpPr/>
          <p:nvPr/>
        </p:nvSpPr>
        <p:spPr>
          <a:xfrm>
            <a:off x="7863840" y="425196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121A2E"/>
          </a:solidFill>
          <a:ln w="15875">
            <a:solidFill>
              <a:srgbClr val="8B98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Testable</a:t>
            </a:r>
            <a:endParaRPr lang="en-US" sz="1740" dirty="0"/>
          </a:p>
        </p:txBody>
      </p:sp>
      <p:sp>
        <p:nvSpPr>
          <p:cNvPr id="40" name="Text 38"/>
          <p:cNvSpPr/>
          <p:nvPr/>
        </p:nvSpPr>
        <p:spPr>
          <a:xfrm>
            <a:off x="809244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it chained tools — prose can't be asserted</a:t>
            </a:r>
            <a:endParaRPr lang="en-US" sz="13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 do now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agent differs from a single AI call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several @Tool methods and let the model plan the order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Spring AI to run the Reason → Act → Observe loop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agent observable — and know there is no maxToolCalls knob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— Evaluation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can plan and act on its own. But how do you know its answers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good? We build an automated QA pipeline where one AI judges another.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ENJOYING THIS?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&amp; Subscribe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helped, a like and a subscribe genuinely help the series reach more developers.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228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like if this made Spring AI click.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44805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4805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endParaRPr lang="en-US" sz="2280" dirty="0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+ bell for every new chapter.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1381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1381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2280" dirty="0"/>
          </a:p>
        </p:txBody>
      </p:sp>
      <p:sp>
        <p:nvSpPr>
          <p:cNvPr id="32" name="Text 30"/>
          <p:cNvSpPr/>
          <p:nvPr/>
        </p:nvSpPr>
        <p:spPr>
          <a:xfrm>
            <a:off x="83667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I read and reply.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4251960" y="502920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08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96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84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chapter every week  ·  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 — AI Agents</dc:title>
  <dc:subject>PptxGenJS Presentation</dc:subject>
  <dc:creator>PromptToApps</dc:creator>
  <cp:lastModifiedBy>PromptToApps</cp:lastModifiedBy>
  <cp:revision>1</cp:revision>
  <dcterms:created xsi:type="dcterms:W3CDTF">2026-07-18T14:41:21Z</dcterms:created>
  <dcterms:modified xsi:type="dcterms:W3CDTF">2026-07-18T14:41:21Z</dcterms:modified>
</cp:coreProperties>
</file>