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10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166360" y="91440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121A2E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914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</a:t>
            </a:r>
            <a:pPr algn="ctr" indent="0" marL="0">
              <a:buNone/>
            </a:pPr>
            <a:r>
              <a:rPr lang="en-US" sz="168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80" dirty="0"/>
          </a:p>
        </p:txBody>
      </p:sp>
      <p:sp>
        <p:nvSpPr>
          <p:cNvPr id="20" name="Text 18"/>
          <p:cNvSpPr/>
          <p:nvPr/>
        </p:nvSpPr>
        <p:spPr>
          <a:xfrm>
            <a:off x="0" y="182880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Engineering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0" y="27432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 hardcoding prompts</a:t>
            </a:r>
            <a:pPr algn="ctr" indent="0" marL="0">
              <a:buNone/>
            </a:pPr>
            <a:r>
              <a:rPr lang="en-US" sz="228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use templates</a:t>
            </a:r>
            <a:endParaRPr lang="en-US" sz="2280" dirty="0"/>
          </a:p>
        </p:txBody>
      </p:sp>
      <p:sp>
        <p:nvSpPr>
          <p:cNvPr id="22" name="Shape 20"/>
          <p:cNvSpPr/>
          <p:nvPr/>
        </p:nvSpPr>
        <p:spPr>
          <a:xfrm>
            <a:off x="4251960" y="3520440"/>
            <a:ext cx="36576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10812" y="34792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9612" y="34792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8412" y="34792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37033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AI with Llama  ·  PromptToApps</a:t>
            </a:r>
            <a:endParaRPr lang="en-US" sz="15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 built with string glue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 answers everyone the same way — and the prompt is a maintenance trap.</a:t>
            </a:r>
            <a:endParaRPr lang="en-US" sz="1920" dirty="0"/>
          </a:p>
        </p:txBody>
      </p:sp>
      <p:sp>
        <p:nvSpPr>
          <p:cNvPr id="21" name="Shape 19"/>
          <p:cNvSpPr/>
          <p:nvPr/>
        </p:nvSpPr>
        <p:spPr>
          <a:xfrm>
            <a:off x="822960" y="196596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24128" y="213055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1225296" y="2130552"/>
            <a:ext cx="91440" cy="91440"/>
          </a:xfrm>
          <a:prstGeom prst="ellipse">
            <a:avLst/>
          </a:prstGeom>
          <a:solidFill>
            <a:srgbClr val="8B98AC"/>
          </a:solidFill>
          <a:ln/>
        </p:spPr>
      </p:sp>
      <p:sp>
        <p:nvSpPr>
          <p:cNvPr id="24" name="Shape 22"/>
          <p:cNvSpPr/>
          <p:nvPr/>
        </p:nvSpPr>
        <p:spPr>
          <a:xfrm>
            <a:off x="1426464" y="2130552"/>
            <a:ext cx="91440" cy="91440"/>
          </a:xfrm>
          <a:prstGeom prst="ellipse">
            <a:avLst/>
          </a:prstGeom>
          <a:solidFill>
            <a:srgbClr val="5FE0C5"/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trap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" y="246888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prompt = </a:t>
            </a:r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an HR assistant. "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43000" y="277977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"The employee is " + name + ", a " + role + ". "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43000" y="309067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"They asked: " + question;   </a:t>
            </a:r>
            <a:pPr indent="0" marL="0">
              <a:buNone/>
            </a:pPr>
            <a:r>
              <a:rPr lang="en-US" sz="15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😬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22960" y="3749040"/>
            <a:ext cx="3429000" cy="1554480"/>
          </a:xfrm>
          <a:prstGeom prst="roundRect">
            <a:avLst>
              <a:gd name="adj" fmla="val 7059"/>
            </a:avLst>
          </a:prstGeom>
          <a:solidFill>
            <a:srgbClr val="121A2E"/>
          </a:solidFill>
          <a:ln w="15875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51560" y="3931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 to read</a:t>
            </a:r>
            <a:endParaRPr lang="en-US" sz="1740" dirty="0"/>
          </a:p>
        </p:txBody>
      </p:sp>
      <p:sp>
        <p:nvSpPr>
          <p:cNvPr id="31" name="Text 29"/>
          <p:cNvSpPr/>
          <p:nvPr/>
        </p:nvSpPr>
        <p:spPr>
          <a:xfrm>
            <a:off x="1051560" y="4352544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text tangled in Java string concatenation.</a:t>
            </a:r>
            <a:endParaRPr lang="en-US" sz="1440" dirty="0"/>
          </a:p>
        </p:txBody>
      </p:sp>
      <p:sp>
        <p:nvSpPr>
          <p:cNvPr id="32" name="Shape 30"/>
          <p:cNvSpPr/>
          <p:nvPr/>
        </p:nvSpPr>
        <p:spPr>
          <a:xfrm>
            <a:off x="4572000" y="3749040"/>
            <a:ext cx="3429000" cy="1554480"/>
          </a:xfrm>
          <a:prstGeom prst="roundRect">
            <a:avLst>
              <a:gd name="adj" fmla="val 7059"/>
            </a:avLst>
          </a:prstGeom>
          <a:solidFill>
            <a:srgbClr val="121A2E"/>
          </a:solidFill>
          <a:ln w="15875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00600" y="3931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 to change</a:t>
            </a:r>
            <a:endParaRPr lang="en-US" sz="1740" dirty="0"/>
          </a:p>
        </p:txBody>
      </p:sp>
      <p:sp>
        <p:nvSpPr>
          <p:cNvPr id="34" name="Text 32"/>
          <p:cNvSpPr/>
          <p:nvPr/>
        </p:nvSpPr>
        <p:spPr>
          <a:xfrm>
            <a:off x="4800600" y="4352544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tweak means editing and recompiling code.</a:t>
            </a:r>
            <a:endParaRPr lang="en-US" sz="1440" dirty="0"/>
          </a:p>
        </p:txBody>
      </p:sp>
      <p:sp>
        <p:nvSpPr>
          <p:cNvPr id="35" name="Shape 33"/>
          <p:cNvSpPr/>
          <p:nvPr/>
        </p:nvSpPr>
        <p:spPr>
          <a:xfrm>
            <a:off x="8321040" y="3749040"/>
            <a:ext cx="3429000" cy="1554480"/>
          </a:xfrm>
          <a:prstGeom prst="roundRect">
            <a:avLst>
              <a:gd name="adj" fmla="val 7059"/>
            </a:avLst>
          </a:prstGeom>
          <a:solidFill>
            <a:srgbClr val="121A2E"/>
          </a:solidFill>
          <a:ln w="15875">
            <a:solidFill>
              <a:srgbClr val="8B98A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549640" y="3931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 to reuse</a:t>
            </a:r>
            <a:endParaRPr lang="en-US" sz="1740" dirty="0"/>
          </a:p>
        </p:txBody>
      </p:sp>
      <p:sp>
        <p:nvSpPr>
          <p:cNvPr id="37" name="Text 35"/>
          <p:cNvSpPr/>
          <p:nvPr/>
        </p:nvSpPr>
        <p:spPr>
          <a:xfrm>
            <a:off x="8549640" y="4352544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wording copy-pasted across endpoints.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 1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template with named placeholders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prompt as text with {placeholders}. Keep it out of your Java entirely.</a:t>
            </a:r>
            <a:endParaRPr lang="en-US" sz="1920" dirty="0"/>
          </a:p>
        </p:txBody>
      </p:sp>
      <p:sp>
        <p:nvSpPr>
          <p:cNvPr id="21" name="Shape 19"/>
          <p:cNvSpPr/>
          <p:nvPr/>
        </p:nvSpPr>
        <p:spPr>
          <a:xfrm>
            <a:off x="822960" y="1965960"/>
            <a:ext cx="10515600" cy="2286000"/>
          </a:xfrm>
          <a:prstGeom prst="roundRect">
            <a:avLst>
              <a:gd name="adj" fmla="val 3200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24128" y="213055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1225296" y="2130552"/>
            <a:ext cx="91440" cy="91440"/>
          </a:xfrm>
          <a:prstGeom prst="ellipse">
            <a:avLst/>
          </a:prstGeom>
          <a:solidFill>
            <a:srgbClr val="8B98AC"/>
          </a:solidFill>
          <a:ln/>
        </p:spPr>
      </p:sp>
      <p:sp>
        <p:nvSpPr>
          <p:cNvPr id="24" name="Shape 22"/>
          <p:cNvSpPr/>
          <p:nvPr/>
        </p:nvSpPr>
        <p:spPr>
          <a:xfrm>
            <a:off x="1426464" y="2130552"/>
            <a:ext cx="91440" cy="91440"/>
          </a:xfrm>
          <a:prstGeom prst="ellipse">
            <a:avLst/>
          </a:prstGeom>
          <a:solidFill>
            <a:srgbClr val="5FE0C5"/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prompts/hr-assistant.st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" y="24688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professional HR assistant for TechCorp.</a:t>
            </a:r>
            <a:endParaRPr lang="en-US" sz="1560" dirty="0"/>
          </a:p>
        </p:txBody>
      </p:sp>
      <p:sp>
        <p:nvSpPr>
          <p:cNvPr id="27" name="Text 25"/>
          <p:cNvSpPr/>
          <p:nvPr/>
        </p:nvSpPr>
        <p:spPr>
          <a:xfrm>
            <a:off x="1143000" y="281635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speaking with </a:t>
            </a:r>
            <a:pPr indent="0" marL="0">
              <a:buNone/>
            </a:pPr>
            <a:r>
              <a:rPr lang="en-US" sz="156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{name}</a:t>
            </a:r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 </a:t>
            </a:r>
            <a:pPr indent="0" marL="0">
              <a:buNone/>
            </a:pPr>
            <a:r>
              <a:rPr lang="en-US" sz="156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{role}</a:t>
            </a:r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 the</a:t>
            </a:r>
            <a:endParaRPr lang="en-US" sz="1560" dirty="0"/>
          </a:p>
        </p:txBody>
      </p:sp>
      <p:sp>
        <p:nvSpPr>
          <p:cNvPr id="28" name="Text 26"/>
          <p:cNvSpPr/>
          <p:nvPr/>
        </p:nvSpPr>
        <p:spPr>
          <a:xfrm>
            <a:off x="1143000" y="3163824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{department}</a:t>
            </a:r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department.</a:t>
            </a:r>
            <a:endParaRPr lang="en-US" sz="1560" dirty="0"/>
          </a:p>
        </p:txBody>
      </p:sp>
      <p:sp>
        <p:nvSpPr>
          <p:cNvPr id="29" name="Text 27"/>
          <p:cNvSpPr/>
          <p:nvPr/>
        </p:nvSpPr>
        <p:spPr>
          <a:xfrm>
            <a:off x="1143000" y="3511296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60" dirty="0"/>
          </a:p>
        </p:txBody>
      </p:sp>
      <p:sp>
        <p:nvSpPr>
          <p:cNvPr id="30" name="Text 28"/>
          <p:cNvSpPr/>
          <p:nvPr/>
        </p:nvSpPr>
        <p:spPr>
          <a:xfrm>
            <a:off x="1143000" y="385876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 question: </a:t>
            </a:r>
            <a:pPr indent="0" marL="0">
              <a:buNone/>
            </a:pPr>
            <a:r>
              <a:rPr lang="en-US" sz="156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{question}</a:t>
            </a:r>
            <a:endParaRPr lang="en-US" sz="1560" dirty="0"/>
          </a:p>
        </p:txBody>
      </p:sp>
      <p:sp>
        <p:nvSpPr>
          <p:cNvPr id="31" name="Text 29"/>
          <p:cNvSpPr/>
          <p:nvPr/>
        </p:nvSpPr>
        <p:spPr>
          <a:xfrm>
            <a:off x="0" y="46634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dirty="0">
                <a:solidFill>
                  <a:srgbClr val="5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 src/main/resources/prompts/  —  editable, reviewable, versioned like any asset.</a:t>
            </a:r>
            <a:endParaRPr lang="en-US" sz="1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 2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 data — don't concatenate it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640080" y="1371600"/>
            <a:ext cx="10881360" cy="3291840"/>
          </a:xfrm>
          <a:prstGeom prst="roundRect">
            <a:avLst>
              <a:gd name="adj" fmla="val 2222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153619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2416" y="1536192"/>
            <a:ext cx="91440" cy="91440"/>
          </a:xfrm>
          <a:prstGeom prst="ellipse">
            <a:avLst/>
          </a:prstGeom>
          <a:solidFill>
            <a:srgbClr val="8B98AC"/>
          </a:solidFill>
          <a:ln/>
        </p:spPr>
      </p:sp>
      <p:sp>
        <p:nvSpPr>
          <p:cNvPr id="23" name="Shape 21"/>
          <p:cNvSpPr/>
          <p:nvPr/>
        </p:nvSpPr>
        <p:spPr>
          <a:xfrm>
            <a:off x="1243584" y="1536192"/>
            <a:ext cx="91440" cy="91440"/>
          </a:xfrm>
          <a:prstGeom prst="ellipse">
            <a:avLst/>
          </a:prstGeom>
          <a:solidFill>
            <a:srgbClr val="5FE0C5"/>
          </a:solidFill>
          <a:ln/>
        </p:spPr>
      </p:sp>
      <p:sp>
        <p:nvSpPr>
          <p:cNvPr id="24" name="Text 22"/>
          <p:cNvSpPr/>
          <p:nvPr/>
        </p:nvSpPr>
        <p:spPr>
          <a:xfrm>
            <a:off x="950976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HrChatController.java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182880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PromptTemplate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template = </a:t>
            </a:r>
            <a:pPr indent="0" marL="0">
              <a:buNone/>
            </a:pPr>
            <a:r>
              <a:rPr lang="en-US" sz="144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PromptTemplate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(hrAssistantTemplate);</a:t>
            </a:r>
            <a:endParaRPr lang="en-US" sz="1440" dirty="0"/>
          </a:p>
        </p:txBody>
      </p:sp>
      <p:sp>
        <p:nvSpPr>
          <p:cNvPr id="26" name="Text 24"/>
          <p:cNvSpPr/>
          <p:nvPr/>
        </p:nvSpPr>
        <p:spPr>
          <a:xfrm>
            <a:off x="960120" y="21396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960120" y="245059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prompt = template.create(</a:t>
            </a:r>
            <a:pPr indent="0" marL="0">
              <a:buNone/>
            </a:pPr>
            <a:r>
              <a:rPr lang="en-US" sz="144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Map.of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440" dirty="0"/>
          </a:p>
        </p:txBody>
      </p:sp>
      <p:sp>
        <p:nvSpPr>
          <p:cNvPr id="28" name="Text 26"/>
          <p:cNvSpPr/>
          <p:nvPr/>
        </p:nvSpPr>
        <p:spPr>
          <a:xfrm>
            <a:off x="960120" y="276148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"name",       request.name(),</a:t>
            </a:r>
            <a:endParaRPr lang="en-US" sz="1440" dirty="0"/>
          </a:p>
        </p:txBody>
      </p:sp>
      <p:sp>
        <p:nvSpPr>
          <p:cNvPr id="29" name="Text 27"/>
          <p:cNvSpPr/>
          <p:nvPr/>
        </p:nvSpPr>
        <p:spPr>
          <a:xfrm>
            <a:off x="960120" y="307238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"department", request.department(),</a:t>
            </a:r>
            <a:endParaRPr lang="en-US" sz="1440" dirty="0"/>
          </a:p>
        </p:txBody>
      </p:sp>
      <p:sp>
        <p:nvSpPr>
          <p:cNvPr id="30" name="Text 28"/>
          <p:cNvSpPr/>
          <p:nvPr/>
        </p:nvSpPr>
        <p:spPr>
          <a:xfrm>
            <a:off x="960120" y="33832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"role",       request.role(),</a:t>
            </a:r>
            <a:endParaRPr lang="en-US" sz="1440" dirty="0"/>
          </a:p>
        </p:txBody>
      </p:sp>
      <p:sp>
        <p:nvSpPr>
          <p:cNvPr id="31" name="Text 29"/>
          <p:cNvSpPr/>
          <p:nvPr/>
        </p:nvSpPr>
        <p:spPr>
          <a:xfrm>
            <a:off x="960120" y="369417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"question",   request.question()));</a:t>
            </a:r>
            <a:endParaRPr lang="en-US" sz="1440" dirty="0"/>
          </a:p>
        </p:txBody>
      </p:sp>
      <p:sp>
        <p:nvSpPr>
          <p:cNvPr id="32" name="Text 30"/>
          <p:cNvSpPr/>
          <p:nvPr/>
        </p:nvSpPr>
        <p:spPr>
          <a:xfrm>
            <a:off x="960120" y="40050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40" dirty="0"/>
          </a:p>
        </p:txBody>
      </p:sp>
      <p:sp>
        <p:nvSpPr>
          <p:cNvPr id="33" name="Text 31"/>
          <p:cNvSpPr/>
          <p:nvPr/>
        </p:nvSpPr>
        <p:spPr>
          <a:xfrm>
            <a:off x="960120" y="43159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answer = chatClient.prompt(prompt).call().content();</a:t>
            </a:r>
            <a:endParaRPr lang="en-US" sz="1440" dirty="0"/>
          </a:p>
        </p:txBody>
      </p:sp>
      <p:sp>
        <p:nvSpPr>
          <p:cNvPr id="34" name="Shape 32"/>
          <p:cNvSpPr/>
          <p:nvPr/>
        </p:nvSpPr>
        <p:spPr>
          <a:xfrm>
            <a:off x="822960" y="4892040"/>
            <a:ext cx="10515600" cy="777240"/>
          </a:xfrm>
          <a:prstGeom prst="roundRect">
            <a:avLst>
              <a:gd name="adj" fmla="val 14118"/>
            </a:avLst>
          </a:prstGeom>
          <a:solidFill>
            <a:srgbClr val="121A2E"/>
          </a:solidFill>
          <a:ln w="15875">
            <a:solidFill>
              <a:srgbClr val="5FE0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" y="489204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{placeholder} is filled by name — no string math, no ordering mistakes.</a:t>
            </a:r>
            <a:endParaRPr lang="en-US" sz="1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BUILD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personas, two template files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822960" y="1463040"/>
            <a:ext cx="5074920" cy="3291840"/>
          </a:xfrm>
          <a:prstGeom prst="roundRect">
            <a:avLst>
              <a:gd name="adj" fmla="val 3889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43000" y="1691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/hr/ask/personalised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2194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hr-assistant.st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1143000" y="269748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the employee by name,</a:t>
            </a:r>
            <a:endParaRPr lang="en-US" sz="16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TechCorp policy,</a:t>
            </a:r>
            <a:endParaRPr lang="en-US" sz="16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professional.</a:t>
            </a:r>
            <a:endParaRPr lang="en-US" sz="1620" dirty="0"/>
          </a:p>
        </p:txBody>
      </p:sp>
      <p:sp>
        <p:nvSpPr>
          <p:cNvPr id="24" name="Shape 22"/>
          <p:cNvSpPr/>
          <p:nvPr/>
        </p:nvSpPr>
        <p:spPr>
          <a:xfrm>
            <a:off x="6263640" y="1463040"/>
            <a:ext cx="5074920" cy="3291840"/>
          </a:xfrm>
          <a:prstGeom prst="roundRect">
            <a:avLst>
              <a:gd name="adj" fmla="val 3889"/>
            </a:avLst>
          </a:prstGeom>
          <a:solidFill>
            <a:srgbClr val="121A2E"/>
          </a:solidFill>
          <a:ln w="19050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0" y="1691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/hr/ask/onboarding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83680" y="2194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onboarding.st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6583680" y="269748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warmer, first-days tone for</a:t>
            </a:r>
            <a:endParaRPr lang="en-US" sz="16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joiners — same data,</a:t>
            </a:r>
            <a:endParaRPr lang="en-US" sz="16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voice.</a:t>
            </a:r>
            <a:endParaRPr lang="en-US" sz="1620" dirty="0"/>
          </a:p>
        </p:txBody>
      </p:sp>
      <p:sp>
        <p:nvSpPr>
          <p:cNvPr id="28" name="Text 26"/>
          <p:cNvSpPr/>
          <p:nvPr/>
        </p:nvSpPr>
        <p:spPr>
          <a:xfrm>
            <a:off x="0" y="50292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persona by editing a text file — the Java never moves.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IT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question, personalised answer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640080" y="1554480"/>
            <a:ext cx="10881360" cy="3840480"/>
          </a:xfrm>
          <a:prstGeom prst="roundRect">
            <a:avLst>
              <a:gd name="adj" fmla="val 1905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171907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2416" y="1719072"/>
            <a:ext cx="91440" cy="91440"/>
          </a:xfrm>
          <a:prstGeom prst="ellipse">
            <a:avLst/>
          </a:prstGeom>
          <a:solidFill>
            <a:srgbClr val="8B98AC"/>
          </a:solidFill>
          <a:ln/>
        </p:spPr>
      </p:sp>
      <p:sp>
        <p:nvSpPr>
          <p:cNvPr id="23" name="Shape 21"/>
          <p:cNvSpPr/>
          <p:nvPr/>
        </p:nvSpPr>
        <p:spPr>
          <a:xfrm>
            <a:off x="1243584" y="1719072"/>
            <a:ext cx="91440" cy="91440"/>
          </a:xfrm>
          <a:prstGeom prst="ellipse">
            <a:avLst/>
          </a:prstGeom>
          <a:solidFill>
            <a:srgbClr val="5FE0C5"/>
          </a:solidFill>
          <a:ln/>
        </p:spPr>
      </p:sp>
      <p:sp>
        <p:nvSpPr>
          <p:cNvPr id="24" name="Text 22"/>
          <p:cNvSpPr/>
          <p:nvPr/>
        </p:nvSpPr>
        <p:spPr>
          <a:xfrm>
            <a:off x="950976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20574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localhost:8080/hr/ask/personalised \</a:t>
            </a:r>
            <a:endParaRPr lang="en-US" sz="1440" dirty="0"/>
          </a:p>
        </p:txBody>
      </p:sp>
      <p:sp>
        <p:nvSpPr>
          <p:cNvPr id="26" name="Text 24"/>
          <p:cNvSpPr/>
          <p:nvPr/>
        </p:nvSpPr>
        <p:spPr>
          <a:xfrm>
            <a:off x="960120" y="244144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-H 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"Content-Type: application/json"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960120" y="2825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-d 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'{</a:t>
            </a:r>
            <a:endParaRPr lang="en-US" sz="1440" dirty="0"/>
          </a:p>
        </p:txBody>
      </p:sp>
      <p:sp>
        <p:nvSpPr>
          <p:cNvPr id="28" name="Text 26"/>
          <p:cNvSpPr/>
          <p:nvPr/>
        </p:nvSpPr>
        <p:spPr>
          <a:xfrm>
            <a:off x="960120" y="32095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"name": "Aisha", "department": "Engineering",</a:t>
            </a:r>
            <a:endParaRPr lang="en-US" sz="1440" dirty="0"/>
          </a:p>
        </p:txBody>
      </p:sp>
      <p:sp>
        <p:nvSpPr>
          <p:cNvPr id="29" name="Text 27"/>
          <p:cNvSpPr/>
          <p:nvPr/>
        </p:nvSpPr>
        <p:spPr>
          <a:xfrm>
            <a:off x="960120" y="35935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"role": "Backend Engineer",</a:t>
            </a:r>
            <a:endParaRPr lang="en-US" sz="1440" dirty="0"/>
          </a:p>
        </p:txBody>
      </p:sp>
      <p:sp>
        <p:nvSpPr>
          <p:cNvPr id="30" name="Text 28"/>
          <p:cNvSpPr/>
          <p:nvPr/>
        </p:nvSpPr>
        <p:spPr>
          <a:xfrm>
            <a:off x="960120" y="39776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"question": "How many vacation days do I get?" }'</a:t>
            </a:r>
            <a:endParaRPr lang="en-US" sz="1440" dirty="0"/>
          </a:p>
        </p:txBody>
      </p:sp>
      <p:sp>
        <p:nvSpPr>
          <p:cNvPr id="31" name="Text 29"/>
          <p:cNvSpPr/>
          <p:nvPr/>
        </p:nvSpPr>
        <p:spPr>
          <a:xfrm>
            <a:off x="960120" y="436168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40" dirty="0"/>
          </a:p>
        </p:txBody>
      </p:sp>
      <p:sp>
        <p:nvSpPr>
          <p:cNvPr id="32" name="Text 30"/>
          <p:cNvSpPr/>
          <p:nvPr/>
        </p:nvSpPr>
        <p:spPr>
          <a:xfrm>
            <a:off x="960120" y="474573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 Aisha! As a Backend Engineer at TechCorp, you…"</a:t>
            </a:r>
            <a:endParaRPr lang="en-US" sz="1440" dirty="0"/>
          </a:p>
        </p:txBody>
      </p:sp>
      <p:sp>
        <p:nvSpPr>
          <p:cNvPr id="33" name="Text 31"/>
          <p:cNvSpPr/>
          <p:nvPr/>
        </p:nvSpPr>
        <p:spPr>
          <a:xfrm>
            <a:off x="0" y="57150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greets Aisha by name and frames the policy for her role — from one template.</a:t>
            </a:r>
            <a:endParaRPr lang="en-US" sz="15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MATTERS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 are code — treat them like it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822960" y="14630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1508760"/>
            <a:ext cx="73152" cy="7315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1463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Separation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566160" y="14630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text lives beside your other resources, not buried in a controller.</a:t>
            </a:r>
            <a:endParaRPr lang="en-US" sz="1560" dirty="0"/>
          </a:p>
        </p:txBody>
      </p:sp>
      <p:sp>
        <p:nvSpPr>
          <p:cNvPr id="24" name="Shape 22"/>
          <p:cNvSpPr/>
          <p:nvPr/>
        </p:nvSpPr>
        <p:spPr>
          <a:xfrm>
            <a:off x="822960" y="242316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2468880"/>
            <a:ext cx="73152" cy="731520"/>
          </a:xfrm>
          <a:prstGeom prst="rect">
            <a:avLst/>
          </a:prstGeom>
          <a:solidFill>
            <a:srgbClr val="5FE0C5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2423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566160" y="24231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manager can tweak the wording without touching Java.</a:t>
            </a:r>
            <a:endParaRPr lang="en-US" sz="1560" dirty="0"/>
          </a:p>
        </p:txBody>
      </p:sp>
      <p:sp>
        <p:nvSpPr>
          <p:cNvPr id="28" name="Shape 26"/>
          <p:cNvSpPr/>
          <p:nvPr/>
        </p:nvSpPr>
        <p:spPr>
          <a:xfrm>
            <a:off x="822960" y="338328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3429000"/>
            <a:ext cx="73152" cy="731520"/>
          </a:xfrm>
          <a:prstGeom prst="rect">
            <a:avLst/>
          </a:prstGeom>
          <a:solidFill>
            <a:srgbClr val="8B98AC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3383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566160" y="33832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known params, assert the shape — the template is a pure function of its inputs.</a:t>
            </a:r>
            <a:endParaRPr lang="en-US" sz="1560" dirty="0"/>
          </a:p>
        </p:txBody>
      </p:sp>
      <p:sp>
        <p:nvSpPr>
          <p:cNvPr id="32" name="Shape 30"/>
          <p:cNvSpPr/>
          <p:nvPr/>
        </p:nvSpPr>
        <p:spPr>
          <a:xfrm>
            <a:off x="822960" y="434340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4389120"/>
            <a:ext cx="73152" cy="7315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4" name="Text 32"/>
          <p:cNvSpPr/>
          <p:nvPr/>
        </p:nvSpPr>
        <p:spPr>
          <a:xfrm>
            <a:off x="1097280" y="4343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566160" y="43434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template, many callers. No copy-paste drift.</a:t>
            </a:r>
            <a:endParaRPr lang="en-US" sz="15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RECAP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can do now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41732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prompts out of Java into .st template files</a:t>
            </a:r>
            <a:endParaRPr lang="en-US" sz="20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data with PromptTemplate + Map.of(...) — no concatenation</a:t>
            </a:r>
            <a:endParaRPr lang="en-US" sz="20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bot different personas by swapping templates</a:t>
            </a:r>
            <a:endParaRPr lang="en-US" sz="20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prompts as versioned, testable, reusable assets</a:t>
            </a:r>
            <a:endParaRPr lang="en-US" sz="2040" dirty="0"/>
          </a:p>
        </p:txBody>
      </p:sp>
      <p:sp>
        <p:nvSpPr>
          <p:cNvPr id="21" name="Shape 19"/>
          <p:cNvSpPr/>
          <p:nvPr/>
        </p:nvSpPr>
        <p:spPr>
          <a:xfrm>
            <a:off x="640080" y="356616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121A2E"/>
          </a:solidFill>
          <a:ln w="15875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NEXT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914400" y="406908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280" b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Structured Output</a:t>
            </a:r>
            <a:endParaRPr lang="en-US" sz="22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parsing AI responses by hand. Ask the model for JSON and get</a:t>
            </a:r>
            <a:endParaRPr lang="en-US" sz="22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a typed Java record instead of raw text.</a:t>
            </a:r>
            <a:endParaRPr lang="en-US" sz="2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ENJOYING THIS?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 &amp; Subscribe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helped, a like and a subscribe genuinely help the series reach more developers.</a:t>
            </a:r>
            <a:endParaRPr lang="en-US" sz="2040" dirty="0"/>
          </a:p>
        </p:txBody>
      </p:sp>
      <p:sp>
        <p:nvSpPr>
          <p:cNvPr id="21" name="Shape 19"/>
          <p:cNvSpPr/>
          <p:nvPr/>
        </p:nvSpPr>
        <p:spPr>
          <a:xfrm>
            <a:off x="822960" y="2286000"/>
            <a:ext cx="3200400" cy="2148840"/>
          </a:xfrm>
          <a:prstGeom prst="roundRect">
            <a:avLst>
              <a:gd name="adj" fmla="val 5957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2542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22960" y="3310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endParaRPr lang="en-US" sz="2280" dirty="0"/>
          </a:p>
        </p:txBody>
      </p:sp>
      <p:sp>
        <p:nvSpPr>
          <p:cNvPr id="24" name="Text 22"/>
          <p:cNvSpPr/>
          <p:nvPr/>
        </p:nvSpPr>
        <p:spPr>
          <a:xfrm>
            <a:off x="1051560" y="3767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like if this made Spring AI click.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4480560" y="2286000"/>
            <a:ext cx="3200400" cy="2148840"/>
          </a:xfrm>
          <a:prstGeom prst="roundRect">
            <a:avLst>
              <a:gd name="adj" fmla="val 5957"/>
            </a:avLst>
          </a:prstGeom>
          <a:solidFill>
            <a:srgbClr val="121A2E"/>
          </a:solidFill>
          <a:ln w="19050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80560" y="2542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5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4480560" y="3310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Subscribe</a:t>
            </a:r>
            <a:endParaRPr lang="en-US" sz="2280" dirty="0"/>
          </a:p>
        </p:txBody>
      </p:sp>
      <p:sp>
        <p:nvSpPr>
          <p:cNvPr id="28" name="Text 26"/>
          <p:cNvSpPr/>
          <p:nvPr/>
        </p:nvSpPr>
        <p:spPr>
          <a:xfrm>
            <a:off x="4709160" y="3767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+ bell for every new chapter.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8138160" y="2286000"/>
            <a:ext cx="3200400" cy="2148840"/>
          </a:xfrm>
          <a:prstGeom prst="roundRect">
            <a:avLst>
              <a:gd name="adj" fmla="val 5957"/>
            </a:avLst>
          </a:prstGeom>
          <a:solidFill>
            <a:srgbClr val="121A2E"/>
          </a:solidFill>
          <a:ln w="19050">
            <a:solidFill>
              <a:srgbClr val="8B98A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38160" y="2542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8B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8138160" y="3310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</a:t>
            </a:r>
            <a:endParaRPr lang="en-US" sz="2280" dirty="0"/>
          </a:p>
        </p:txBody>
      </p:sp>
      <p:sp>
        <p:nvSpPr>
          <p:cNvPr id="32" name="Text 30"/>
          <p:cNvSpPr/>
          <p:nvPr/>
        </p:nvSpPr>
        <p:spPr>
          <a:xfrm>
            <a:off x="8366760" y="3767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— I read and reply.</a:t>
            </a:r>
            <a:endParaRPr lang="en-US" sz="1440" dirty="0"/>
          </a:p>
        </p:txBody>
      </p:sp>
      <p:sp>
        <p:nvSpPr>
          <p:cNvPr id="33" name="Shape 31"/>
          <p:cNvSpPr/>
          <p:nvPr/>
        </p:nvSpPr>
        <p:spPr>
          <a:xfrm>
            <a:off x="4251960" y="5029200"/>
            <a:ext cx="36576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10812" y="498805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9612" y="498805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8412" y="498805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52578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chapter every week  ·  Spring AI with Llama  ·  PromptToApps</a:t>
            </a:r>
            <a:endParaRPr lang="en-US" sz="15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CREDITS &amp; THANKS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isn't my merit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series is built on the work of open-source projects and their communities. I only learned from them and shared what I built.</a:t>
            </a:r>
            <a:endParaRPr lang="en-US" sz="1920" dirty="0"/>
          </a:p>
        </p:txBody>
      </p:sp>
      <p:sp>
        <p:nvSpPr>
          <p:cNvPr id="21" name="Shape 19"/>
          <p:cNvSpPr/>
          <p:nvPr/>
        </p:nvSpPr>
        <p:spPr>
          <a:xfrm>
            <a:off x="822960" y="242316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121A2E"/>
          </a:solidFill>
          <a:ln w="19050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143000" y="2697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AI</a:t>
            </a:r>
            <a:endParaRPr lang="en-US" sz="2640" dirty="0"/>
          </a:p>
        </p:txBody>
      </p:sp>
      <p:sp>
        <p:nvSpPr>
          <p:cNvPr id="23" name="Text 21"/>
          <p:cNvSpPr/>
          <p:nvPr/>
        </p:nvSpPr>
        <p:spPr>
          <a:xfrm>
            <a:off x="114300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integration layer for Spring</a:t>
            </a:r>
            <a:endParaRPr lang="en-US" sz="1560" dirty="0"/>
          </a:p>
        </p:txBody>
      </p:sp>
      <p:sp>
        <p:nvSpPr>
          <p:cNvPr id="24" name="Text 22"/>
          <p:cNvSpPr/>
          <p:nvPr/>
        </p:nvSpPr>
        <p:spPr>
          <a:xfrm>
            <a:off x="114300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spring.io/projects/spring-ai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6309360" y="242316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29400" y="2697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</a:t>
            </a:r>
            <a:endParaRPr lang="en-US" sz="2640" dirty="0"/>
          </a:p>
        </p:txBody>
      </p:sp>
      <p:sp>
        <p:nvSpPr>
          <p:cNvPr id="27" name="Text 25"/>
          <p:cNvSpPr/>
          <p:nvPr/>
        </p:nvSpPr>
        <p:spPr>
          <a:xfrm>
            <a:off x="662940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open LLMs locally</a:t>
            </a:r>
            <a:endParaRPr lang="en-US" sz="1560" dirty="0"/>
          </a:p>
        </p:txBody>
      </p:sp>
      <p:sp>
        <p:nvSpPr>
          <p:cNvPr id="28" name="Text 26"/>
          <p:cNvSpPr/>
          <p:nvPr/>
        </p:nvSpPr>
        <p:spPr>
          <a:xfrm>
            <a:off x="662940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ollama.com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4251960" y="4892040"/>
            <a:ext cx="36576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108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96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84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51206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gratitude — all credit to their maintainers &amp; contributors.</a:t>
            </a:r>
            <a:endParaRPr lang="en-US" sz="1680" dirty="0"/>
          </a:p>
        </p:txBody>
      </p:sp>
      <p:sp>
        <p:nvSpPr>
          <p:cNvPr id="34" name="Text 32"/>
          <p:cNvSpPr/>
          <p:nvPr/>
        </p:nvSpPr>
        <p:spPr>
          <a:xfrm>
            <a:off x="0" y="56235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github.com/balajich/spring-ai-with-llama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 — Prompt Engineering</dc:title>
  <dc:subject>PptxGenJS Presentation</dc:subject>
  <dc:creator>PromptToApps</dc:creator>
  <cp:lastModifiedBy>PromptToApps</cp:lastModifiedBy>
  <cp:revision>1</cp:revision>
  <dcterms:created xsi:type="dcterms:W3CDTF">2026-07-21T02:54:28Z</dcterms:created>
  <dcterms:modified xsi:type="dcterms:W3CDTF">2026-07-21T02:54:28Z</dcterms:modified>
</cp:coreProperties>
</file>